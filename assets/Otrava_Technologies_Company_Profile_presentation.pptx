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Inter Bold" charset="1" panose="020B0802030000000004"/>
      <p:regular r:id="rId27"/>
    </p:embeddedFont>
    <p:embeddedFont>
      <p:font typeface="Inter Light" charset="1" panose="02000503000000020004"/>
      <p:regular r:id="rId28"/>
    </p:embeddedFont>
    <p:embeddedFont>
      <p:font typeface="Inter Medium" charset="1" panose="02000503000000020004"/>
      <p:regular r:id="rId29"/>
    </p:embeddedFont>
    <p:embeddedFont>
      <p:font typeface="Arial MT Pro" charset="1" panose="020B0502020202020204"/>
      <p:regular r:id="rId30"/>
    </p:embeddedFont>
    <p:embeddedFont>
      <p:font typeface="Inter" charset="1" panose="020B0502030000000004"/>
      <p:regular r:id="rId31"/>
    </p:embeddedFont>
    <p:embeddedFont>
      <p:font typeface="Ultra" charset="1" panose="020605050000000200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15" Target="../media/image22.png" Type="http://schemas.openxmlformats.org/officeDocument/2006/relationships/image"/><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31.pn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34.png" Type="http://schemas.openxmlformats.org/officeDocument/2006/relationships/image"/><Relationship Id="rId16" Target="../media/image35.svg" Type="http://schemas.openxmlformats.org/officeDocument/2006/relationships/image"/><Relationship Id="rId17" Target="../media/image36.png" Type="http://schemas.openxmlformats.org/officeDocument/2006/relationships/image"/><Relationship Id="rId18" Target="../media/image37.png" Type="http://schemas.openxmlformats.org/officeDocument/2006/relationships/image"/><Relationship Id="rId19" Target="../media/image38.svg" Type="http://schemas.openxmlformats.org/officeDocument/2006/relationships/image"/><Relationship Id="rId2" Target="../media/image9.png" Type="http://schemas.openxmlformats.org/officeDocument/2006/relationships/image"/><Relationship Id="rId20" Target="../media/image39.png" Type="http://schemas.openxmlformats.org/officeDocument/2006/relationships/image"/><Relationship Id="rId21" Target="../media/image40.png" Type="http://schemas.openxmlformats.org/officeDocument/2006/relationships/image"/><Relationship Id="rId22" Target="../media/image41.png" Type="http://schemas.openxmlformats.org/officeDocument/2006/relationships/image"/><Relationship Id="rId23" Target="../media/image22.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1.pn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12" Target="../media/image49.png" Type="http://schemas.openxmlformats.org/officeDocument/2006/relationships/image"/><Relationship Id="rId13" Target="../media/image50.svg" Type="http://schemas.openxmlformats.org/officeDocument/2006/relationships/image"/><Relationship Id="rId2" Target="../media/image9.png" Type="http://schemas.openxmlformats.org/officeDocument/2006/relationships/image"/><Relationship Id="rId3" Target="../media/image42.jpe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36.png" Type="http://schemas.openxmlformats.org/officeDocument/2006/relationships/image"/><Relationship Id="rId9"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png" Type="http://schemas.openxmlformats.org/officeDocument/2006/relationships/image"/><Relationship Id="rId11" Target="../media/image55.svg" Type="http://schemas.openxmlformats.org/officeDocument/2006/relationships/image"/><Relationship Id="rId12" Target="../media/image41.png" Type="http://schemas.openxmlformats.org/officeDocument/2006/relationships/image"/><Relationship Id="rId13" Target="../media/image56.png" Type="http://schemas.openxmlformats.org/officeDocument/2006/relationships/image"/><Relationship Id="rId14" Target="../media/image57.svg" Type="http://schemas.openxmlformats.org/officeDocument/2006/relationships/image"/><Relationship Id="rId15" Target="../media/image58.png" Type="http://schemas.openxmlformats.org/officeDocument/2006/relationships/image"/><Relationship Id="rId16" Target="../media/image59.svg" Type="http://schemas.openxmlformats.org/officeDocument/2006/relationships/image"/><Relationship Id="rId17" Target="../media/image36.png" Type="http://schemas.openxmlformats.org/officeDocument/2006/relationships/image"/><Relationship Id="rId18" Target="../media/image60.png" Type="http://schemas.openxmlformats.org/officeDocument/2006/relationships/image"/><Relationship Id="rId19" Target="../media/image61.svg" Type="http://schemas.openxmlformats.org/officeDocument/2006/relationships/image"/><Relationship Id="rId2" Target="../media/image9.png" Type="http://schemas.openxmlformats.org/officeDocument/2006/relationships/image"/><Relationship Id="rId20" Target="../media/image62.png" Type="http://schemas.openxmlformats.org/officeDocument/2006/relationships/image"/><Relationship Id="rId21" Target="../media/image63.svg" Type="http://schemas.openxmlformats.org/officeDocument/2006/relationships/image"/><Relationship Id="rId22" Target="../media/image22.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71.png" Type="http://schemas.openxmlformats.org/officeDocument/2006/relationships/image"/><Relationship Id="rId12" Target="../media/image72.svg" Type="http://schemas.openxmlformats.org/officeDocument/2006/relationships/image"/><Relationship Id="rId13" Target="../media/image73.png" Type="http://schemas.openxmlformats.org/officeDocument/2006/relationships/image"/><Relationship Id="rId14" Target="../media/image74.png" Type="http://schemas.openxmlformats.org/officeDocument/2006/relationships/image"/><Relationship Id="rId15" Target="../media/image75.png" Type="http://schemas.openxmlformats.org/officeDocument/2006/relationships/image"/><Relationship Id="rId16" Target="../media/image76.svg" Type="http://schemas.openxmlformats.org/officeDocument/2006/relationships/image"/><Relationship Id="rId17" Target="../media/image77.png" Type="http://schemas.openxmlformats.org/officeDocument/2006/relationships/image"/><Relationship Id="rId18" Target="../media/image78.svg" Type="http://schemas.openxmlformats.org/officeDocument/2006/relationships/image"/><Relationship Id="rId19" Target="../media/image15.png" Type="http://schemas.openxmlformats.org/officeDocument/2006/relationships/image"/><Relationship Id="rId2" Target="../media/image9.png" Type="http://schemas.openxmlformats.org/officeDocument/2006/relationships/image"/><Relationship Id="rId20" Target="../media/image17.png" Type="http://schemas.openxmlformats.org/officeDocument/2006/relationships/image"/><Relationship Id="rId21" Target="../media/image22.png" Type="http://schemas.openxmlformats.org/officeDocument/2006/relationships/image"/><Relationship Id="rId3" Target="../media/image64.jpe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6.png" Type="http://schemas.openxmlformats.org/officeDocument/2006/relationships/image"/><Relationship Id="rId11" Target="../media/image87.svg" Type="http://schemas.openxmlformats.org/officeDocument/2006/relationships/image"/><Relationship Id="rId12" Target="../media/image36.png" Type="http://schemas.openxmlformats.org/officeDocument/2006/relationships/image"/><Relationship Id="rId13" Target="../media/image88.png" Type="http://schemas.openxmlformats.org/officeDocument/2006/relationships/image"/><Relationship Id="rId14" Target="../media/image89.svg" Type="http://schemas.openxmlformats.org/officeDocument/2006/relationships/image"/><Relationship Id="rId15" Target="../media/image90.png" Type="http://schemas.openxmlformats.org/officeDocument/2006/relationships/image"/><Relationship Id="rId16" Target="../media/image91.svg" Type="http://schemas.openxmlformats.org/officeDocument/2006/relationships/image"/><Relationship Id="rId17" Target="../media/image92.png" Type="http://schemas.openxmlformats.org/officeDocument/2006/relationships/image"/><Relationship Id="rId18" Target="../media/image93.svg" Type="http://schemas.openxmlformats.org/officeDocument/2006/relationships/image"/><Relationship Id="rId19" Target="../media/image22.png" Type="http://schemas.openxmlformats.org/officeDocument/2006/relationships/image"/><Relationship Id="rId2" Target="../media/image9.png" Type="http://schemas.openxmlformats.org/officeDocument/2006/relationships/image"/><Relationship Id="rId3" Target="../media/image79.png" Type="http://schemas.openxmlformats.org/officeDocument/2006/relationships/image"/><Relationship Id="rId4" Target="../media/image80.svg" Type="http://schemas.openxmlformats.org/officeDocument/2006/relationships/image"/><Relationship Id="rId5" Target="../media/image81.png" Type="http://schemas.openxmlformats.org/officeDocument/2006/relationships/image"/><Relationship Id="rId6" Target="../media/image82.svg" Type="http://schemas.openxmlformats.org/officeDocument/2006/relationships/image"/><Relationship Id="rId7" Target="../media/image83.jpeg" Type="http://schemas.openxmlformats.org/officeDocument/2006/relationships/image"/><Relationship Id="rId8" Target="../media/image84.png" Type="http://schemas.openxmlformats.org/officeDocument/2006/relationships/image"/><Relationship Id="rId9" Target="../media/image8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99.png" Type="http://schemas.openxmlformats.org/officeDocument/2006/relationships/image"/><Relationship Id="rId12" Target="../media/image100.svg" Type="http://schemas.openxmlformats.org/officeDocument/2006/relationships/image"/><Relationship Id="rId13" Target="../media/image101.png" Type="http://schemas.openxmlformats.org/officeDocument/2006/relationships/image"/><Relationship Id="rId14" Target="../media/image102.svg" Type="http://schemas.openxmlformats.org/officeDocument/2006/relationships/image"/><Relationship Id="rId15" Target="../media/image41.png" Type="http://schemas.openxmlformats.org/officeDocument/2006/relationships/image"/><Relationship Id="rId16" Target="../media/image103.jpeg" Type="http://schemas.openxmlformats.org/officeDocument/2006/relationships/image"/><Relationship Id="rId17" Target="../media/image104.png" Type="http://schemas.openxmlformats.org/officeDocument/2006/relationships/image"/><Relationship Id="rId18" Target="../media/image105.svg" Type="http://schemas.openxmlformats.org/officeDocument/2006/relationships/image"/><Relationship Id="rId19" Target="../media/image106.png" Type="http://schemas.openxmlformats.org/officeDocument/2006/relationships/image"/><Relationship Id="rId2" Target="../media/image9.png" Type="http://schemas.openxmlformats.org/officeDocument/2006/relationships/image"/><Relationship Id="rId20" Target="../media/image107.svg" Type="http://schemas.openxmlformats.org/officeDocument/2006/relationships/image"/><Relationship Id="rId21" Target="../media/image22.png" Type="http://schemas.openxmlformats.org/officeDocument/2006/relationships/image"/><Relationship Id="rId3" Target="../media/image94.png" Type="http://schemas.openxmlformats.org/officeDocument/2006/relationships/image"/><Relationship Id="rId4" Target="../media/image95.svg" Type="http://schemas.openxmlformats.org/officeDocument/2006/relationships/image"/><Relationship Id="rId5" Target="../media/image96.png" Type="http://schemas.openxmlformats.org/officeDocument/2006/relationships/image"/><Relationship Id="rId6" Target="../media/image97.svg" Type="http://schemas.openxmlformats.org/officeDocument/2006/relationships/image"/><Relationship Id="rId7" Target="../media/image98.pn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2.png" Type="http://schemas.openxmlformats.org/officeDocument/2006/relationships/image"/><Relationship Id="rId11" Target="../media/image113.svg" Type="http://schemas.openxmlformats.org/officeDocument/2006/relationships/image"/><Relationship Id="rId12" Target="../media/image22.png" Type="http://schemas.openxmlformats.org/officeDocument/2006/relationships/image"/><Relationship Id="rId13" Target="../media/image114.jpeg" Type="http://schemas.openxmlformats.org/officeDocument/2006/relationships/image"/><Relationship Id="rId14" Target="../media/image115.png" Type="http://schemas.openxmlformats.org/officeDocument/2006/relationships/image"/><Relationship Id="rId15" Target="../media/image116.svg" Type="http://schemas.openxmlformats.org/officeDocument/2006/relationships/image"/><Relationship Id="rId16" Target="../media/image117.png" Type="http://schemas.openxmlformats.org/officeDocument/2006/relationships/image"/><Relationship Id="rId17" Target="../media/image118.svg" Type="http://schemas.openxmlformats.org/officeDocument/2006/relationships/image"/><Relationship Id="rId2" Target="../media/image9.png" Type="http://schemas.openxmlformats.org/officeDocument/2006/relationships/image"/><Relationship Id="rId3" Target="../media/image108.png" Type="http://schemas.openxmlformats.org/officeDocument/2006/relationships/image"/><Relationship Id="rId4" Target="../media/image109.svg" Type="http://schemas.openxmlformats.org/officeDocument/2006/relationships/image"/><Relationship Id="rId5" Target="../media/image110.png" Type="http://schemas.openxmlformats.org/officeDocument/2006/relationships/image"/><Relationship Id="rId6" Target="../media/image111.svg" Type="http://schemas.openxmlformats.org/officeDocument/2006/relationships/image"/><Relationship Id="rId7" Target="../media/image69.png" Type="http://schemas.openxmlformats.org/officeDocument/2006/relationships/image"/><Relationship Id="rId8" Target="../media/image70.svg" Type="http://schemas.openxmlformats.org/officeDocument/2006/relationships/image"/><Relationship Id="rId9" Target="../media/image3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2.svg" Type="http://schemas.openxmlformats.org/officeDocument/2006/relationships/image"/><Relationship Id="rId11" Target="../media/image41.png" Type="http://schemas.openxmlformats.org/officeDocument/2006/relationships/image"/><Relationship Id="rId12" Target="../media/image125.png" Type="http://schemas.openxmlformats.org/officeDocument/2006/relationships/image"/><Relationship Id="rId13" Target="../media/image126.svg" Type="http://schemas.openxmlformats.org/officeDocument/2006/relationships/image"/><Relationship Id="rId14" Target="../media/image22.png" Type="http://schemas.openxmlformats.org/officeDocument/2006/relationships/image"/><Relationship Id="rId2" Target="../media/image9.png" Type="http://schemas.openxmlformats.org/officeDocument/2006/relationships/image"/><Relationship Id="rId3" Target="../media/image119.png" Type="http://schemas.openxmlformats.org/officeDocument/2006/relationships/image"/><Relationship Id="rId4" Target="../media/image120.svg" Type="http://schemas.openxmlformats.org/officeDocument/2006/relationships/image"/><Relationship Id="rId5" Target="../media/image121.png" Type="http://schemas.openxmlformats.org/officeDocument/2006/relationships/image"/><Relationship Id="rId6" Target="../media/image122.svg" Type="http://schemas.openxmlformats.org/officeDocument/2006/relationships/image"/><Relationship Id="rId7" Target="../media/image123.png" Type="http://schemas.openxmlformats.org/officeDocument/2006/relationships/image"/><Relationship Id="rId8" Target="../media/image124.svg" Type="http://schemas.openxmlformats.org/officeDocument/2006/relationships/image"/><Relationship Id="rId9" Target="../media/image10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9.png" Type="http://schemas.openxmlformats.org/officeDocument/2006/relationships/image"/><Relationship Id="rId11" Target="../media/image70.svg" Type="http://schemas.openxmlformats.org/officeDocument/2006/relationships/image"/><Relationship Id="rId12" Target="../media/image36.png" Type="http://schemas.openxmlformats.org/officeDocument/2006/relationships/image"/><Relationship Id="rId13" Target="../media/image39.png" Type="http://schemas.openxmlformats.org/officeDocument/2006/relationships/image"/><Relationship Id="rId14" Target="../media/image40.png" Type="http://schemas.openxmlformats.org/officeDocument/2006/relationships/image"/><Relationship Id="rId15" Target="../media/image22.png" Type="http://schemas.openxmlformats.org/officeDocument/2006/relationships/image"/><Relationship Id="rId2" Target="../media/image9.png" Type="http://schemas.openxmlformats.org/officeDocument/2006/relationships/image"/><Relationship Id="rId3" Target="../media/image127.jpeg" Type="http://schemas.openxmlformats.org/officeDocument/2006/relationships/image"/><Relationship Id="rId4" Target="../media/image128.png" Type="http://schemas.openxmlformats.org/officeDocument/2006/relationships/image"/><Relationship Id="rId5" Target="../media/image129.svg" Type="http://schemas.openxmlformats.org/officeDocument/2006/relationships/image"/><Relationship Id="rId6" Target="../media/image130.jpeg" Type="http://schemas.openxmlformats.org/officeDocument/2006/relationships/image"/><Relationship Id="rId7" Target="../media/image131.png" Type="http://schemas.openxmlformats.org/officeDocument/2006/relationships/image"/><Relationship Id="rId8" Target="../media/image132.png" Type="http://schemas.openxmlformats.org/officeDocument/2006/relationships/image"/><Relationship Id="rId9" Target="../media/image13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16.png" Type="http://schemas.openxmlformats.org/officeDocument/2006/relationships/image"/><Relationship Id="rId12" Target="../media/image139.png" Type="http://schemas.openxmlformats.org/officeDocument/2006/relationships/image"/><Relationship Id="rId13" Target="../media/image140.png" Type="http://schemas.openxmlformats.org/officeDocument/2006/relationships/image"/><Relationship Id="rId14" Target="../media/image141.svg" Type="http://schemas.openxmlformats.org/officeDocument/2006/relationships/image"/><Relationship Id="rId15" Target="../media/image142.png" Type="http://schemas.openxmlformats.org/officeDocument/2006/relationships/image"/><Relationship Id="rId16" Target="../media/image143.svg" Type="http://schemas.openxmlformats.org/officeDocument/2006/relationships/image"/><Relationship Id="rId17" Target="../media/image22.png" Type="http://schemas.openxmlformats.org/officeDocument/2006/relationships/image"/><Relationship Id="rId2" Target="../media/image9.png" Type="http://schemas.openxmlformats.org/officeDocument/2006/relationships/image"/><Relationship Id="rId3" Target="../media/image134.png" Type="http://schemas.openxmlformats.org/officeDocument/2006/relationships/image"/><Relationship Id="rId4" Target="../media/image135.svg" Type="http://schemas.openxmlformats.org/officeDocument/2006/relationships/image"/><Relationship Id="rId5" Target="../media/image136.png" Type="http://schemas.openxmlformats.org/officeDocument/2006/relationships/image"/><Relationship Id="rId6" Target="../media/image137.svg" Type="http://schemas.openxmlformats.org/officeDocument/2006/relationships/image"/><Relationship Id="rId7" Target="../media/image138.pn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8.png" Type="http://schemas.openxmlformats.org/officeDocument/2006/relationships/image"/><Relationship Id="rId11" Target="../media/image149.svg" Type="http://schemas.openxmlformats.org/officeDocument/2006/relationships/image"/><Relationship Id="rId12" Target="../media/image22.png" Type="http://schemas.openxmlformats.org/officeDocument/2006/relationships/image"/><Relationship Id="rId13" Target="../media/image150.jpeg" Type="http://schemas.openxmlformats.org/officeDocument/2006/relationships/image"/><Relationship Id="rId2" Target="../media/image9.png" Type="http://schemas.openxmlformats.org/officeDocument/2006/relationships/image"/><Relationship Id="rId3" Target="../media/image144.png" Type="http://schemas.openxmlformats.org/officeDocument/2006/relationships/image"/><Relationship Id="rId4" Target="../media/image145.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36.png" Type="http://schemas.openxmlformats.org/officeDocument/2006/relationships/image"/><Relationship Id="rId8" Target="../media/image146.png" Type="http://schemas.openxmlformats.org/officeDocument/2006/relationships/image"/><Relationship Id="rId9" Target="../media/image14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2.svg" Type="http://schemas.openxmlformats.org/officeDocument/2006/relationships/image"/><Relationship Id="rId11" Target="../media/image41.png" Type="http://schemas.openxmlformats.org/officeDocument/2006/relationships/image"/><Relationship Id="rId12" Target="../media/image54.png" Type="http://schemas.openxmlformats.org/officeDocument/2006/relationships/image"/><Relationship Id="rId13" Target="../media/image55.svg" Type="http://schemas.openxmlformats.org/officeDocument/2006/relationships/image"/><Relationship Id="rId14" Target="../media/image69.png" Type="http://schemas.openxmlformats.org/officeDocument/2006/relationships/image"/><Relationship Id="rId15" Target="../media/image70.svg" Type="http://schemas.openxmlformats.org/officeDocument/2006/relationships/image"/><Relationship Id="rId16" Target="../media/image36.png" Type="http://schemas.openxmlformats.org/officeDocument/2006/relationships/image"/><Relationship Id="rId17" Target="../media/image157.png" Type="http://schemas.openxmlformats.org/officeDocument/2006/relationships/image"/><Relationship Id="rId18" Target="../media/image158.svg" Type="http://schemas.openxmlformats.org/officeDocument/2006/relationships/image"/><Relationship Id="rId19" Target="../media/image159.png" Type="http://schemas.openxmlformats.org/officeDocument/2006/relationships/image"/><Relationship Id="rId2" Target="../media/image9.png" Type="http://schemas.openxmlformats.org/officeDocument/2006/relationships/image"/><Relationship Id="rId20" Target="../media/image16.png" Type="http://schemas.openxmlformats.org/officeDocument/2006/relationships/image"/><Relationship Id="rId21" Target="../media/image160.png" Type="http://schemas.openxmlformats.org/officeDocument/2006/relationships/image"/><Relationship Id="rId22" Target="../media/image161.png" Type="http://schemas.openxmlformats.org/officeDocument/2006/relationships/image"/><Relationship Id="rId23" Target="../media/image22.png" Type="http://schemas.openxmlformats.org/officeDocument/2006/relationships/image"/><Relationship Id="rId3" Target="../media/image151.png" Type="http://schemas.openxmlformats.org/officeDocument/2006/relationships/image"/><Relationship Id="rId4" Target="../media/image152.svg" Type="http://schemas.openxmlformats.org/officeDocument/2006/relationships/image"/><Relationship Id="rId5" Target="../media/image153.png" Type="http://schemas.openxmlformats.org/officeDocument/2006/relationships/image"/><Relationship Id="rId6" Target="../media/image154.svg" Type="http://schemas.openxmlformats.org/officeDocument/2006/relationships/image"/><Relationship Id="rId7" Target="../media/image155.png" Type="http://schemas.openxmlformats.org/officeDocument/2006/relationships/image"/><Relationship Id="rId8" Target="../media/image156.svg" Type="http://schemas.openxmlformats.org/officeDocument/2006/relationships/image"/><Relationship Id="rId9" Target="../media/image10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1.png" Type="http://schemas.openxmlformats.org/officeDocument/2006/relationships/image"/><Relationship Id="rId11" Target="../media/image102.svg" Type="http://schemas.openxmlformats.org/officeDocument/2006/relationships/image"/><Relationship Id="rId12" Target="../media/image41.png" Type="http://schemas.openxmlformats.org/officeDocument/2006/relationships/image"/><Relationship Id="rId13" Target="../media/image166.jpeg" Type="http://schemas.openxmlformats.org/officeDocument/2006/relationships/image"/><Relationship Id="rId14" Target="../media/image167.png" Type="http://schemas.openxmlformats.org/officeDocument/2006/relationships/image"/><Relationship Id="rId15" Target="../media/image168.svg" Type="http://schemas.openxmlformats.org/officeDocument/2006/relationships/image"/><Relationship Id="rId16" Target="../media/image169.png" Type="http://schemas.openxmlformats.org/officeDocument/2006/relationships/image"/><Relationship Id="rId17" Target="../media/image170.svg" Type="http://schemas.openxmlformats.org/officeDocument/2006/relationships/image"/><Relationship Id="rId18" Target="../media/image171.png" Type="http://schemas.openxmlformats.org/officeDocument/2006/relationships/image"/><Relationship Id="rId19" Target="../media/image172.png" Type="http://schemas.openxmlformats.org/officeDocument/2006/relationships/image"/><Relationship Id="rId2" Target="../media/image9.png" Type="http://schemas.openxmlformats.org/officeDocument/2006/relationships/image"/><Relationship Id="rId20" Target="../media/image173.png" Type="http://schemas.openxmlformats.org/officeDocument/2006/relationships/image"/><Relationship Id="rId21" Target="../media/image174.png" Type="http://schemas.openxmlformats.org/officeDocument/2006/relationships/image"/><Relationship Id="rId22" Target="../media/image22.png" Type="http://schemas.openxmlformats.org/officeDocument/2006/relationships/image"/><Relationship Id="rId3" Target="../media/image162.png" Type="http://schemas.openxmlformats.org/officeDocument/2006/relationships/image"/><Relationship Id="rId4" Target="../media/image163.svg" Type="http://schemas.openxmlformats.org/officeDocument/2006/relationships/image"/><Relationship Id="rId5" Target="../media/image164.png" Type="http://schemas.openxmlformats.org/officeDocument/2006/relationships/image"/><Relationship Id="rId6" Target="../media/image165.svg" Type="http://schemas.openxmlformats.org/officeDocument/2006/relationships/image"/><Relationship Id="rId7" Target="../media/image69.png" Type="http://schemas.openxmlformats.org/officeDocument/2006/relationships/image"/><Relationship Id="rId8" Target="../media/image70.svg" Type="http://schemas.openxmlformats.org/officeDocument/2006/relationships/image"/><Relationship Id="rId9" Target="../media/image3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9.svg" Type="http://schemas.openxmlformats.org/officeDocument/2006/relationships/image"/><Relationship Id="rId11" Target="../media/image180.png" Type="http://schemas.openxmlformats.org/officeDocument/2006/relationships/image"/><Relationship Id="rId12" Target="../media/image181.svg" Type="http://schemas.openxmlformats.org/officeDocument/2006/relationships/image"/><Relationship Id="rId13" Target="../media/image182.png" Type="http://schemas.openxmlformats.org/officeDocument/2006/relationships/image"/><Relationship Id="rId14" Target="../media/image183.svg" Type="http://schemas.openxmlformats.org/officeDocument/2006/relationships/image"/><Relationship Id="rId15" Target="../media/image39.png" Type="http://schemas.openxmlformats.org/officeDocument/2006/relationships/image"/><Relationship Id="rId16" Target="../media/image40.png" Type="http://schemas.openxmlformats.org/officeDocument/2006/relationships/image"/><Relationship Id="rId17" Target="../media/image22.png" Type="http://schemas.openxmlformats.org/officeDocument/2006/relationships/image"/><Relationship Id="rId2" Target="../media/image9.png" Type="http://schemas.openxmlformats.org/officeDocument/2006/relationships/image"/><Relationship Id="rId3" Target="../media/image175.png" Type="http://schemas.openxmlformats.org/officeDocument/2006/relationships/image"/><Relationship Id="rId4" Target="../media/image176.svg" Type="http://schemas.openxmlformats.org/officeDocument/2006/relationships/image"/><Relationship Id="rId5" Target="../media/image177.png" Type="http://schemas.openxmlformats.org/officeDocument/2006/relationships/image"/><Relationship Id="rId6" Target="../media/image69.png" Type="http://schemas.openxmlformats.org/officeDocument/2006/relationships/image"/><Relationship Id="rId7" Target="../media/image70.svg" Type="http://schemas.openxmlformats.org/officeDocument/2006/relationships/image"/><Relationship Id="rId8" Target="../media/image36.png" Type="http://schemas.openxmlformats.org/officeDocument/2006/relationships/image"/><Relationship Id="rId9" Target="../media/image17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9.png" Type="http://schemas.openxmlformats.org/officeDocument/2006/relationships/image"/><Relationship Id="rId11" Target="../media/image70.svg" Type="http://schemas.openxmlformats.org/officeDocument/2006/relationships/image"/><Relationship Id="rId12" Target="../media/image36.png" Type="http://schemas.openxmlformats.org/officeDocument/2006/relationships/image"/><Relationship Id="rId13" Target="../media/image188.png" Type="http://schemas.openxmlformats.org/officeDocument/2006/relationships/image"/><Relationship Id="rId14" Target="../media/image189.svg" Type="http://schemas.openxmlformats.org/officeDocument/2006/relationships/image"/><Relationship Id="rId15" Target="../media/image190.png" Type="http://schemas.openxmlformats.org/officeDocument/2006/relationships/image"/><Relationship Id="rId16" Target="../media/image191.svg" Type="http://schemas.openxmlformats.org/officeDocument/2006/relationships/image"/><Relationship Id="rId17" Target="../media/image22.png" Type="http://schemas.openxmlformats.org/officeDocument/2006/relationships/image"/><Relationship Id="rId2" Target="../media/image9.png" Type="http://schemas.openxmlformats.org/officeDocument/2006/relationships/image"/><Relationship Id="rId3" Target="../media/image184.png" Type="http://schemas.openxmlformats.org/officeDocument/2006/relationships/image"/><Relationship Id="rId4" Target="../media/image185.png" Type="http://schemas.openxmlformats.org/officeDocument/2006/relationships/image"/><Relationship Id="rId5" Target="../media/image186.svg" Type="http://schemas.openxmlformats.org/officeDocument/2006/relationships/image"/><Relationship Id="rId6" Target="../media/image15.png" Type="http://schemas.openxmlformats.org/officeDocument/2006/relationships/image"/><Relationship Id="rId7" Target="../media/image187.png" Type="http://schemas.openxmlformats.org/officeDocument/2006/relationships/image"/><Relationship Id="rId8" Target="../media/image132.png" Type="http://schemas.openxmlformats.org/officeDocument/2006/relationships/image"/><Relationship Id="rId9" Target="../media/image13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9.svg" Type="http://schemas.openxmlformats.org/officeDocument/2006/relationships/image"/><Relationship Id="rId11" Target="../media/image200.png" Type="http://schemas.openxmlformats.org/officeDocument/2006/relationships/image"/><Relationship Id="rId12" Target="../media/image201.png" Type="http://schemas.openxmlformats.org/officeDocument/2006/relationships/image"/><Relationship Id="rId13" Target="../media/image202.svg" Type="http://schemas.openxmlformats.org/officeDocument/2006/relationships/image"/><Relationship Id="rId14" Target="../media/image41.png" Type="http://schemas.openxmlformats.org/officeDocument/2006/relationships/image"/><Relationship Id="rId15" Target="../media/image203.png" Type="http://schemas.openxmlformats.org/officeDocument/2006/relationships/image"/><Relationship Id="rId16" Target="../media/image204.svg" Type="http://schemas.openxmlformats.org/officeDocument/2006/relationships/image"/><Relationship Id="rId17" Target="../media/image36.png" Type="http://schemas.openxmlformats.org/officeDocument/2006/relationships/image"/><Relationship Id="rId18" Target="../media/image205.png" Type="http://schemas.openxmlformats.org/officeDocument/2006/relationships/image"/><Relationship Id="rId19" Target="../media/image206.svg" Type="http://schemas.openxmlformats.org/officeDocument/2006/relationships/image"/><Relationship Id="rId2" Target="../media/image9.png" Type="http://schemas.openxmlformats.org/officeDocument/2006/relationships/image"/><Relationship Id="rId20" Target="../media/image22.png" Type="http://schemas.openxmlformats.org/officeDocument/2006/relationships/image"/><Relationship Id="rId3" Target="../media/image192.png" Type="http://schemas.openxmlformats.org/officeDocument/2006/relationships/image"/><Relationship Id="rId4" Target="../media/image193.svg" Type="http://schemas.openxmlformats.org/officeDocument/2006/relationships/image"/><Relationship Id="rId5" Target="../media/image194.png" Type="http://schemas.openxmlformats.org/officeDocument/2006/relationships/image"/><Relationship Id="rId6" Target="../media/image195.svg" Type="http://schemas.openxmlformats.org/officeDocument/2006/relationships/image"/><Relationship Id="rId7" Target="../media/image196.png" Type="http://schemas.openxmlformats.org/officeDocument/2006/relationships/image"/><Relationship Id="rId8" Target="../media/image197.svg" Type="http://schemas.openxmlformats.org/officeDocument/2006/relationships/image"/><Relationship Id="rId9" Target="../media/image19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2.png" Type="http://schemas.openxmlformats.org/officeDocument/2006/relationships/image"/><Relationship Id="rId11" Target="../media/image213.svg" Type="http://schemas.openxmlformats.org/officeDocument/2006/relationships/image"/><Relationship Id="rId12" Target="../media/image22.png" Type="http://schemas.openxmlformats.org/officeDocument/2006/relationships/image"/><Relationship Id="rId2" Target="../media/image9.png" Type="http://schemas.openxmlformats.org/officeDocument/2006/relationships/image"/><Relationship Id="rId3" Target="../media/image207.png" Type="http://schemas.openxmlformats.org/officeDocument/2006/relationships/image"/><Relationship Id="rId4" Target="../media/image208.svg" Type="http://schemas.openxmlformats.org/officeDocument/2006/relationships/image"/><Relationship Id="rId5" Target="../media/image209.png" Type="http://schemas.openxmlformats.org/officeDocument/2006/relationships/image"/><Relationship Id="rId6" Target="../media/image210.svg" Type="http://schemas.openxmlformats.org/officeDocument/2006/relationships/image"/><Relationship Id="rId7" Target="../media/image211.jpeg" Type="http://schemas.openxmlformats.org/officeDocument/2006/relationships/image"/><Relationship Id="rId8" Target="../media/image2.png" Type="http://schemas.openxmlformats.org/officeDocument/2006/relationships/image"/><Relationship Id="rId9" Target="../media/image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2.png" Type="http://schemas.openxmlformats.org/officeDocument/2006/relationships/image"/><Relationship Id="rId11" Target="../media/image213.svg" Type="http://schemas.openxmlformats.org/officeDocument/2006/relationships/image"/><Relationship Id="rId12" Target="../media/image22.png" Type="http://schemas.openxmlformats.org/officeDocument/2006/relationships/image"/><Relationship Id="rId2" Target="../media/image9.png" Type="http://schemas.openxmlformats.org/officeDocument/2006/relationships/image"/><Relationship Id="rId3" Target="../media/image207.png" Type="http://schemas.openxmlformats.org/officeDocument/2006/relationships/image"/><Relationship Id="rId4" Target="../media/image208.svg" Type="http://schemas.openxmlformats.org/officeDocument/2006/relationships/image"/><Relationship Id="rId5" Target="../media/image209.png" Type="http://schemas.openxmlformats.org/officeDocument/2006/relationships/image"/><Relationship Id="rId6" Target="../media/image210.svg" Type="http://schemas.openxmlformats.org/officeDocument/2006/relationships/image"/><Relationship Id="rId7" Target="../media/image214.jpeg" Type="http://schemas.openxmlformats.org/officeDocument/2006/relationships/image"/><Relationship Id="rId8" Target="../media/image2.png" Type="http://schemas.openxmlformats.org/officeDocument/2006/relationships/image"/><Relationship Id="rId9" Target="../media/image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png" Type="http://schemas.openxmlformats.org/officeDocument/2006/relationships/image"/><Relationship Id="rId2" Target="../media/image15.png" Type="http://schemas.openxmlformats.org/officeDocument/2006/relationships/image"/><Relationship Id="rId3" Target="../media/image16.png" Type="http://schemas.openxmlformats.org/officeDocument/2006/relationships/image"/><Relationship Id="rId4" Target="../media/image215.png" Type="http://schemas.openxmlformats.org/officeDocument/2006/relationships/image"/><Relationship Id="rId5" Target="../media/image216.png" Type="http://schemas.openxmlformats.org/officeDocument/2006/relationships/image"/><Relationship Id="rId6" Target="../media/image217.png" Type="http://schemas.openxmlformats.org/officeDocument/2006/relationships/image"/><Relationship Id="rId7" Target="../media/image218.svg" Type="http://schemas.openxmlformats.org/officeDocument/2006/relationships/image"/><Relationship Id="rId8" Target="../media/image219.png" Type="http://schemas.openxmlformats.org/officeDocument/2006/relationships/image"/><Relationship Id="rId9" Target="../media/image22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grpSp>
        <p:nvGrpSpPr>
          <p:cNvPr name="Group 2" id="2"/>
          <p:cNvGrpSpPr/>
          <p:nvPr/>
        </p:nvGrpSpPr>
        <p:grpSpPr>
          <a:xfrm rot="0">
            <a:off x="10886709" y="6421813"/>
            <a:ext cx="47058" cy="650252"/>
            <a:chOff x="0" y="0"/>
            <a:chExt cx="62744" cy="867003"/>
          </a:xfrm>
        </p:grpSpPr>
        <p:sp>
          <p:nvSpPr>
            <p:cNvPr name="Freeform 3" id="3"/>
            <p:cNvSpPr/>
            <p:nvPr/>
          </p:nvSpPr>
          <p:spPr>
            <a:xfrm flipH="false" flipV="false" rot="0">
              <a:off x="0" y="0"/>
              <a:ext cx="62738" cy="867029"/>
            </a:xfrm>
            <a:custGeom>
              <a:avLst/>
              <a:gdLst/>
              <a:ahLst/>
              <a:cxnLst/>
              <a:rect r="r" b="b" t="t" l="l"/>
              <a:pathLst>
                <a:path h="867029" w="62738">
                  <a:moveTo>
                    <a:pt x="0" y="62738"/>
                  </a:moveTo>
                  <a:lnTo>
                    <a:pt x="0" y="804291"/>
                  </a:lnTo>
                  <a:cubicBezTo>
                    <a:pt x="0" y="838454"/>
                    <a:pt x="28575" y="867029"/>
                    <a:pt x="62738" y="867029"/>
                  </a:cubicBezTo>
                  <a:lnTo>
                    <a:pt x="62738" y="0"/>
                  </a:lnTo>
                  <a:cubicBezTo>
                    <a:pt x="28575" y="0"/>
                    <a:pt x="0" y="28575"/>
                    <a:pt x="0" y="62738"/>
                  </a:cubicBezTo>
                  <a:close/>
                </a:path>
              </a:pathLst>
            </a:custGeom>
            <a:solidFill>
              <a:srgbClr val="2E2E2E"/>
            </a:solidFill>
          </p:spPr>
        </p:sp>
      </p:grpSp>
      <p:grpSp>
        <p:nvGrpSpPr>
          <p:cNvPr name="Group 4" id="4"/>
          <p:cNvGrpSpPr/>
          <p:nvPr/>
        </p:nvGrpSpPr>
        <p:grpSpPr>
          <a:xfrm rot="0">
            <a:off x="7334471" y="1063312"/>
            <a:ext cx="678256" cy="678256"/>
            <a:chOff x="0" y="0"/>
            <a:chExt cx="996672" cy="996672"/>
          </a:xfrm>
        </p:grpSpPr>
        <p:sp>
          <p:nvSpPr>
            <p:cNvPr name="Freeform 5" id="5"/>
            <p:cNvSpPr/>
            <p:nvPr/>
          </p:nvSpPr>
          <p:spPr>
            <a:xfrm flipH="false" flipV="false" rot="0">
              <a:off x="0" y="0"/>
              <a:ext cx="996696" cy="996696"/>
            </a:xfrm>
            <a:custGeom>
              <a:avLst/>
              <a:gdLst/>
              <a:ahLst/>
              <a:cxnLst/>
              <a:rect r="r" b="b" t="t" l="l"/>
              <a:pathLst>
                <a:path h="996696" w="996696">
                  <a:moveTo>
                    <a:pt x="0" y="0"/>
                  </a:moveTo>
                  <a:lnTo>
                    <a:pt x="996696" y="0"/>
                  </a:lnTo>
                  <a:lnTo>
                    <a:pt x="996696" y="996696"/>
                  </a:lnTo>
                  <a:lnTo>
                    <a:pt x="0" y="996696"/>
                  </a:lnTo>
                  <a:lnTo>
                    <a:pt x="0" y="0"/>
                  </a:lnTo>
                  <a:close/>
                </a:path>
              </a:pathLst>
            </a:custGeom>
            <a:blipFill>
              <a:blip r:embed="rId2"/>
              <a:stretch>
                <a:fillRect l="0" t="0" r="2" b="2"/>
              </a:stretch>
            </a:blipFill>
          </p:spPr>
        </p:sp>
      </p:grpSp>
      <p:sp>
        <p:nvSpPr>
          <p:cNvPr name="Freeform 6" id="6"/>
          <p:cNvSpPr/>
          <p:nvPr/>
        </p:nvSpPr>
        <p:spPr>
          <a:xfrm flipH="false" flipV="false" rot="0">
            <a:off x="17711822" y="-127089"/>
            <a:ext cx="2442286" cy="2000736"/>
          </a:xfrm>
          <a:custGeom>
            <a:avLst/>
            <a:gdLst/>
            <a:ahLst/>
            <a:cxnLst/>
            <a:rect r="r" b="b" t="t" l="l"/>
            <a:pathLst>
              <a:path h="2000736" w="2442286">
                <a:moveTo>
                  <a:pt x="0" y="0"/>
                </a:moveTo>
                <a:lnTo>
                  <a:pt x="2442286" y="0"/>
                </a:lnTo>
                <a:lnTo>
                  <a:pt x="2442286" y="2000736"/>
                </a:lnTo>
                <a:lnTo>
                  <a:pt x="0" y="20007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7334471" y="2232410"/>
            <a:ext cx="10982104" cy="8642103"/>
            <a:chOff x="0" y="0"/>
            <a:chExt cx="1804151" cy="1419733"/>
          </a:xfrm>
        </p:grpSpPr>
        <p:sp>
          <p:nvSpPr>
            <p:cNvPr name="Freeform 8" id="8"/>
            <p:cNvSpPr/>
            <p:nvPr/>
          </p:nvSpPr>
          <p:spPr>
            <a:xfrm flipH="false" flipV="false" rot="-135220">
              <a:off x="-7449" y="-29966"/>
              <a:ext cx="1815917" cy="1479664"/>
            </a:xfrm>
            <a:custGeom>
              <a:avLst/>
              <a:gdLst/>
              <a:ahLst/>
              <a:cxnLst/>
              <a:rect r="r" b="b" t="t" l="l"/>
              <a:pathLst>
                <a:path h="1479664" w="1815917">
                  <a:moveTo>
                    <a:pt x="445403" y="1431983"/>
                  </a:moveTo>
                  <a:lnTo>
                    <a:pt x="1654419" y="1479563"/>
                  </a:lnTo>
                  <a:cubicBezTo>
                    <a:pt x="1725425" y="1482357"/>
                    <a:pt x="1785252" y="1427061"/>
                    <a:pt x="1788047" y="1356055"/>
                  </a:cubicBezTo>
                  <a:lnTo>
                    <a:pt x="1815816" y="650434"/>
                  </a:lnTo>
                  <a:cubicBezTo>
                    <a:pt x="1818610" y="579428"/>
                    <a:pt x="1763314" y="519601"/>
                    <a:pt x="1692308" y="516807"/>
                  </a:cubicBezTo>
                  <a:lnTo>
                    <a:pt x="881727" y="484907"/>
                  </a:lnTo>
                  <a:cubicBezTo>
                    <a:pt x="847628" y="483565"/>
                    <a:pt x="815459" y="468732"/>
                    <a:pt x="792297" y="443672"/>
                  </a:cubicBezTo>
                  <a:cubicBezTo>
                    <a:pt x="769135" y="418612"/>
                    <a:pt x="756876" y="385377"/>
                    <a:pt x="758218" y="351279"/>
                  </a:cubicBezTo>
                  <a:lnTo>
                    <a:pt x="766040" y="152537"/>
                  </a:lnTo>
                  <a:cubicBezTo>
                    <a:pt x="768834" y="81531"/>
                    <a:pt x="713537" y="21704"/>
                    <a:pt x="642531" y="18909"/>
                  </a:cubicBezTo>
                  <a:lnTo>
                    <a:pt x="164629" y="102"/>
                  </a:lnTo>
                  <a:cubicBezTo>
                    <a:pt x="93623" y="-2693"/>
                    <a:pt x="33796" y="52604"/>
                    <a:pt x="31002" y="123610"/>
                  </a:cubicBezTo>
                  <a:lnTo>
                    <a:pt x="100" y="908829"/>
                  </a:lnTo>
                  <a:cubicBezTo>
                    <a:pt x="-1146" y="940456"/>
                    <a:pt x="9310" y="971433"/>
                    <a:pt x="29467" y="995836"/>
                  </a:cubicBezTo>
                  <a:lnTo>
                    <a:pt x="351266" y="1385363"/>
                  </a:lnTo>
                  <a:cubicBezTo>
                    <a:pt x="374583" y="1413588"/>
                    <a:pt x="408820" y="1430544"/>
                    <a:pt x="445403" y="1431983"/>
                  </a:cubicBezTo>
                  <a:close/>
                </a:path>
              </a:pathLst>
            </a:custGeom>
            <a:blipFill>
              <a:blip r:embed="rId5"/>
              <a:stretch>
                <a:fillRect l="-11317" t="-340" r="-11212" b="0"/>
              </a:stretch>
            </a:blipFill>
          </p:spPr>
        </p:sp>
      </p:grpSp>
      <p:sp>
        <p:nvSpPr>
          <p:cNvPr name="Freeform 9" id="9"/>
          <p:cNvSpPr/>
          <p:nvPr/>
        </p:nvSpPr>
        <p:spPr>
          <a:xfrm flipH="false" flipV="false" rot="0">
            <a:off x="17711822" y="2140397"/>
            <a:ext cx="2442286" cy="3003103"/>
          </a:xfrm>
          <a:custGeom>
            <a:avLst/>
            <a:gdLst/>
            <a:ahLst/>
            <a:cxnLst/>
            <a:rect r="r" b="b" t="t" l="l"/>
            <a:pathLst>
              <a:path h="3003103" w="2442286">
                <a:moveTo>
                  <a:pt x="0" y="0"/>
                </a:moveTo>
                <a:lnTo>
                  <a:pt x="2442286" y="0"/>
                </a:lnTo>
                <a:lnTo>
                  <a:pt x="2442286" y="3003103"/>
                </a:lnTo>
                <a:lnTo>
                  <a:pt x="0" y="30031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7490537" y="1202020"/>
            <a:ext cx="366124" cy="366124"/>
            <a:chOff x="0" y="0"/>
            <a:chExt cx="538005" cy="538005"/>
          </a:xfrm>
        </p:grpSpPr>
        <p:sp>
          <p:nvSpPr>
            <p:cNvPr name="Freeform 11" id="11"/>
            <p:cNvSpPr/>
            <p:nvPr/>
          </p:nvSpPr>
          <p:spPr>
            <a:xfrm flipH="false" flipV="false" rot="0">
              <a:off x="0" y="0"/>
              <a:ext cx="537972" cy="537972"/>
            </a:xfrm>
            <a:custGeom>
              <a:avLst/>
              <a:gdLst/>
              <a:ahLst/>
              <a:cxnLst/>
              <a:rect r="r" b="b" t="t" l="l"/>
              <a:pathLst>
                <a:path h="537972" w="537972">
                  <a:moveTo>
                    <a:pt x="0" y="0"/>
                  </a:moveTo>
                  <a:lnTo>
                    <a:pt x="537972" y="0"/>
                  </a:lnTo>
                  <a:lnTo>
                    <a:pt x="537972" y="537972"/>
                  </a:lnTo>
                  <a:lnTo>
                    <a:pt x="0" y="537972"/>
                  </a:lnTo>
                  <a:lnTo>
                    <a:pt x="0" y="0"/>
                  </a:lnTo>
                  <a:close/>
                </a:path>
              </a:pathLst>
            </a:custGeom>
            <a:blipFill>
              <a:blip r:embed="rId8"/>
              <a:stretch>
                <a:fillRect l="0" t="0" r="-6" b="-6"/>
              </a:stretch>
            </a:blipFill>
          </p:spPr>
        </p:sp>
      </p:grpSp>
      <p:grpSp>
        <p:nvGrpSpPr>
          <p:cNvPr name="Group 12" id="12"/>
          <p:cNvGrpSpPr/>
          <p:nvPr/>
        </p:nvGrpSpPr>
        <p:grpSpPr>
          <a:xfrm rot="0">
            <a:off x="8160332" y="1028700"/>
            <a:ext cx="7406103" cy="747481"/>
            <a:chOff x="0" y="0"/>
            <a:chExt cx="2149726" cy="216967"/>
          </a:xfrm>
        </p:grpSpPr>
        <p:sp>
          <p:nvSpPr>
            <p:cNvPr name="Freeform 13" id="13"/>
            <p:cNvSpPr/>
            <p:nvPr/>
          </p:nvSpPr>
          <p:spPr>
            <a:xfrm flipH="false" flipV="false" rot="0">
              <a:off x="0" y="0"/>
              <a:ext cx="2149726" cy="216967"/>
            </a:xfrm>
            <a:custGeom>
              <a:avLst/>
              <a:gdLst/>
              <a:ahLst/>
              <a:cxnLst/>
              <a:rect r="r" b="b" t="t" l="l"/>
              <a:pathLst>
                <a:path h="216967" w="2149726">
                  <a:moveTo>
                    <a:pt x="56449" y="0"/>
                  </a:moveTo>
                  <a:lnTo>
                    <a:pt x="2093277" y="0"/>
                  </a:lnTo>
                  <a:cubicBezTo>
                    <a:pt x="2124453" y="0"/>
                    <a:pt x="2149726" y="25273"/>
                    <a:pt x="2149726" y="56449"/>
                  </a:cubicBezTo>
                  <a:lnTo>
                    <a:pt x="2149726" y="160518"/>
                  </a:lnTo>
                  <a:cubicBezTo>
                    <a:pt x="2149726" y="191694"/>
                    <a:pt x="2124453" y="216967"/>
                    <a:pt x="2093277" y="216967"/>
                  </a:cubicBezTo>
                  <a:lnTo>
                    <a:pt x="56449" y="216967"/>
                  </a:lnTo>
                  <a:cubicBezTo>
                    <a:pt x="25273" y="216967"/>
                    <a:pt x="0" y="191694"/>
                    <a:pt x="0" y="160518"/>
                  </a:cubicBezTo>
                  <a:lnTo>
                    <a:pt x="0" y="56449"/>
                  </a:lnTo>
                  <a:cubicBezTo>
                    <a:pt x="0" y="25273"/>
                    <a:pt x="25273" y="0"/>
                    <a:pt x="56449" y="0"/>
                  </a:cubicBezTo>
                  <a:close/>
                </a:path>
              </a:pathLst>
            </a:custGeom>
            <a:solidFill>
              <a:srgbClr val="555555"/>
            </a:solidFill>
          </p:spPr>
        </p:sp>
        <p:sp>
          <p:nvSpPr>
            <p:cNvPr name="TextBox 14" id="14"/>
            <p:cNvSpPr txBox="true"/>
            <p:nvPr/>
          </p:nvSpPr>
          <p:spPr>
            <a:xfrm>
              <a:off x="0" y="-47625"/>
              <a:ext cx="2149726" cy="264592"/>
            </a:xfrm>
            <a:prstGeom prst="rect">
              <a:avLst/>
            </a:prstGeom>
          </p:spPr>
          <p:txBody>
            <a:bodyPr anchor="ctr" rtlCol="false" tIns="50800" lIns="50800" bIns="50800" rIns="50800"/>
            <a:lstStyle/>
            <a:p>
              <a:pPr algn="ctr">
                <a:lnSpc>
                  <a:spcPts val="2948"/>
                </a:lnSpc>
              </a:pPr>
            </a:p>
          </p:txBody>
        </p:sp>
      </p:grpSp>
      <p:sp>
        <p:nvSpPr>
          <p:cNvPr name="Freeform 15" id="15"/>
          <p:cNvSpPr/>
          <p:nvPr/>
        </p:nvSpPr>
        <p:spPr>
          <a:xfrm flipH="false" flipV="false" rot="0">
            <a:off x="1028700" y="1036480"/>
            <a:ext cx="4967948" cy="1326442"/>
          </a:xfrm>
          <a:custGeom>
            <a:avLst/>
            <a:gdLst/>
            <a:ahLst/>
            <a:cxnLst/>
            <a:rect r="r" b="b" t="t" l="l"/>
            <a:pathLst>
              <a:path h="1326442" w="4967948">
                <a:moveTo>
                  <a:pt x="0" y="0"/>
                </a:moveTo>
                <a:lnTo>
                  <a:pt x="4967948" y="0"/>
                </a:lnTo>
                <a:lnTo>
                  <a:pt x="4967948" y="1326442"/>
                </a:lnTo>
                <a:lnTo>
                  <a:pt x="0" y="1326442"/>
                </a:lnTo>
                <a:lnTo>
                  <a:pt x="0" y="0"/>
                </a:lnTo>
                <a:close/>
              </a:path>
            </a:pathLst>
          </a:custGeom>
          <a:blipFill>
            <a:blip r:embed="rId9"/>
            <a:stretch>
              <a:fillRect l="0" t="0" r="0" b="0"/>
            </a:stretch>
          </a:blipFill>
        </p:spPr>
      </p:sp>
      <p:sp>
        <p:nvSpPr>
          <p:cNvPr name="TextBox 16" id="16"/>
          <p:cNvSpPr txBox="true"/>
          <p:nvPr/>
        </p:nvSpPr>
        <p:spPr>
          <a:xfrm rot="0">
            <a:off x="1028700" y="3073716"/>
            <a:ext cx="6115081" cy="2721327"/>
          </a:xfrm>
          <a:prstGeom prst="rect">
            <a:avLst/>
          </a:prstGeom>
        </p:spPr>
        <p:txBody>
          <a:bodyPr anchor="t" rtlCol="false" tIns="0" lIns="0" bIns="0" rIns="0">
            <a:spAutoFit/>
          </a:bodyPr>
          <a:lstStyle/>
          <a:p>
            <a:pPr algn="l">
              <a:lnSpc>
                <a:spcPts val="10786"/>
              </a:lnSpc>
            </a:pPr>
            <a:r>
              <a:rPr lang="en-US" sz="8988" b="true">
                <a:solidFill>
                  <a:srgbClr val="FFFFFF"/>
                </a:solidFill>
                <a:latin typeface="Inter Bold"/>
                <a:ea typeface="Inter Bold"/>
                <a:cs typeface="Inter Bold"/>
                <a:sym typeface="Inter Bold"/>
              </a:rPr>
              <a:t>COMPANY</a:t>
            </a:r>
          </a:p>
          <a:p>
            <a:pPr algn="l">
              <a:lnSpc>
                <a:spcPts val="10786"/>
              </a:lnSpc>
            </a:pPr>
            <a:r>
              <a:rPr lang="en-US" sz="8988" b="true">
                <a:solidFill>
                  <a:srgbClr val="FFFFFF"/>
                </a:solidFill>
                <a:latin typeface="Inter Bold"/>
                <a:ea typeface="Inter Bold"/>
                <a:cs typeface="Inter Bold"/>
                <a:sym typeface="Inter Bold"/>
              </a:rPr>
              <a:t>PROFILE</a:t>
            </a:r>
          </a:p>
        </p:txBody>
      </p:sp>
      <p:sp>
        <p:nvSpPr>
          <p:cNvPr name="TextBox 17" id="17"/>
          <p:cNvSpPr txBox="true"/>
          <p:nvPr/>
        </p:nvSpPr>
        <p:spPr>
          <a:xfrm rot="0">
            <a:off x="1028700" y="6410586"/>
            <a:ext cx="6249845" cy="2001104"/>
          </a:xfrm>
          <a:prstGeom prst="rect">
            <a:avLst/>
          </a:prstGeom>
        </p:spPr>
        <p:txBody>
          <a:bodyPr anchor="t" rtlCol="false" tIns="0" lIns="0" bIns="0" rIns="0">
            <a:spAutoFit/>
          </a:bodyPr>
          <a:lstStyle/>
          <a:p>
            <a:pPr algn="l">
              <a:lnSpc>
                <a:spcPts val="3223"/>
              </a:lnSpc>
            </a:pPr>
            <a:r>
              <a:rPr lang="en-US" sz="1918">
                <a:solidFill>
                  <a:srgbClr val="FFFFFF"/>
                </a:solidFill>
                <a:latin typeface="Inter Light"/>
                <a:ea typeface="Inter Light"/>
                <a:cs typeface="Inter Light"/>
                <a:sym typeface="Inter Light"/>
              </a:rPr>
              <a:t>Otrava</a:t>
            </a:r>
            <a:r>
              <a:rPr lang="en-US" sz="1918">
                <a:solidFill>
                  <a:srgbClr val="FFFFFF"/>
                </a:solidFill>
                <a:latin typeface="Inter Light"/>
                <a:ea typeface="Inter Light"/>
                <a:cs typeface="Inter Light"/>
                <a:sym typeface="Inter Light"/>
              </a:rPr>
              <a:t> Technologies is a trusted Zambian ICT company delivering innovative, reliable, and inclusive solutions. We empower businesses, institutions, and communities to thrive in the digital age through technology that inspires progress and drives impact.</a:t>
            </a:r>
          </a:p>
        </p:txBody>
      </p:sp>
      <p:sp>
        <p:nvSpPr>
          <p:cNvPr name="TextBox 18" id="18"/>
          <p:cNvSpPr txBox="true"/>
          <p:nvPr/>
        </p:nvSpPr>
        <p:spPr>
          <a:xfrm rot="0">
            <a:off x="8012727" y="1150657"/>
            <a:ext cx="7776233" cy="874633"/>
          </a:xfrm>
          <a:prstGeom prst="rect">
            <a:avLst/>
          </a:prstGeom>
        </p:spPr>
        <p:txBody>
          <a:bodyPr anchor="t" rtlCol="false" tIns="0" lIns="0" bIns="0" rIns="0">
            <a:spAutoFit/>
          </a:bodyPr>
          <a:lstStyle/>
          <a:p>
            <a:pPr algn="ctr">
              <a:lnSpc>
                <a:spcPts val="3553"/>
              </a:lnSpc>
            </a:pPr>
            <a:r>
              <a:rPr lang="en-US" b="true" sz="2115">
                <a:solidFill>
                  <a:srgbClr val="FFFFFF"/>
                </a:solidFill>
                <a:latin typeface="Inter Medium"/>
                <a:ea typeface="Inter Medium"/>
                <a:cs typeface="Inter Medium"/>
                <a:sym typeface="Inter Medium"/>
              </a:rPr>
              <a:t>INNOVATE. DESIGN. EMPOWER WITH TECHNOLOGY</a:t>
            </a:r>
          </a:p>
          <a:p>
            <a:pPr algn="ctr">
              <a:lnSpc>
                <a:spcPts val="3553"/>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grpSp>
        <p:nvGrpSpPr>
          <p:cNvPr name="Group 3" id="3"/>
          <p:cNvGrpSpPr/>
          <p:nvPr/>
        </p:nvGrpSpPr>
        <p:grpSpPr>
          <a:xfrm rot="0">
            <a:off x="677607" y="1844646"/>
            <a:ext cx="7381653" cy="6881441"/>
            <a:chOff x="0" y="0"/>
            <a:chExt cx="9842204" cy="9175255"/>
          </a:xfrm>
        </p:grpSpPr>
        <p:sp>
          <p:nvSpPr>
            <p:cNvPr name="Freeform 4" id="4"/>
            <p:cNvSpPr/>
            <p:nvPr/>
          </p:nvSpPr>
          <p:spPr>
            <a:xfrm flipH="false" flipV="false" rot="0">
              <a:off x="0" y="0"/>
              <a:ext cx="9842246" cy="9175242"/>
            </a:xfrm>
            <a:custGeom>
              <a:avLst/>
              <a:gdLst/>
              <a:ahLst/>
              <a:cxnLst/>
              <a:rect r="r" b="b" t="t" l="l"/>
              <a:pathLst>
                <a:path h="9175242" w="9842246">
                  <a:moveTo>
                    <a:pt x="599948" y="0"/>
                  </a:moveTo>
                  <a:lnTo>
                    <a:pt x="9242298" y="0"/>
                  </a:lnTo>
                  <a:cubicBezTo>
                    <a:pt x="9573641" y="0"/>
                    <a:pt x="9842246" y="268605"/>
                    <a:pt x="9842246" y="599948"/>
                  </a:cubicBezTo>
                  <a:lnTo>
                    <a:pt x="9842246" y="8575294"/>
                  </a:lnTo>
                  <a:cubicBezTo>
                    <a:pt x="9842246" y="8906637"/>
                    <a:pt x="9573641" y="9175242"/>
                    <a:pt x="9242298" y="9175242"/>
                  </a:cubicBezTo>
                  <a:lnTo>
                    <a:pt x="599948" y="9175242"/>
                  </a:lnTo>
                  <a:cubicBezTo>
                    <a:pt x="268605" y="9175242"/>
                    <a:pt x="0" y="8906637"/>
                    <a:pt x="0" y="8575294"/>
                  </a:cubicBezTo>
                  <a:lnTo>
                    <a:pt x="0" y="599948"/>
                  </a:lnTo>
                  <a:cubicBezTo>
                    <a:pt x="0" y="268605"/>
                    <a:pt x="268605" y="0"/>
                    <a:pt x="599948" y="0"/>
                  </a:cubicBezTo>
                  <a:close/>
                </a:path>
              </a:pathLst>
            </a:custGeom>
            <a:blipFill>
              <a:blip r:embed="rId3"/>
              <a:stretch>
                <a:fillRect l="0" t="-21253" r="0" b="-21253"/>
              </a:stretch>
            </a:blipFill>
          </p:spPr>
        </p:sp>
      </p:grpSp>
      <p:sp>
        <p:nvSpPr>
          <p:cNvPr name="Freeform 5" id="5"/>
          <p:cNvSpPr/>
          <p:nvPr/>
        </p:nvSpPr>
        <p:spPr>
          <a:xfrm flipH="false" flipV="false" rot="0">
            <a:off x="8788125" y="4885399"/>
            <a:ext cx="8822336" cy="3840700"/>
          </a:xfrm>
          <a:custGeom>
            <a:avLst/>
            <a:gdLst/>
            <a:ahLst/>
            <a:cxnLst/>
            <a:rect r="r" b="b" t="t" l="l"/>
            <a:pathLst>
              <a:path h="3840700" w="8822336">
                <a:moveTo>
                  <a:pt x="0" y="0"/>
                </a:moveTo>
                <a:lnTo>
                  <a:pt x="8822336" y="0"/>
                </a:lnTo>
                <a:lnTo>
                  <a:pt x="8822336" y="3840700"/>
                </a:lnTo>
                <a:lnTo>
                  <a:pt x="0" y="3840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86393" y="7423525"/>
            <a:ext cx="1818437" cy="1072992"/>
          </a:xfrm>
          <a:custGeom>
            <a:avLst/>
            <a:gdLst/>
            <a:ahLst/>
            <a:cxnLst/>
            <a:rect r="r" b="b" t="t" l="l"/>
            <a:pathLst>
              <a:path h="1072992" w="1818437">
                <a:moveTo>
                  <a:pt x="0" y="0"/>
                </a:moveTo>
                <a:lnTo>
                  <a:pt x="1818437" y="0"/>
                </a:lnTo>
                <a:lnTo>
                  <a:pt x="1818437" y="1072992"/>
                </a:lnTo>
                <a:lnTo>
                  <a:pt x="0" y="1072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831313" y="7873894"/>
            <a:ext cx="497743" cy="497743"/>
            <a:chOff x="0" y="0"/>
            <a:chExt cx="663657" cy="663657"/>
          </a:xfrm>
        </p:grpSpPr>
        <p:sp>
          <p:nvSpPr>
            <p:cNvPr name="Freeform 8" id="8"/>
            <p:cNvSpPr/>
            <p:nvPr/>
          </p:nvSpPr>
          <p:spPr>
            <a:xfrm flipH="false" flipV="false" rot="0">
              <a:off x="0" y="0"/>
              <a:ext cx="663702" cy="663702"/>
            </a:xfrm>
            <a:custGeom>
              <a:avLst/>
              <a:gdLst/>
              <a:ahLst/>
              <a:cxnLst/>
              <a:rect r="r" b="b" t="t" l="l"/>
              <a:pathLst>
                <a:path h="663702" w="663702">
                  <a:moveTo>
                    <a:pt x="0" y="0"/>
                  </a:moveTo>
                  <a:lnTo>
                    <a:pt x="663702" y="0"/>
                  </a:lnTo>
                  <a:lnTo>
                    <a:pt x="663702" y="663702"/>
                  </a:lnTo>
                  <a:lnTo>
                    <a:pt x="0" y="663702"/>
                  </a:lnTo>
                  <a:lnTo>
                    <a:pt x="0" y="0"/>
                  </a:lnTo>
                  <a:close/>
                </a:path>
              </a:pathLst>
            </a:custGeom>
            <a:blipFill>
              <a:blip r:embed="rId8"/>
              <a:stretch>
                <a:fillRect l="0" t="0" r="6" b="6"/>
              </a:stretch>
            </a:blipFill>
          </p:spPr>
        </p:sp>
      </p:grpSp>
      <p:grpSp>
        <p:nvGrpSpPr>
          <p:cNvPr name="Group 9" id="9"/>
          <p:cNvGrpSpPr/>
          <p:nvPr/>
        </p:nvGrpSpPr>
        <p:grpSpPr>
          <a:xfrm rot="-5400000">
            <a:off x="1459860" y="8000183"/>
            <a:ext cx="494603" cy="248303"/>
            <a:chOff x="0" y="0"/>
            <a:chExt cx="659471" cy="331071"/>
          </a:xfrm>
        </p:grpSpPr>
        <p:sp>
          <p:nvSpPr>
            <p:cNvPr name="Freeform 10" id="10"/>
            <p:cNvSpPr/>
            <p:nvPr/>
          </p:nvSpPr>
          <p:spPr>
            <a:xfrm flipH="false" flipV="false" rot="0">
              <a:off x="0" y="0"/>
              <a:ext cx="659511" cy="331089"/>
            </a:xfrm>
            <a:custGeom>
              <a:avLst/>
              <a:gdLst/>
              <a:ahLst/>
              <a:cxnLst/>
              <a:rect r="r" b="b" t="t" l="l"/>
              <a:pathLst>
                <a:path h="331089" w="659511">
                  <a:moveTo>
                    <a:pt x="0" y="0"/>
                  </a:moveTo>
                  <a:lnTo>
                    <a:pt x="659511" y="0"/>
                  </a:lnTo>
                  <a:lnTo>
                    <a:pt x="659511" y="331089"/>
                  </a:lnTo>
                  <a:lnTo>
                    <a:pt x="0" y="331089"/>
                  </a:lnTo>
                  <a:lnTo>
                    <a:pt x="0" y="0"/>
                  </a:lnTo>
                  <a:close/>
                </a:path>
              </a:pathLst>
            </a:custGeom>
            <a:blipFill>
              <a:blip r:embed="rId9"/>
              <a:stretch>
                <a:fillRect l="0" t="-33" r="6" b="-28"/>
              </a:stretch>
            </a:blipFill>
          </p:spPr>
        </p:sp>
      </p:grpSp>
      <p:grpSp>
        <p:nvGrpSpPr>
          <p:cNvPr name="Group 11" id="11"/>
          <p:cNvGrpSpPr/>
          <p:nvPr/>
        </p:nvGrpSpPr>
        <p:grpSpPr>
          <a:xfrm rot="-5400000">
            <a:off x="7962014" y="2624658"/>
            <a:ext cx="2363972" cy="1186771"/>
            <a:chOff x="0" y="0"/>
            <a:chExt cx="3151963" cy="1582361"/>
          </a:xfrm>
        </p:grpSpPr>
        <p:sp>
          <p:nvSpPr>
            <p:cNvPr name="Freeform 12" id="12"/>
            <p:cNvSpPr/>
            <p:nvPr/>
          </p:nvSpPr>
          <p:spPr>
            <a:xfrm flipH="false" flipV="false" rot="0">
              <a:off x="0" y="0"/>
              <a:ext cx="3152013" cy="1582420"/>
            </a:xfrm>
            <a:custGeom>
              <a:avLst/>
              <a:gdLst/>
              <a:ahLst/>
              <a:cxnLst/>
              <a:rect r="r" b="b" t="t" l="l"/>
              <a:pathLst>
                <a:path h="1582420" w="3152013">
                  <a:moveTo>
                    <a:pt x="0" y="0"/>
                  </a:moveTo>
                  <a:lnTo>
                    <a:pt x="3152013" y="0"/>
                  </a:lnTo>
                  <a:lnTo>
                    <a:pt x="3152013" y="1582420"/>
                  </a:lnTo>
                  <a:lnTo>
                    <a:pt x="0" y="1582420"/>
                  </a:lnTo>
                  <a:lnTo>
                    <a:pt x="0" y="0"/>
                  </a:lnTo>
                  <a:close/>
                </a:path>
              </a:pathLst>
            </a:custGeom>
            <a:blipFill>
              <a:blip r:embed="rId10"/>
              <a:stretch>
                <a:fillRect l="0" t="-33" r="1" b="-30"/>
              </a:stretch>
            </a:blipFill>
          </p:spPr>
        </p:sp>
      </p:grpSp>
      <p:sp>
        <p:nvSpPr>
          <p:cNvPr name="Freeform 13" id="13"/>
          <p:cNvSpPr/>
          <p:nvPr/>
        </p:nvSpPr>
        <p:spPr>
          <a:xfrm flipH="false" flipV="false" rot="0">
            <a:off x="8462697" y="9735749"/>
            <a:ext cx="2719349" cy="1347257"/>
          </a:xfrm>
          <a:custGeom>
            <a:avLst/>
            <a:gdLst/>
            <a:ahLst/>
            <a:cxnLst/>
            <a:rect r="r" b="b" t="t" l="l"/>
            <a:pathLst>
              <a:path h="1347257" w="2719349">
                <a:moveTo>
                  <a:pt x="0" y="0"/>
                </a:moveTo>
                <a:lnTo>
                  <a:pt x="2719349" y="0"/>
                </a:lnTo>
                <a:lnTo>
                  <a:pt x="2719349" y="1347257"/>
                </a:lnTo>
                <a:lnTo>
                  <a:pt x="0" y="134725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11260588" y="9735749"/>
            <a:ext cx="6349873" cy="1347257"/>
          </a:xfrm>
          <a:custGeom>
            <a:avLst/>
            <a:gdLst/>
            <a:ahLst/>
            <a:cxnLst/>
            <a:rect r="r" b="b" t="t" l="l"/>
            <a:pathLst>
              <a:path h="1347257" w="6349873">
                <a:moveTo>
                  <a:pt x="0" y="0"/>
                </a:moveTo>
                <a:lnTo>
                  <a:pt x="6349873" y="0"/>
                </a:lnTo>
                <a:lnTo>
                  <a:pt x="6349873" y="1347257"/>
                </a:lnTo>
                <a:lnTo>
                  <a:pt x="0" y="134725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15"/>
            <a:stretch>
              <a:fillRect l="0" t="0" r="0" b="0"/>
            </a:stretch>
          </a:blipFill>
        </p:spPr>
      </p:sp>
      <p:sp>
        <p:nvSpPr>
          <p:cNvPr name="TextBox 16" id="16"/>
          <p:cNvSpPr txBox="true"/>
          <p:nvPr/>
        </p:nvSpPr>
        <p:spPr>
          <a:xfrm rot="0">
            <a:off x="10489237" y="1692243"/>
            <a:ext cx="6937800" cy="2899200"/>
          </a:xfrm>
          <a:prstGeom prst="rect">
            <a:avLst/>
          </a:prstGeom>
        </p:spPr>
        <p:txBody>
          <a:bodyPr anchor="t" rtlCol="false" tIns="0" lIns="0" bIns="0" rIns="0">
            <a:spAutoFit/>
          </a:bodyPr>
          <a:lstStyle/>
          <a:p>
            <a:pPr algn="l">
              <a:lnSpc>
                <a:spcPts val="11454"/>
              </a:lnSpc>
            </a:pPr>
            <a:r>
              <a:rPr lang="en-US" b="true" sz="8300">
                <a:solidFill>
                  <a:srgbClr val="FFFFFF"/>
                </a:solidFill>
                <a:latin typeface="Inter Bold"/>
                <a:ea typeface="Inter Bold"/>
                <a:cs typeface="Inter Bold"/>
                <a:sym typeface="Inter Bold"/>
              </a:rPr>
              <a:t>COMPANY</a:t>
            </a:r>
          </a:p>
          <a:p>
            <a:pPr algn="l">
              <a:lnSpc>
                <a:spcPts val="11454"/>
              </a:lnSpc>
            </a:pPr>
            <a:r>
              <a:rPr lang="en-US" b="true" sz="8300">
                <a:solidFill>
                  <a:srgbClr val="FFFFFF"/>
                </a:solidFill>
                <a:latin typeface="Inter Bold"/>
                <a:ea typeface="Inter Bold"/>
                <a:cs typeface="Inter Bold"/>
                <a:sym typeface="Inter Bold"/>
              </a:rPr>
              <a:t>HISTORY</a:t>
            </a:r>
          </a:p>
        </p:txBody>
      </p:sp>
      <p:sp>
        <p:nvSpPr>
          <p:cNvPr name="TextBox 17" id="17"/>
          <p:cNvSpPr txBox="true"/>
          <p:nvPr/>
        </p:nvSpPr>
        <p:spPr>
          <a:xfrm rot="0">
            <a:off x="9262693" y="5142491"/>
            <a:ext cx="7873200" cy="3404963"/>
          </a:xfrm>
          <a:prstGeom prst="rect">
            <a:avLst/>
          </a:prstGeom>
        </p:spPr>
        <p:txBody>
          <a:bodyPr anchor="t" rtlCol="false" tIns="0" lIns="0" bIns="0" rIns="0">
            <a:spAutoFit/>
          </a:bodyPr>
          <a:lstStyle/>
          <a:p>
            <a:pPr algn="l">
              <a:lnSpc>
                <a:spcPts val="3024"/>
              </a:lnSpc>
            </a:pPr>
            <a:r>
              <a:rPr lang="en-US" sz="1800">
                <a:solidFill>
                  <a:srgbClr val="FFFFFF"/>
                </a:solidFill>
                <a:latin typeface="Inter Light"/>
                <a:ea typeface="Inter Light"/>
                <a:cs typeface="Inter Light"/>
                <a:sym typeface="Inter Light"/>
              </a:rPr>
              <a:t>Ot</a:t>
            </a:r>
            <a:r>
              <a:rPr lang="en-US" sz="1800">
                <a:solidFill>
                  <a:srgbClr val="FFFFFF"/>
                </a:solidFill>
                <a:latin typeface="Inter Light"/>
                <a:ea typeface="Inter Light"/>
                <a:cs typeface="Inter Light"/>
                <a:sym typeface="Inter Light"/>
              </a:rPr>
              <a:t>rava Technologies was founded in January 2024 to meet the growing demand for accessible, modern, and scalable ICT solutions in Zambia and across Africa. From the outset, our mission has been to deliver technology that drives business growth, enhances efficiency, and bridges the digital divide.</a:t>
            </a:r>
          </a:p>
          <a:p>
            <a:pPr algn="l">
              <a:lnSpc>
                <a:spcPts val="3024"/>
              </a:lnSpc>
            </a:pPr>
            <a:r>
              <a:rPr lang="en-US" sz="1800">
                <a:solidFill>
                  <a:srgbClr val="FFFFFF"/>
                </a:solidFill>
                <a:latin typeface="Inter Light"/>
                <a:ea typeface="Inter Light"/>
                <a:cs typeface="Inter Light"/>
                <a:sym typeface="Inter Light"/>
              </a:rPr>
              <a:t> In just over a year, we have served over 100 clients across sectors including education, NGOs, SMEs, and individuals—offering solutions in web development, branding, assistive technology, networking, and more.</a:t>
            </a:r>
          </a:p>
          <a:p>
            <a:pPr algn="l">
              <a:lnSpc>
                <a:spcPts val="3024"/>
              </a:lnSpc>
            </a:pPr>
            <a:r>
              <a:rPr lang="en-US" sz="1800">
                <a:solidFill>
                  <a:srgbClr val="FFFFFF"/>
                </a:solidFill>
                <a:latin typeface="Arial MT Pro"/>
                <a:ea typeface="Arial MT Pro"/>
                <a:cs typeface="Arial MT Pro"/>
                <a:sym typeface="Arial MT Pro"/>
              </a:rPr>
              <a:t> Our journey is driven by a commitment to quality, innovation, and inclusivity.</a:t>
            </a:r>
          </a:p>
        </p:txBody>
      </p:sp>
      <p:sp>
        <p:nvSpPr>
          <p:cNvPr name="TextBox 18" id="18"/>
          <p:cNvSpPr txBox="true"/>
          <p:nvPr/>
        </p:nvSpPr>
        <p:spPr>
          <a:xfrm rot="0">
            <a:off x="677607" y="9470496"/>
            <a:ext cx="419288" cy="321945"/>
          </a:xfrm>
          <a:prstGeom prst="rect">
            <a:avLst/>
          </a:prstGeom>
        </p:spPr>
        <p:txBody>
          <a:bodyPr anchor="t" rtlCol="false" tIns="0" lIns="0" bIns="0" rIns="0">
            <a:spAutoFit/>
          </a:bodyPr>
          <a:lstStyle/>
          <a:p>
            <a:pPr algn="just">
              <a:lnSpc>
                <a:spcPts val="2014"/>
              </a:lnSpc>
            </a:pPr>
            <a:r>
              <a:rPr lang="en-US" sz="1200">
                <a:solidFill>
                  <a:srgbClr val="FFFFFF"/>
                </a:solidFill>
                <a:latin typeface="Arial MT Pro"/>
                <a:ea typeface="Arial MT Pro"/>
                <a:cs typeface="Arial MT Pro"/>
                <a:sym typeface="Arial MT Pro"/>
              </a:rPr>
              <a:t>01</a:t>
            </a:r>
          </a:p>
        </p:txBody>
      </p:sp>
      <p:sp>
        <p:nvSpPr>
          <p:cNvPr name="TextBox 19" id="19"/>
          <p:cNvSpPr txBox="true"/>
          <p:nvPr/>
        </p:nvSpPr>
        <p:spPr>
          <a:xfrm rot="0">
            <a:off x="1228783" y="590519"/>
            <a:ext cx="2367698"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Otrava Technologies</a:t>
            </a:r>
          </a:p>
        </p:txBody>
      </p:sp>
      <p:sp>
        <p:nvSpPr>
          <p:cNvPr name="TextBox 20" id="20"/>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TextBox 3" id="3"/>
          <p:cNvSpPr txBox="true"/>
          <p:nvPr/>
        </p:nvSpPr>
        <p:spPr>
          <a:xfrm rot="0">
            <a:off x="3394869" y="6436242"/>
            <a:ext cx="9878912" cy="3023972"/>
          </a:xfrm>
          <a:prstGeom prst="rect">
            <a:avLst/>
          </a:prstGeom>
        </p:spPr>
        <p:txBody>
          <a:bodyPr anchor="t" rtlCol="false" tIns="0" lIns="0" bIns="0" rIns="0">
            <a:spAutoFit/>
          </a:bodyPr>
          <a:lstStyle/>
          <a:p>
            <a:pPr algn="just">
              <a:lnSpc>
                <a:spcPts val="3024"/>
              </a:lnSpc>
            </a:pPr>
            <a:r>
              <a:rPr lang="en-US" sz="1800">
                <a:solidFill>
                  <a:srgbClr val="FFFFFF"/>
                </a:solidFill>
                <a:latin typeface="Inter"/>
                <a:ea typeface="Inter"/>
                <a:cs typeface="Inter"/>
                <a:sym typeface="Inter"/>
              </a:rPr>
              <a:t>Ot</a:t>
            </a:r>
            <a:r>
              <a:rPr lang="en-US" sz="1800">
                <a:solidFill>
                  <a:srgbClr val="FFFFFF"/>
                </a:solidFill>
                <a:latin typeface="Inter"/>
                <a:ea typeface="Inter"/>
                <a:cs typeface="Inter"/>
                <a:sym typeface="Inter"/>
              </a:rPr>
              <a:t>rava Technologies is a Zambian-owned ICT company specializing in delivering innovative, accessible, and cost-effective technology solutions.</a:t>
            </a:r>
          </a:p>
          <a:p>
            <a:pPr algn="just">
              <a:lnSpc>
                <a:spcPts val="3024"/>
              </a:lnSpc>
            </a:pPr>
            <a:r>
              <a:rPr lang="en-US" sz="1800">
                <a:solidFill>
                  <a:srgbClr val="FFFFFF"/>
                </a:solidFill>
                <a:latin typeface="Inter"/>
                <a:ea typeface="Inter"/>
                <a:cs typeface="Inter"/>
                <a:sym typeface="Inter"/>
              </a:rPr>
              <a:t>We serve SMEs, educational institutions, NGOs, and individuals, offering services such as website design, graphic branding, ICT training, networking, and system repairs.</a:t>
            </a:r>
          </a:p>
          <a:p>
            <a:pPr algn="just">
              <a:lnSpc>
                <a:spcPts val="3024"/>
              </a:lnSpc>
            </a:pPr>
            <a:r>
              <a:rPr lang="en-US" sz="1800">
                <a:solidFill>
                  <a:srgbClr val="FFFFFF"/>
                </a:solidFill>
                <a:latin typeface="Inter"/>
                <a:ea typeface="Inter"/>
                <a:cs typeface="Inter"/>
                <a:sym typeface="Inter"/>
              </a:rPr>
              <a:t>Our unique value lies in blending professional technology services with a strong social mission—empowering underserved communities and visually impaired individuals through digital inclusion.</a:t>
            </a:r>
          </a:p>
          <a:p>
            <a:pPr algn="just">
              <a:lnSpc>
                <a:spcPts val="3024"/>
              </a:lnSpc>
            </a:pPr>
            <a:r>
              <a:rPr lang="en-US" sz="1800">
                <a:solidFill>
                  <a:srgbClr val="FFFFFF"/>
                </a:solidFill>
                <a:latin typeface="Inter"/>
                <a:ea typeface="Inter"/>
                <a:cs typeface="Inter"/>
                <a:sym typeface="Inter"/>
              </a:rPr>
              <a:t> We operate with transparency, adaptability, and a relentless focus on client satisfaction.</a:t>
            </a:r>
          </a:p>
        </p:txBody>
      </p:sp>
      <p:sp>
        <p:nvSpPr>
          <p:cNvPr name="Freeform 4" id="4"/>
          <p:cNvSpPr/>
          <p:nvPr/>
        </p:nvSpPr>
        <p:spPr>
          <a:xfrm flipH="false" flipV="false" rot="0">
            <a:off x="677607" y="1771522"/>
            <a:ext cx="12596174" cy="4396028"/>
          </a:xfrm>
          <a:custGeom>
            <a:avLst/>
            <a:gdLst/>
            <a:ahLst/>
            <a:cxnLst/>
            <a:rect r="r" b="b" t="t" l="l"/>
            <a:pathLst>
              <a:path h="4396028" w="12596174">
                <a:moveTo>
                  <a:pt x="0" y="0"/>
                </a:moveTo>
                <a:lnTo>
                  <a:pt x="12596174" y="0"/>
                </a:lnTo>
                <a:lnTo>
                  <a:pt x="12596174" y="4396028"/>
                </a:lnTo>
                <a:lnTo>
                  <a:pt x="0" y="43960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379324" y="2736713"/>
            <a:ext cx="5796300" cy="2564625"/>
          </a:xfrm>
          <a:prstGeom prst="rect">
            <a:avLst/>
          </a:prstGeom>
        </p:spPr>
        <p:txBody>
          <a:bodyPr anchor="t" rtlCol="false" tIns="0" lIns="0" bIns="0" rIns="0">
            <a:spAutoFit/>
          </a:bodyPr>
          <a:lstStyle/>
          <a:p>
            <a:pPr algn="l">
              <a:lnSpc>
                <a:spcPts val="9960"/>
              </a:lnSpc>
            </a:pPr>
            <a:r>
              <a:rPr lang="en-US" b="true" sz="8300">
                <a:solidFill>
                  <a:srgbClr val="292929"/>
                </a:solidFill>
                <a:latin typeface="Inter Bold"/>
                <a:ea typeface="Inter Bold"/>
                <a:cs typeface="Inter Bold"/>
                <a:sym typeface="Inter Bold"/>
              </a:rPr>
              <a:t>ABOUT</a:t>
            </a:r>
          </a:p>
          <a:p>
            <a:pPr algn="l">
              <a:lnSpc>
                <a:spcPts val="9960"/>
              </a:lnSpc>
            </a:pPr>
            <a:r>
              <a:rPr lang="en-US" b="true" sz="8300">
                <a:solidFill>
                  <a:srgbClr val="292929"/>
                </a:solidFill>
                <a:latin typeface="Inter Bold"/>
                <a:ea typeface="Inter Bold"/>
                <a:cs typeface="Inter Bold"/>
                <a:sym typeface="Inter Bold"/>
              </a:rPr>
              <a:t>US</a:t>
            </a:r>
          </a:p>
        </p:txBody>
      </p:sp>
      <p:sp>
        <p:nvSpPr>
          <p:cNvPr name="TextBox 6" id="6"/>
          <p:cNvSpPr txBox="true"/>
          <p:nvPr/>
        </p:nvSpPr>
        <p:spPr>
          <a:xfrm rot="0">
            <a:off x="677607" y="6521967"/>
            <a:ext cx="3538800" cy="438150"/>
          </a:xfrm>
          <a:prstGeom prst="rect">
            <a:avLst/>
          </a:prstGeom>
        </p:spPr>
        <p:txBody>
          <a:bodyPr anchor="t" rtlCol="false" tIns="0" lIns="0" bIns="0" rIns="0">
            <a:spAutoFit/>
          </a:bodyPr>
          <a:lstStyle/>
          <a:p>
            <a:pPr algn="l">
              <a:lnSpc>
                <a:spcPts val="3496"/>
              </a:lnSpc>
            </a:pPr>
            <a:r>
              <a:rPr lang="en-US" b="true" sz="2914">
                <a:solidFill>
                  <a:srgbClr val="FFFFFF"/>
                </a:solidFill>
                <a:latin typeface="Inter Bold"/>
                <a:ea typeface="Inter Bold"/>
                <a:cs typeface="Inter Bold"/>
                <a:sym typeface="Inter Bold"/>
              </a:rPr>
              <a:t>An Overview</a:t>
            </a:r>
          </a:p>
        </p:txBody>
      </p:sp>
      <p:sp>
        <p:nvSpPr>
          <p:cNvPr name="Freeform 7" id="7"/>
          <p:cNvSpPr/>
          <p:nvPr/>
        </p:nvSpPr>
        <p:spPr>
          <a:xfrm flipH="false" flipV="false" rot="0">
            <a:off x="14667844" y="7691550"/>
            <a:ext cx="2942550" cy="1028266"/>
          </a:xfrm>
          <a:custGeom>
            <a:avLst/>
            <a:gdLst/>
            <a:ahLst/>
            <a:cxnLst/>
            <a:rect r="r" b="b" t="t" l="l"/>
            <a:pathLst>
              <a:path h="1028266" w="2942550">
                <a:moveTo>
                  <a:pt x="0" y="0"/>
                </a:moveTo>
                <a:lnTo>
                  <a:pt x="2942550" y="0"/>
                </a:lnTo>
                <a:lnTo>
                  <a:pt x="2942550" y="1028266"/>
                </a:lnTo>
                <a:lnTo>
                  <a:pt x="0" y="10282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4804540" y="7936742"/>
            <a:ext cx="646377" cy="646377"/>
            <a:chOff x="0" y="0"/>
            <a:chExt cx="861836" cy="861836"/>
          </a:xfrm>
        </p:grpSpPr>
        <p:sp>
          <p:nvSpPr>
            <p:cNvPr name="Freeform 9" id="9"/>
            <p:cNvSpPr/>
            <p:nvPr/>
          </p:nvSpPr>
          <p:spPr>
            <a:xfrm flipH="false" flipV="false" rot="0">
              <a:off x="0" y="0"/>
              <a:ext cx="861822" cy="861822"/>
            </a:xfrm>
            <a:custGeom>
              <a:avLst/>
              <a:gdLst/>
              <a:ahLst/>
              <a:cxnLst/>
              <a:rect r="r" b="b" t="t" l="l"/>
              <a:pathLst>
                <a:path h="861822" w="861822">
                  <a:moveTo>
                    <a:pt x="0" y="0"/>
                  </a:moveTo>
                  <a:lnTo>
                    <a:pt x="861822" y="0"/>
                  </a:lnTo>
                  <a:lnTo>
                    <a:pt x="861822" y="861822"/>
                  </a:lnTo>
                  <a:lnTo>
                    <a:pt x="0" y="861822"/>
                  </a:lnTo>
                  <a:lnTo>
                    <a:pt x="0" y="0"/>
                  </a:lnTo>
                  <a:close/>
                </a:path>
              </a:pathLst>
            </a:custGeom>
            <a:blipFill>
              <a:blip r:embed="rId7"/>
              <a:stretch>
                <a:fillRect l="0" t="0" r="-1" b="-1"/>
              </a:stretch>
            </a:blipFill>
          </p:spPr>
        </p:sp>
      </p:grpSp>
      <p:sp>
        <p:nvSpPr>
          <p:cNvPr name="Freeform 10" id="10"/>
          <p:cNvSpPr/>
          <p:nvPr/>
        </p:nvSpPr>
        <p:spPr>
          <a:xfrm flipH="false" flipV="false" rot="0">
            <a:off x="17501897" y="3509114"/>
            <a:ext cx="1497479" cy="2658436"/>
          </a:xfrm>
          <a:custGeom>
            <a:avLst/>
            <a:gdLst/>
            <a:ahLst/>
            <a:cxnLst/>
            <a:rect r="r" b="b" t="t" l="l"/>
            <a:pathLst>
              <a:path h="2658436" w="1497479">
                <a:moveTo>
                  <a:pt x="0" y="0"/>
                </a:moveTo>
                <a:lnTo>
                  <a:pt x="1497479" y="0"/>
                </a:lnTo>
                <a:lnTo>
                  <a:pt x="1497479" y="2658436"/>
                </a:lnTo>
                <a:lnTo>
                  <a:pt x="0" y="26584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7501897" y="1880018"/>
            <a:ext cx="1497479" cy="1347257"/>
          </a:xfrm>
          <a:custGeom>
            <a:avLst/>
            <a:gdLst/>
            <a:ahLst/>
            <a:cxnLst/>
            <a:rect r="r" b="b" t="t" l="l"/>
            <a:pathLst>
              <a:path h="1347257" w="1497479">
                <a:moveTo>
                  <a:pt x="0" y="0"/>
                </a:moveTo>
                <a:lnTo>
                  <a:pt x="1497479" y="0"/>
                </a:lnTo>
                <a:lnTo>
                  <a:pt x="1497479" y="1347257"/>
                </a:lnTo>
                <a:lnTo>
                  <a:pt x="0" y="13472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2" id="12"/>
          <p:cNvGrpSpPr/>
          <p:nvPr/>
        </p:nvGrpSpPr>
        <p:grpSpPr>
          <a:xfrm rot="0">
            <a:off x="6847315" y="2120813"/>
            <a:ext cx="6119783" cy="3805943"/>
            <a:chOff x="0" y="0"/>
            <a:chExt cx="8159711" cy="5074591"/>
          </a:xfrm>
        </p:grpSpPr>
        <p:sp>
          <p:nvSpPr>
            <p:cNvPr name="Freeform 13" id="13"/>
            <p:cNvSpPr/>
            <p:nvPr/>
          </p:nvSpPr>
          <p:spPr>
            <a:xfrm flipH="false" flipV="false" rot="0">
              <a:off x="0" y="0"/>
              <a:ext cx="8159750" cy="5074539"/>
            </a:xfrm>
            <a:custGeom>
              <a:avLst/>
              <a:gdLst/>
              <a:ahLst/>
              <a:cxnLst/>
              <a:rect r="r" b="b" t="t" l="l"/>
              <a:pathLst>
                <a:path h="5074539" w="8159750">
                  <a:moveTo>
                    <a:pt x="518414" y="0"/>
                  </a:moveTo>
                  <a:lnTo>
                    <a:pt x="7641336" y="0"/>
                  </a:lnTo>
                  <a:cubicBezTo>
                    <a:pt x="7927594" y="0"/>
                    <a:pt x="8159750" y="232156"/>
                    <a:pt x="8159750" y="518414"/>
                  </a:cubicBezTo>
                  <a:lnTo>
                    <a:pt x="8159750" y="4556125"/>
                  </a:lnTo>
                  <a:cubicBezTo>
                    <a:pt x="8159750" y="4842383"/>
                    <a:pt x="7927594" y="5074539"/>
                    <a:pt x="7641336" y="5074539"/>
                  </a:cubicBezTo>
                  <a:lnTo>
                    <a:pt x="518414" y="5074539"/>
                  </a:lnTo>
                  <a:cubicBezTo>
                    <a:pt x="232156" y="5074539"/>
                    <a:pt x="0" y="4842510"/>
                    <a:pt x="0" y="4556125"/>
                  </a:cubicBezTo>
                  <a:lnTo>
                    <a:pt x="0" y="518414"/>
                  </a:lnTo>
                  <a:cubicBezTo>
                    <a:pt x="0" y="232156"/>
                    <a:pt x="232156" y="0"/>
                    <a:pt x="518414" y="0"/>
                  </a:cubicBezTo>
                  <a:close/>
                </a:path>
              </a:pathLst>
            </a:custGeom>
            <a:blipFill>
              <a:blip r:embed="rId12"/>
              <a:stretch>
                <a:fillRect l="0" t="-10518" r="0" b="-10518"/>
              </a:stretch>
            </a:blipFill>
          </p:spPr>
        </p:sp>
      </p:grpSp>
      <p:sp>
        <p:nvSpPr>
          <p:cNvPr name="Freeform 14" id="14"/>
          <p:cNvSpPr/>
          <p:nvPr/>
        </p:nvSpPr>
        <p:spPr>
          <a:xfrm flipH="false" flipV="false" rot="0">
            <a:off x="7110125" y="4957933"/>
            <a:ext cx="1614184" cy="759851"/>
          </a:xfrm>
          <a:custGeom>
            <a:avLst/>
            <a:gdLst/>
            <a:ahLst/>
            <a:cxnLst/>
            <a:rect r="r" b="b" t="t" l="l"/>
            <a:pathLst>
              <a:path h="759851" w="1614184">
                <a:moveTo>
                  <a:pt x="0" y="0"/>
                </a:moveTo>
                <a:lnTo>
                  <a:pt x="1614184" y="0"/>
                </a:lnTo>
                <a:lnTo>
                  <a:pt x="1614184" y="759851"/>
                </a:lnTo>
                <a:lnTo>
                  <a:pt x="0" y="75985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0">
            <a:off x="7279945" y="5168597"/>
            <a:ext cx="428774" cy="428774"/>
          </a:xfrm>
          <a:custGeom>
            <a:avLst/>
            <a:gdLst/>
            <a:ahLst/>
            <a:cxnLst/>
            <a:rect r="r" b="b" t="t" l="l"/>
            <a:pathLst>
              <a:path h="428774" w="428774">
                <a:moveTo>
                  <a:pt x="0" y="0"/>
                </a:moveTo>
                <a:lnTo>
                  <a:pt x="428774" y="0"/>
                </a:lnTo>
                <a:lnTo>
                  <a:pt x="428774" y="428774"/>
                </a:lnTo>
                <a:lnTo>
                  <a:pt x="0" y="42877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6" id="16"/>
          <p:cNvGrpSpPr/>
          <p:nvPr/>
        </p:nvGrpSpPr>
        <p:grpSpPr>
          <a:xfrm rot="0">
            <a:off x="7403122" y="5291774"/>
            <a:ext cx="182419" cy="182419"/>
            <a:chOff x="0" y="0"/>
            <a:chExt cx="243225" cy="243225"/>
          </a:xfrm>
        </p:grpSpPr>
        <p:sp>
          <p:nvSpPr>
            <p:cNvPr name="Freeform 17" id="17"/>
            <p:cNvSpPr/>
            <p:nvPr/>
          </p:nvSpPr>
          <p:spPr>
            <a:xfrm flipH="false" flipV="false" rot="0">
              <a:off x="0" y="0"/>
              <a:ext cx="243205" cy="243205"/>
            </a:xfrm>
            <a:custGeom>
              <a:avLst/>
              <a:gdLst/>
              <a:ahLst/>
              <a:cxnLst/>
              <a:rect r="r" b="b" t="t" l="l"/>
              <a:pathLst>
                <a:path h="243205" w="243205">
                  <a:moveTo>
                    <a:pt x="0" y="0"/>
                  </a:moveTo>
                  <a:lnTo>
                    <a:pt x="243205" y="0"/>
                  </a:lnTo>
                  <a:lnTo>
                    <a:pt x="243205" y="243205"/>
                  </a:lnTo>
                  <a:lnTo>
                    <a:pt x="0" y="243205"/>
                  </a:lnTo>
                  <a:lnTo>
                    <a:pt x="0" y="0"/>
                  </a:lnTo>
                  <a:close/>
                </a:path>
              </a:pathLst>
            </a:custGeom>
            <a:blipFill>
              <a:blip r:embed="rId17"/>
              <a:stretch>
                <a:fillRect l="0" t="0" r="-8" b="-8"/>
              </a:stretch>
            </a:blipFill>
          </p:spPr>
        </p:sp>
      </p:grpSp>
      <p:sp>
        <p:nvSpPr>
          <p:cNvPr name="TextBox 18" id="18"/>
          <p:cNvSpPr txBox="true"/>
          <p:nvPr/>
        </p:nvSpPr>
        <p:spPr>
          <a:xfrm rot="0">
            <a:off x="15804064" y="7924416"/>
            <a:ext cx="1593000" cy="604802"/>
          </a:xfrm>
          <a:prstGeom prst="rect">
            <a:avLst/>
          </a:prstGeom>
        </p:spPr>
        <p:txBody>
          <a:bodyPr anchor="t" rtlCol="false" tIns="0" lIns="0" bIns="0" rIns="0">
            <a:spAutoFit/>
          </a:bodyPr>
          <a:lstStyle/>
          <a:p>
            <a:pPr algn="l">
              <a:lnSpc>
                <a:spcPts val="2492"/>
              </a:lnSpc>
            </a:pPr>
            <a:r>
              <a:rPr lang="en-US" sz="1483">
                <a:solidFill>
                  <a:srgbClr val="292929"/>
                </a:solidFill>
                <a:latin typeface="Inter"/>
                <a:ea typeface="Inter"/>
                <a:cs typeface="Inter"/>
                <a:sym typeface="Inter"/>
              </a:rPr>
              <a:t>We t</a:t>
            </a:r>
            <a:r>
              <a:rPr lang="en-US" sz="1483">
                <a:solidFill>
                  <a:srgbClr val="292929"/>
                </a:solidFill>
                <a:latin typeface="Inter"/>
                <a:ea typeface="Inter"/>
                <a:cs typeface="Inter"/>
                <a:sym typeface="Inter"/>
              </a:rPr>
              <a:t>reat clients</a:t>
            </a:r>
          </a:p>
          <a:p>
            <a:pPr algn="l">
              <a:lnSpc>
                <a:spcPts val="2492"/>
              </a:lnSpc>
            </a:pPr>
            <a:r>
              <a:rPr lang="en-US" sz="1483">
                <a:solidFill>
                  <a:srgbClr val="292929"/>
                </a:solidFill>
                <a:latin typeface="Inter"/>
                <a:ea typeface="Inter"/>
                <a:cs typeface="Inter"/>
                <a:sym typeface="Inter"/>
              </a:rPr>
              <a:t>with respect.</a:t>
            </a:r>
          </a:p>
        </p:txBody>
      </p:sp>
      <p:sp>
        <p:nvSpPr>
          <p:cNvPr name="Freeform 19" id="19"/>
          <p:cNvSpPr/>
          <p:nvPr/>
        </p:nvSpPr>
        <p:spPr>
          <a:xfrm flipH="false" flipV="false" rot="0">
            <a:off x="13981695" y="1749299"/>
            <a:ext cx="2942550" cy="4418251"/>
          </a:xfrm>
          <a:custGeom>
            <a:avLst/>
            <a:gdLst/>
            <a:ahLst/>
            <a:cxnLst/>
            <a:rect r="r" b="b" t="t" l="l"/>
            <a:pathLst>
              <a:path h="4418251" w="2942550">
                <a:moveTo>
                  <a:pt x="0" y="0"/>
                </a:moveTo>
                <a:lnTo>
                  <a:pt x="2942550" y="0"/>
                </a:lnTo>
                <a:lnTo>
                  <a:pt x="2942550" y="4418251"/>
                </a:lnTo>
                <a:lnTo>
                  <a:pt x="0" y="441825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20" id="20"/>
          <p:cNvGrpSpPr/>
          <p:nvPr/>
        </p:nvGrpSpPr>
        <p:grpSpPr>
          <a:xfrm rot="-5400000">
            <a:off x="15691802" y="4838852"/>
            <a:ext cx="1174381" cy="589568"/>
            <a:chOff x="0" y="0"/>
            <a:chExt cx="1565841" cy="786091"/>
          </a:xfrm>
        </p:grpSpPr>
        <p:sp>
          <p:nvSpPr>
            <p:cNvPr name="Freeform 21" id="21"/>
            <p:cNvSpPr/>
            <p:nvPr/>
          </p:nvSpPr>
          <p:spPr>
            <a:xfrm flipH="false" flipV="false" rot="0">
              <a:off x="0" y="0"/>
              <a:ext cx="1565783" cy="786130"/>
            </a:xfrm>
            <a:custGeom>
              <a:avLst/>
              <a:gdLst/>
              <a:ahLst/>
              <a:cxnLst/>
              <a:rect r="r" b="b" t="t" l="l"/>
              <a:pathLst>
                <a:path h="786130" w="1565783">
                  <a:moveTo>
                    <a:pt x="0" y="0"/>
                  </a:moveTo>
                  <a:lnTo>
                    <a:pt x="1565783" y="0"/>
                  </a:lnTo>
                  <a:lnTo>
                    <a:pt x="1565783" y="786130"/>
                  </a:lnTo>
                  <a:lnTo>
                    <a:pt x="0" y="786130"/>
                  </a:lnTo>
                  <a:lnTo>
                    <a:pt x="0" y="0"/>
                  </a:lnTo>
                  <a:close/>
                </a:path>
              </a:pathLst>
            </a:custGeom>
            <a:blipFill>
              <a:blip r:embed="rId20"/>
              <a:stretch>
                <a:fillRect l="0" t="-33" r="-3" b="-28"/>
              </a:stretch>
            </a:blipFill>
          </p:spPr>
        </p:sp>
      </p:grpSp>
      <p:grpSp>
        <p:nvGrpSpPr>
          <p:cNvPr name="Group 22" id="22"/>
          <p:cNvGrpSpPr/>
          <p:nvPr/>
        </p:nvGrpSpPr>
        <p:grpSpPr>
          <a:xfrm rot="5400000">
            <a:off x="15984209" y="3956878"/>
            <a:ext cx="589568" cy="589568"/>
            <a:chOff x="0" y="0"/>
            <a:chExt cx="786091" cy="786091"/>
          </a:xfrm>
        </p:grpSpPr>
        <p:sp>
          <p:nvSpPr>
            <p:cNvPr name="Freeform 23" id="23"/>
            <p:cNvSpPr/>
            <p:nvPr/>
          </p:nvSpPr>
          <p:spPr>
            <a:xfrm flipH="false" flipV="false" rot="0">
              <a:off x="0" y="0"/>
              <a:ext cx="786130" cy="786130"/>
            </a:xfrm>
            <a:custGeom>
              <a:avLst/>
              <a:gdLst/>
              <a:ahLst/>
              <a:cxnLst/>
              <a:rect r="r" b="b" t="t" l="l"/>
              <a:pathLst>
                <a:path h="786130" w="786130">
                  <a:moveTo>
                    <a:pt x="0" y="0"/>
                  </a:moveTo>
                  <a:lnTo>
                    <a:pt x="786130" y="0"/>
                  </a:lnTo>
                  <a:lnTo>
                    <a:pt x="786130" y="786130"/>
                  </a:lnTo>
                  <a:lnTo>
                    <a:pt x="0" y="786130"/>
                  </a:lnTo>
                  <a:lnTo>
                    <a:pt x="0" y="0"/>
                  </a:lnTo>
                  <a:close/>
                </a:path>
              </a:pathLst>
            </a:custGeom>
            <a:blipFill>
              <a:blip r:embed="rId21"/>
              <a:stretch>
                <a:fillRect l="0" t="0" r="5" b="5"/>
              </a:stretch>
            </a:blipFill>
          </p:spPr>
        </p:sp>
      </p:grpSp>
      <p:sp>
        <p:nvSpPr>
          <p:cNvPr name="AutoShape 24" id="24"/>
          <p:cNvSpPr/>
          <p:nvPr/>
        </p:nvSpPr>
        <p:spPr>
          <a:xfrm rot="127126">
            <a:off x="14252327" y="4027686"/>
            <a:ext cx="1288167" cy="0"/>
          </a:xfrm>
          <a:prstGeom prst="line">
            <a:avLst/>
          </a:prstGeom>
          <a:ln cap="rnd" w="38100">
            <a:solidFill>
              <a:srgbClr val="FFFFFF"/>
            </a:solidFill>
            <a:prstDash val="solid"/>
            <a:headEnd type="none" len="sm" w="sm"/>
            <a:tailEnd type="none" len="sm" w="sm"/>
          </a:ln>
        </p:spPr>
      </p:sp>
      <p:sp>
        <p:nvSpPr>
          <p:cNvPr name="TextBox 25" id="25"/>
          <p:cNvSpPr txBox="true"/>
          <p:nvPr/>
        </p:nvSpPr>
        <p:spPr>
          <a:xfrm rot="0">
            <a:off x="14385436" y="2316405"/>
            <a:ext cx="2309234" cy="1414653"/>
          </a:xfrm>
          <a:prstGeom prst="rect">
            <a:avLst/>
          </a:prstGeom>
        </p:spPr>
        <p:txBody>
          <a:bodyPr anchor="t" rtlCol="false" tIns="0" lIns="0" bIns="0" rIns="0">
            <a:spAutoFit/>
          </a:bodyPr>
          <a:lstStyle/>
          <a:p>
            <a:pPr algn="l">
              <a:lnSpc>
                <a:spcPts val="3815"/>
              </a:lnSpc>
            </a:pPr>
            <a:r>
              <a:rPr lang="en-US" sz="2649">
                <a:solidFill>
                  <a:srgbClr val="FFFFFF"/>
                </a:solidFill>
                <a:latin typeface="Ultra"/>
                <a:ea typeface="Ultra"/>
                <a:cs typeface="Ultra"/>
                <a:sym typeface="Ultra"/>
              </a:rPr>
              <a:t>INNOVATE. DE</a:t>
            </a:r>
            <a:r>
              <a:rPr lang="en-US" sz="2649">
                <a:solidFill>
                  <a:srgbClr val="FFFFFF"/>
                </a:solidFill>
                <a:latin typeface="Ultra"/>
                <a:ea typeface="Ultra"/>
                <a:cs typeface="Ultra"/>
                <a:sym typeface="Ultra"/>
              </a:rPr>
              <a:t>SIGN. EMPOWER</a:t>
            </a:r>
          </a:p>
        </p:txBody>
      </p:sp>
      <p:sp>
        <p:nvSpPr>
          <p:cNvPr name="TextBox 26" id="26"/>
          <p:cNvSpPr txBox="true"/>
          <p:nvPr/>
        </p:nvSpPr>
        <p:spPr>
          <a:xfrm rot="0">
            <a:off x="14264543" y="5119090"/>
            <a:ext cx="1311807" cy="546279"/>
          </a:xfrm>
          <a:prstGeom prst="rect">
            <a:avLst/>
          </a:prstGeom>
        </p:spPr>
        <p:txBody>
          <a:bodyPr anchor="t" rtlCol="false" tIns="0" lIns="0" bIns="0" rIns="0">
            <a:spAutoFit/>
          </a:bodyPr>
          <a:lstStyle/>
          <a:p>
            <a:pPr algn="l">
              <a:lnSpc>
                <a:spcPts val="4629"/>
              </a:lnSpc>
            </a:pPr>
            <a:r>
              <a:rPr lang="en-US" b="true" sz="2755">
                <a:solidFill>
                  <a:srgbClr val="FFFFFF"/>
                </a:solidFill>
                <a:latin typeface="Inter Bold"/>
                <a:ea typeface="Inter Bold"/>
                <a:cs typeface="Inter Bold"/>
                <a:sym typeface="Inter Bold"/>
              </a:rPr>
              <a:t>2024</a:t>
            </a:r>
          </a:p>
        </p:txBody>
      </p:sp>
      <p:sp>
        <p:nvSpPr>
          <p:cNvPr name="TextBox 27" id="27"/>
          <p:cNvSpPr txBox="true"/>
          <p:nvPr/>
        </p:nvSpPr>
        <p:spPr>
          <a:xfrm rot="0">
            <a:off x="14264543" y="4381953"/>
            <a:ext cx="1419421" cy="734385"/>
          </a:xfrm>
          <a:prstGeom prst="rect">
            <a:avLst/>
          </a:prstGeom>
        </p:spPr>
        <p:txBody>
          <a:bodyPr anchor="t" rtlCol="false" tIns="0" lIns="0" bIns="0" rIns="0">
            <a:spAutoFit/>
          </a:bodyPr>
          <a:lstStyle/>
          <a:p>
            <a:pPr algn="l">
              <a:lnSpc>
                <a:spcPts val="3086"/>
              </a:lnSpc>
            </a:pPr>
            <a:r>
              <a:rPr lang="en-US" sz="1836">
                <a:solidFill>
                  <a:srgbClr val="FFFFFF"/>
                </a:solidFill>
                <a:latin typeface="Inter Light"/>
                <a:ea typeface="Inter Light"/>
                <a:cs typeface="Inter Light"/>
                <a:sym typeface="Inter Light"/>
              </a:rPr>
              <a:t>Established</a:t>
            </a:r>
          </a:p>
          <a:p>
            <a:pPr algn="l">
              <a:lnSpc>
                <a:spcPts val="3086"/>
              </a:lnSpc>
            </a:pPr>
            <a:r>
              <a:rPr lang="en-US" sz="1836">
                <a:solidFill>
                  <a:srgbClr val="FFFFFF"/>
                </a:solidFill>
                <a:latin typeface="Inter Light"/>
                <a:ea typeface="Inter Light"/>
                <a:cs typeface="Inter Light"/>
                <a:sym typeface="Inter Light"/>
              </a:rPr>
              <a:t>Since</a:t>
            </a:r>
          </a:p>
        </p:txBody>
      </p:sp>
      <p:sp>
        <p:nvSpPr>
          <p:cNvPr name="TextBox 28" id="28"/>
          <p:cNvSpPr txBox="true"/>
          <p:nvPr/>
        </p:nvSpPr>
        <p:spPr>
          <a:xfrm rot="0">
            <a:off x="677607" y="9470496"/>
            <a:ext cx="419288" cy="321945"/>
          </a:xfrm>
          <a:prstGeom prst="rect">
            <a:avLst/>
          </a:prstGeom>
        </p:spPr>
        <p:txBody>
          <a:bodyPr anchor="t" rtlCol="false" tIns="0" lIns="0" bIns="0" rIns="0">
            <a:spAutoFit/>
          </a:bodyPr>
          <a:lstStyle/>
          <a:p>
            <a:pPr algn="just">
              <a:lnSpc>
                <a:spcPts val="2014"/>
              </a:lnSpc>
            </a:pPr>
            <a:r>
              <a:rPr lang="en-US" sz="1200">
                <a:solidFill>
                  <a:srgbClr val="FFFFFF"/>
                </a:solidFill>
                <a:latin typeface="Arial MT Pro"/>
                <a:ea typeface="Arial MT Pro"/>
                <a:cs typeface="Arial MT Pro"/>
                <a:sym typeface="Arial MT Pro"/>
              </a:rPr>
              <a:t>02</a:t>
            </a:r>
          </a:p>
        </p:txBody>
      </p:sp>
      <p:sp>
        <p:nvSpPr>
          <p:cNvPr name="TextBox 29" id="29"/>
          <p:cNvSpPr txBox="true"/>
          <p:nvPr/>
        </p:nvSpPr>
        <p:spPr>
          <a:xfrm rot="0">
            <a:off x="1228783" y="590519"/>
            <a:ext cx="2304986"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grpSp>
        <p:nvGrpSpPr>
          <p:cNvPr name="Group 30" id="30"/>
          <p:cNvGrpSpPr/>
          <p:nvPr/>
        </p:nvGrpSpPr>
        <p:grpSpPr>
          <a:xfrm rot="0">
            <a:off x="14993991" y="8126193"/>
            <a:ext cx="267475" cy="267475"/>
            <a:chOff x="0" y="0"/>
            <a:chExt cx="356633" cy="356633"/>
          </a:xfrm>
        </p:grpSpPr>
        <p:sp>
          <p:nvSpPr>
            <p:cNvPr name="Freeform 31" id="31"/>
            <p:cNvSpPr/>
            <p:nvPr/>
          </p:nvSpPr>
          <p:spPr>
            <a:xfrm flipH="false" flipV="false" rot="0">
              <a:off x="0" y="0"/>
              <a:ext cx="356616" cy="356616"/>
            </a:xfrm>
            <a:custGeom>
              <a:avLst/>
              <a:gdLst/>
              <a:ahLst/>
              <a:cxnLst/>
              <a:rect r="r" b="b" t="t" l="l"/>
              <a:pathLst>
                <a:path h="356616" w="356616">
                  <a:moveTo>
                    <a:pt x="0" y="0"/>
                  </a:moveTo>
                  <a:lnTo>
                    <a:pt x="356616" y="0"/>
                  </a:lnTo>
                  <a:lnTo>
                    <a:pt x="356616" y="356616"/>
                  </a:lnTo>
                  <a:lnTo>
                    <a:pt x="0" y="356616"/>
                  </a:lnTo>
                  <a:lnTo>
                    <a:pt x="0" y="0"/>
                  </a:lnTo>
                  <a:close/>
                </a:path>
              </a:pathLst>
            </a:custGeom>
            <a:blipFill>
              <a:blip r:embed="rId22"/>
              <a:stretch>
                <a:fillRect l="0" t="0" r="-4" b="-4"/>
              </a:stretch>
            </a:blipFill>
          </p:spPr>
        </p:sp>
      </p:grpSp>
      <p:sp>
        <p:nvSpPr>
          <p:cNvPr name="Freeform 32" id="32"/>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23"/>
            <a:stretch>
              <a:fillRect l="0" t="0" r="0" b="0"/>
            </a:stretch>
          </a:blipFill>
        </p:spPr>
      </p:sp>
      <p:sp>
        <p:nvSpPr>
          <p:cNvPr name="TextBox 33" id="33"/>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grpSp>
        <p:nvGrpSpPr>
          <p:cNvPr name="Group 3" id="3"/>
          <p:cNvGrpSpPr/>
          <p:nvPr/>
        </p:nvGrpSpPr>
        <p:grpSpPr>
          <a:xfrm rot="0">
            <a:off x="-1024375" y="1413439"/>
            <a:ext cx="11272690" cy="6167057"/>
            <a:chOff x="0" y="0"/>
            <a:chExt cx="15030253" cy="8222743"/>
          </a:xfrm>
        </p:grpSpPr>
        <p:sp>
          <p:nvSpPr>
            <p:cNvPr name="Freeform 4" id="4"/>
            <p:cNvSpPr/>
            <p:nvPr/>
          </p:nvSpPr>
          <p:spPr>
            <a:xfrm flipH="false" flipV="false" rot="0">
              <a:off x="0" y="0"/>
              <a:ext cx="15030284" cy="8222799"/>
            </a:xfrm>
            <a:custGeom>
              <a:avLst/>
              <a:gdLst/>
              <a:ahLst/>
              <a:cxnLst/>
              <a:rect r="r" b="b" t="t" l="l"/>
              <a:pathLst>
                <a:path h="8222799" w="15030284">
                  <a:moveTo>
                    <a:pt x="166624" y="0"/>
                  </a:moveTo>
                  <a:lnTo>
                    <a:pt x="14863657" y="0"/>
                  </a:lnTo>
                  <a:cubicBezTo>
                    <a:pt x="14907792" y="0"/>
                    <a:pt x="14950235" y="22770"/>
                    <a:pt x="14981431" y="63443"/>
                  </a:cubicBezTo>
                  <a:cubicBezTo>
                    <a:pt x="15012628" y="104116"/>
                    <a:pt x="15030284" y="159079"/>
                    <a:pt x="15030284" y="216398"/>
                  </a:cubicBezTo>
                  <a:lnTo>
                    <a:pt x="15030284" y="8006414"/>
                  </a:lnTo>
                  <a:cubicBezTo>
                    <a:pt x="15030284" y="8063733"/>
                    <a:pt x="15012749" y="8118853"/>
                    <a:pt x="14981431" y="8159369"/>
                  </a:cubicBezTo>
                  <a:cubicBezTo>
                    <a:pt x="14950114" y="8199885"/>
                    <a:pt x="14907792" y="8222799"/>
                    <a:pt x="14863657" y="8222799"/>
                  </a:cubicBezTo>
                  <a:lnTo>
                    <a:pt x="166624" y="8222799"/>
                  </a:lnTo>
                  <a:cubicBezTo>
                    <a:pt x="122489" y="8222799"/>
                    <a:pt x="80047" y="8200042"/>
                    <a:pt x="48851" y="8159369"/>
                  </a:cubicBezTo>
                  <a:cubicBezTo>
                    <a:pt x="17654" y="8118697"/>
                    <a:pt x="0" y="8063733"/>
                    <a:pt x="0" y="8006414"/>
                  </a:cubicBezTo>
                  <a:lnTo>
                    <a:pt x="0" y="216398"/>
                  </a:lnTo>
                  <a:cubicBezTo>
                    <a:pt x="0" y="159079"/>
                    <a:pt x="17533" y="103959"/>
                    <a:pt x="48851" y="63443"/>
                  </a:cubicBezTo>
                  <a:cubicBezTo>
                    <a:pt x="80168" y="22928"/>
                    <a:pt x="122368" y="0"/>
                    <a:pt x="166624" y="0"/>
                  </a:cubicBezTo>
                  <a:close/>
                </a:path>
              </a:pathLst>
            </a:custGeom>
            <a:blipFill>
              <a:blip r:embed="rId3"/>
              <a:stretch>
                <a:fillRect l="-996" t="-1346" r="-6777" b="-1092"/>
              </a:stretch>
            </a:blipFill>
          </p:spPr>
        </p:sp>
      </p:grpSp>
      <p:sp>
        <p:nvSpPr>
          <p:cNvPr name="Freeform 5" id="5"/>
          <p:cNvSpPr/>
          <p:nvPr/>
        </p:nvSpPr>
        <p:spPr>
          <a:xfrm flipH="false" flipV="false" rot="0">
            <a:off x="10787374" y="2163331"/>
            <a:ext cx="6301522" cy="5226674"/>
          </a:xfrm>
          <a:custGeom>
            <a:avLst/>
            <a:gdLst/>
            <a:ahLst/>
            <a:cxnLst/>
            <a:rect r="r" b="b" t="t" l="l"/>
            <a:pathLst>
              <a:path h="5226674" w="6301522">
                <a:moveTo>
                  <a:pt x="0" y="0"/>
                </a:moveTo>
                <a:lnTo>
                  <a:pt x="6301523" y="0"/>
                </a:lnTo>
                <a:lnTo>
                  <a:pt x="6301523" y="5226674"/>
                </a:lnTo>
                <a:lnTo>
                  <a:pt x="0" y="52266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77607" y="7431667"/>
            <a:ext cx="6761100" cy="1449150"/>
          </a:xfrm>
          <a:prstGeom prst="rect">
            <a:avLst/>
          </a:prstGeom>
        </p:spPr>
        <p:txBody>
          <a:bodyPr anchor="t" rtlCol="false" tIns="0" lIns="0" bIns="0" rIns="0">
            <a:spAutoFit/>
          </a:bodyPr>
          <a:lstStyle/>
          <a:p>
            <a:pPr algn="l">
              <a:lnSpc>
                <a:spcPts val="11653"/>
              </a:lnSpc>
            </a:pPr>
            <a:r>
              <a:rPr lang="en-US" b="true" sz="8300">
                <a:solidFill>
                  <a:srgbClr val="FFFFFF"/>
                </a:solidFill>
                <a:latin typeface="Inter Bold"/>
                <a:ea typeface="Inter Bold"/>
                <a:cs typeface="Inter Bold"/>
                <a:sym typeface="Inter Bold"/>
              </a:rPr>
              <a:t>VISION</a:t>
            </a:r>
          </a:p>
        </p:txBody>
      </p:sp>
      <p:sp>
        <p:nvSpPr>
          <p:cNvPr name="Freeform 7" id="7"/>
          <p:cNvSpPr/>
          <p:nvPr/>
        </p:nvSpPr>
        <p:spPr>
          <a:xfrm flipH="false" flipV="false" rot="0">
            <a:off x="15886171" y="2816047"/>
            <a:ext cx="762949" cy="762949"/>
          </a:xfrm>
          <a:custGeom>
            <a:avLst/>
            <a:gdLst/>
            <a:ahLst/>
            <a:cxnLst/>
            <a:rect r="r" b="b" t="t" l="l"/>
            <a:pathLst>
              <a:path h="762949" w="762949">
                <a:moveTo>
                  <a:pt x="0" y="0"/>
                </a:moveTo>
                <a:lnTo>
                  <a:pt x="762949" y="0"/>
                </a:lnTo>
                <a:lnTo>
                  <a:pt x="762949" y="762948"/>
                </a:lnTo>
                <a:lnTo>
                  <a:pt x="0" y="7629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16105349" y="3035225"/>
            <a:ext cx="324592" cy="324592"/>
            <a:chOff x="0" y="0"/>
            <a:chExt cx="444493" cy="444493"/>
          </a:xfrm>
        </p:grpSpPr>
        <p:sp>
          <p:nvSpPr>
            <p:cNvPr name="Freeform 9" id="9"/>
            <p:cNvSpPr/>
            <p:nvPr/>
          </p:nvSpPr>
          <p:spPr>
            <a:xfrm flipH="false" flipV="false" rot="0">
              <a:off x="0" y="0"/>
              <a:ext cx="444500" cy="444500"/>
            </a:xfrm>
            <a:custGeom>
              <a:avLst/>
              <a:gdLst/>
              <a:ahLst/>
              <a:cxnLst/>
              <a:rect r="r" b="b" t="t" l="l"/>
              <a:pathLst>
                <a:path h="444500" w="444500">
                  <a:moveTo>
                    <a:pt x="0" y="0"/>
                  </a:moveTo>
                  <a:lnTo>
                    <a:pt x="444500" y="0"/>
                  </a:lnTo>
                  <a:lnTo>
                    <a:pt x="444500" y="444500"/>
                  </a:lnTo>
                  <a:lnTo>
                    <a:pt x="0" y="444500"/>
                  </a:lnTo>
                  <a:lnTo>
                    <a:pt x="0" y="0"/>
                  </a:lnTo>
                  <a:close/>
                </a:path>
              </a:pathLst>
            </a:custGeom>
            <a:blipFill>
              <a:blip r:embed="rId8"/>
              <a:stretch>
                <a:fillRect l="0" t="0" r="1" b="1"/>
              </a:stretch>
            </a:blipFill>
          </p:spPr>
        </p:sp>
      </p:grpSp>
      <p:sp>
        <p:nvSpPr>
          <p:cNvPr name="TextBox 10" id="10"/>
          <p:cNvSpPr txBox="true"/>
          <p:nvPr/>
        </p:nvSpPr>
        <p:spPr>
          <a:xfrm rot="0">
            <a:off x="11867760" y="4487415"/>
            <a:ext cx="4360260" cy="1833659"/>
          </a:xfrm>
          <a:prstGeom prst="rect">
            <a:avLst/>
          </a:prstGeom>
        </p:spPr>
        <p:txBody>
          <a:bodyPr anchor="t" rtlCol="false" tIns="0" lIns="0" bIns="0" rIns="0">
            <a:spAutoFit/>
          </a:bodyPr>
          <a:lstStyle/>
          <a:p>
            <a:pPr algn="l">
              <a:lnSpc>
                <a:spcPts val="2944"/>
              </a:lnSpc>
            </a:pPr>
            <a:r>
              <a:rPr lang="en-US" sz="1752">
                <a:solidFill>
                  <a:srgbClr val="292929"/>
                </a:solidFill>
                <a:latin typeface="Inter"/>
                <a:ea typeface="Inter"/>
                <a:cs typeface="Inter"/>
                <a:sym typeface="Inter"/>
              </a:rPr>
              <a:t>T</a:t>
            </a:r>
            <a:r>
              <a:rPr lang="en-US" sz="1752">
                <a:solidFill>
                  <a:srgbClr val="292929"/>
                </a:solidFill>
                <a:latin typeface="Inter"/>
                <a:ea typeface="Inter"/>
                <a:cs typeface="Inter"/>
                <a:sym typeface="Inter"/>
              </a:rPr>
              <a:t>o be Africa’s leading provider of innovative, inclusive, and sustainable ICT solutions that empower businesses, communities, and individuals to thrive in a connected world.</a:t>
            </a:r>
          </a:p>
        </p:txBody>
      </p:sp>
      <p:sp>
        <p:nvSpPr>
          <p:cNvPr name="TextBox 11" id="11"/>
          <p:cNvSpPr txBox="true"/>
          <p:nvPr/>
        </p:nvSpPr>
        <p:spPr>
          <a:xfrm rot="0">
            <a:off x="11525913" y="2777696"/>
            <a:ext cx="3572397" cy="1098605"/>
          </a:xfrm>
          <a:prstGeom prst="rect">
            <a:avLst/>
          </a:prstGeom>
        </p:spPr>
        <p:txBody>
          <a:bodyPr anchor="t" rtlCol="false" tIns="0" lIns="0" bIns="0" rIns="0">
            <a:spAutoFit/>
          </a:bodyPr>
          <a:lstStyle/>
          <a:p>
            <a:pPr algn="l">
              <a:lnSpc>
                <a:spcPts val="2870"/>
              </a:lnSpc>
            </a:pPr>
            <a:r>
              <a:rPr lang="en-US" b="true" sz="2044">
                <a:solidFill>
                  <a:srgbClr val="292929"/>
                </a:solidFill>
                <a:latin typeface="Inter Bold"/>
                <a:ea typeface="Inter Bold"/>
                <a:cs typeface="Inter Bold"/>
                <a:sym typeface="Inter Bold"/>
              </a:rPr>
              <a:t>FUTURE</a:t>
            </a:r>
          </a:p>
          <a:p>
            <a:pPr algn="l">
              <a:lnSpc>
                <a:spcPts val="2870"/>
              </a:lnSpc>
            </a:pPr>
            <a:r>
              <a:rPr lang="en-US" b="true" sz="2044">
                <a:solidFill>
                  <a:srgbClr val="292929"/>
                </a:solidFill>
                <a:latin typeface="Inter Bold"/>
                <a:ea typeface="Inter Bold"/>
                <a:cs typeface="Inter Bold"/>
                <a:sym typeface="Inter Bold"/>
              </a:rPr>
              <a:t>CONNECTIVITY</a:t>
            </a:r>
          </a:p>
          <a:p>
            <a:pPr algn="l">
              <a:lnSpc>
                <a:spcPts val="2870"/>
              </a:lnSpc>
            </a:pPr>
            <a:r>
              <a:rPr lang="en-US" b="true" sz="2044">
                <a:solidFill>
                  <a:srgbClr val="292929"/>
                </a:solidFill>
                <a:latin typeface="Inter Bold"/>
                <a:ea typeface="Inter Bold"/>
                <a:cs typeface="Inter Bold"/>
                <a:sym typeface="Inter Bold"/>
              </a:rPr>
              <a:t>PIONEER</a:t>
            </a:r>
          </a:p>
        </p:txBody>
      </p:sp>
      <p:sp>
        <p:nvSpPr>
          <p:cNvPr name="TextBox 12" id="12"/>
          <p:cNvSpPr txBox="true"/>
          <p:nvPr/>
        </p:nvSpPr>
        <p:spPr>
          <a:xfrm rot="0">
            <a:off x="677607" y="9489546"/>
            <a:ext cx="419400" cy="251475"/>
          </a:xfrm>
          <a:prstGeom prst="rect">
            <a:avLst/>
          </a:prstGeom>
        </p:spPr>
        <p:txBody>
          <a:bodyPr anchor="t" rtlCol="false" tIns="0" lIns="0" bIns="0" rIns="0">
            <a:spAutoFit/>
          </a:bodyPr>
          <a:lstStyle/>
          <a:p>
            <a:pPr algn="just">
              <a:lnSpc>
                <a:spcPts val="2014"/>
              </a:lnSpc>
            </a:pPr>
            <a:r>
              <a:rPr lang="en-US" sz="1200">
                <a:solidFill>
                  <a:srgbClr val="FFFFFF"/>
                </a:solidFill>
                <a:latin typeface="Inter"/>
                <a:ea typeface="Inter"/>
                <a:cs typeface="Inter"/>
                <a:sym typeface="Inter"/>
              </a:rPr>
              <a:t>03</a:t>
            </a:r>
          </a:p>
        </p:txBody>
      </p:sp>
      <p:sp>
        <p:nvSpPr>
          <p:cNvPr name="TextBox 13" id="13"/>
          <p:cNvSpPr txBox="true"/>
          <p:nvPr/>
        </p:nvSpPr>
        <p:spPr>
          <a:xfrm rot="0">
            <a:off x="1228783" y="590519"/>
            <a:ext cx="2304986"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Freeform 14" id="14"/>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9"/>
            <a:stretch>
              <a:fillRect l="0" t="0" r="0" b="0"/>
            </a:stretch>
          </a:blipFill>
        </p:spPr>
      </p:sp>
      <p:sp>
        <p:nvSpPr>
          <p:cNvPr name="Freeform 15" id="15"/>
          <p:cNvSpPr/>
          <p:nvPr/>
        </p:nvSpPr>
        <p:spPr>
          <a:xfrm flipH="false" flipV="false" rot="5400000">
            <a:off x="12930950" y="7737709"/>
            <a:ext cx="1497479" cy="4154871"/>
          </a:xfrm>
          <a:custGeom>
            <a:avLst/>
            <a:gdLst/>
            <a:ahLst/>
            <a:cxnLst/>
            <a:rect r="r" b="b" t="t" l="l"/>
            <a:pathLst>
              <a:path h="4154871" w="1497479">
                <a:moveTo>
                  <a:pt x="0" y="0"/>
                </a:moveTo>
                <a:lnTo>
                  <a:pt x="1497479" y="0"/>
                </a:lnTo>
                <a:lnTo>
                  <a:pt x="1497479" y="4154871"/>
                </a:lnTo>
                <a:lnTo>
                  <a:pt x="0" y="415487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5400000">
            <a:off x="16740041" y="8476412"/>
            <a:ext cx="1497479" cy="2677466"/>
          </a:xfrm>
          <a:custGeom>
            <a:avLst/>
            <a:gdLst/>
            <a:ahLst/>
            <a:cxnLst/>
            <a:rect r="r" b="b" t="t" l="l"/>
            <a:pathLst>
              <a:path h="2677466" w="1497479">
                <a:moveTo>
                  <a:pt x="0" y="0"/>
                </a:moveTo>
                <a:lnTo>
                  <a:pt x="1497479" y="0"/>
                </a:lnTo>
                <a:lnTo>
                  <a:pt x="1497479" y="2677466"/>
                </a:lnTo>
                <a:lnTo>
                  <a:pt x="0" y="26774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grpSp>
        <p:nvGrpSpPr>
          <p:cNvPr name="Group 3" id="3"/>
          <p:cNvGrpSpPr/>
          <p:nvPr/>
        </p:nvGrpSpPr>
        <p:grpSpPr>
          <a:xfrm rot="0">
            <a:off x="11555566" y="1853626"/>
            <a:ext cx="5272507" cy="3924571"/>
            <a:chOff x="0" y="0"/>
            <a:chExt cx="7030009" cy="5232761"/>
          </a:xfrm>
        </p:grpSpPr>
        <p:sp>
          <p:nvSpPr>
            <p:cNvPr name="Freeform 4" id="4"/>
            <p:cNvSpPr/>
            <p:nvPr/>
          </p:nvSpPr>
          <p:spPr>
            <a:xfrm flipH="false" flipV="false" rot="0">
              <a:off x="0" y="0"/>
              <a:ext cx="7030085" cy="5232781"/>
            </a:xfrm>
            <a:custGeom>
              <a:avLst/>
              <a:gdLst/>
              <a:ahLst/>
              <a:cxnLst/>
              <a:rect r="r" b="b" t="t" l="l"/>
              <a:pathLst>
                <a:path h="5232781" w="7030085">
                  <a:moveTo>
                    <a:pt x="392938" y="0"/>
                  </a:moveTo>
                  <a:lnTo>
                    <a:pt x="6637147" y="0"/>
                  </a:lnTo>
                  <a:cubicBezTo>
                    <a:pt x="6854190" y="0"/>
                    <a:pt x="7030085" y="175895"/>
                    <a:pt x="7030085" y="392938"/>
                  </a:cubicBezTo>
                  <a:lnTo>
                    <a:pt x="7030085" y="4839843"/>
                  </a:lnTo>
                  <a:cubicBezTo>
                    <a:pt x="7030085" y="5056886"/>
                    <a:pt x="6854190" y="5232781"/>
                    <a:pt x="6637147" y="5232781"/>
                  </a:cubicBezTo>
                  <a:lnTo>
                    <a:pt x="392938" y="5232781"/>
                  </a:lnTo>
                  <a:cubicBezTo>
                    <a:pt x="175895" y="5232781"/>
                    <a:pt x="0" y="5056886"/>
                    <a:pt x="0" y="4839843"/>
                  </a:cubicBezTo>
                  <a:lnTo>
                    <a:pt x="0" y="392938"/>
                  </a:lnTo>
                  <a:cubicBezTo>
                    <a:pt x="0" y="175895"/>
                    <a:pt x="175895" y="0"/>
                    <a:pt x="392938" y="0"/>
                  </a:cubicBezTo>
                  <a:close/>
                </a:path>
              </a:pathLst>
            </a:custGeom>
            <a:blipFill>
              <a:blip r:embed="rId3"/>
              <a:stretch>
                <a:fillRect l="0" t="-45220" r="0" b="-45220"/>
              </a:stretch>
            </a:blipFill>
          </p:spPr>
        </p:sp>
      </p:grpSp>
      <p:sp>
        <p:nvSpPr>
          <p:cNvPr name="Freeform 5" id="5"/>
          <p:cNvSpPr/>
          <p:nvPr/>
        </p:nvSpPr>
        <p:spPr>
          <a:xfrm flipH="false" flipV="false" rot="0">
            <a:off x="6395598" y="4648137"/>
            <a:ext cx="4344921" cy="990726"/>
          </a:xfrm>
          <a:custGeom>
            <a:avLst/>
            <a:gdLst/>
            <a:ahLst/>
            <a:cxnLst/>
            <a:rect r="r" b="b" t="t" l="l"/>
            <a:pathLst>
              <a:path h="990726" w="4344921">
                <a:moveTo>
                  <a:pt x="0" y="0"/>
                </a:moveTo>
                <a:lnTo>
                  <a:pt x="4344921" y="0"/>
                </a:lnTo>
                <a:lnTo>
                  <a:pt x="4344921" y="990726"/>
                </a:lnTo>
                <a:lnTo>
                  <a:pt x="0" y="9907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7501897" y="4924015"/>
            <a:ext cx="1497479" cy="4154871"/>
          </a:xfrm>
          <a:custGeom>
            <a:avLst/>
            <a:gdLst/>
            <a:ahLst/>
            <a:cxnLst/>
            <a:rect r="r" b="b" t="t" l="l"/>
            <a:pathLst>
              <a:path h="4154871" w="1497479">
                <a:moveTo>
                  <a:pt x="0" y="0"/>
                </a:moveTo>
                <a:lnTo>
                  <a:pt x="1497479" y="0"/>
                </a:lnTo>
                <a:lnTo>
                  <a:pt x="1497479" y="4154871"/>
                </a:lnTo>
                <a:lnTo>
                  <a:pt x="0" y="41548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7501898" y="1853626"/>
            <a:ext cx="1497479" cy="2677466"/>
          </a:xfrm>
          <a:custGeom>
            <a:avLst/>
            <a:gdLst/>
            <a:ahLst/>
            <a:cxnLst/>
            <a:rect r="r" b="b" t="t" l="l"/>
            <a:pathLst>
              <a:path h="2677466" w="1497479">
                <a:moveTo>
                  <a:pt x="0" y="0"/>
                </a:moveTo>
                <a:lnTo>
                  <a:pt x="1497478" y="0"/>
                </a:lnTo>
                <a:lnTo>
                  <a:pt x="1497478" y="2677466"/>
                </a:lnTo>
                <a:lnTo>
                  <a:pt x="0" y="26774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062368" y="4998868"/>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9" id="9"/>
          <p:cNvGrpSpPr/>
          <p:nvPr/>
        </p:nvGrpSpPr>
        <p:grpSpPr>
          <a:xfrm rot="0">
            <a:off x="16201131" y="5137632"/>
            <a:ext cx="205502" cy="205502"/>
            <a:chOff x="0" y="0"/>
            <a:chExt cx="274003" cy="274003"/>
          </a:xfrm>
        </p:grpSpPr>
        <p:sp>
          <p:nvSpPr>
            <p:cNvPr name="Freeform 10" id="10"/>
            <p:cNvSpPr/>
            <p:nvPr/>
          </p:nvSpPr>
          <p:spPr>
            <a:xfrm flipH="false" flipV="false" rot="0">
              <a:off x="0" y="0"/>
              <a:ext cx="274066" cy="273939"/>
            </a:xfrm>
            <a:custGeom>
              <a:avLst/>
              <a:gdLst/>
              <a:ahLst/>
              <a:cxnLst/>
              <a:rect r="r" b="b" t="t" l="l"/>
              <a:pathLst>
                <a:path h="273939" w="274066">
                  <a:moveTo>
                    <a:pt x="0" y="0"/>
                  </a:moveTo>
                  <a:lnTo>
                    <a:pt x="274066" y="0"/>
                  </a:lnTo>
                  <a:lnTo>
                    <a:pt x="274066" y="273939"/>
                  </a:lnTo>
                  <a:lnTo>
                    <a:pt x="0" y="273939"/>
                  </a:lnTo>
                  <a:lnTo>
                    <a:pt x="0" y="0"/>
                  </a:lnTo>
                  <a:close/>
                </a:path>
              </a:pathLst>
            </a:custGeom>
            <a:blipFill>
              <a:blip r:embed="rId12"/>
              <a:stretch>
                <a:fillRect l="0" t="0" r="23" b="-23"/>
              </a:stretch>
            </a:blipFill>
          </p:spPr>
        </p:sp>
      </p:grpSp>
      <p:sp>
        <p:nvSpPr>
          <p:cNvPr name="TextBox 11" id="11"/>
          <p:cNvSpPr txBox="true"/>
          <p:nvPr/>
        </p:nvSpPr>
        <p:spPr>
          <a:xfrm rot="0">
            <a:off x="747382" y="3106635"/>
            <a:ext cx="5480700" cy="1500060"/>
          </a:xfrm>
          <a:prstGeom prst="rect">
            <a:avLst/>
          </a:prstGeom>
        </p:spPr>
        <p:txBody>
          <a:bodyPr anchor="t" rtlCol="false" tIns="0" lIns="0" bIns="0" rIns="0">
            <a:spAutoFit/>
          </a:bodyPr>
          <a:lstStyle/>
          <a:p>
            <a:pPr algn="l">
              <a:lnSpc>
                <a:spcPts val="3023"/>
              </a:lnSpc>
            </a:pPr>
            <a:r>
              <a:rPr lang="en-US" sz="1800">
                <a:solidFill>
                  <a:srgbClr val="FFFFFF"/>
                </a:solidFill>
                <a:latin typeface="Inter"/>
                <a:ea typeface="Inter"/>
                <a:cs typeface="Inter"/>
                <a:sym typeface="Inter"/>
              </a:rPr>
              <a:t>Our missio</a:t>
            </a:r>
            <a:r>
              <a:rPr lang="en-US" sz="1800">
                <a:solidFill>
                  <a:srgbClr val="FFFFFF"/>
                </a:solidFill>
                <a:latin typeface="Inter"/>
                <a:ea typeface="Inter"/>
                <a:cs typeface="Inter"/>
                <a:sym typeface="Inter"/>
              </a:rPr>
              <a:t>n is to deliver high-quality, affordable, and accessible technology solutions that solve real-world challenges, enhance operational efficiency, and promote digital inclusion.</a:t>
            </a:r>
          </a:p>
        </p:txBody>
      </p:sp>
      <p:sp>
        <p:nvSpPr>
          <p:cNvPr name="TextBox 12" id="12"/>
          <p:cNvSpPr txBox="true"/>
          <p:nvPr/>
        </p:nvSpPr>
        <p:spPr>
          <a:xfrm rot="0">
            <a:off x="731752" y="1710751"/>
            <a:ext cx="9519300" cy="1449150"/>
          </a:xfrm>
          <a:prstGeom prst="rect">
            <a:avLst/>
          </a:prstGeom>
        </p:spPr>
        <p:txBody>
          <a:bodyPr anchor="t" rtlCol="false" tIns="0" lIns="0" bIns="0" rIns="0">
            <a:spAutoFit/>
          </a:bodyPr>
          <a:lstStyle/>
          <a:p>
            <a:pPr algn="l">
              <a:lnSpc>
                <a:spcPts val="11652"/>
              </a:lnSpc>
            </a:pPr>
            <a:r>
              <a:rPr lang="en-US" b="true" sz="8300">
                <a:solidFill>
                  <a:srgbClr val="FFFFFF"/>
                </a:solidFill>
                <a:latin typeface="Inter Bold"/>
                <a:ea typeface="Inter Bold"/>
                <a:cs typeface="Inter Bold"/>
                <a:sym typeface="Inter Bold"/>
              </a:rPr>
              <a:t>MISSION</a:t>
            </a:r>
          </a:p>
        </p:txBody>
      </p:sp>
      <p:sp>
        <p:nvSpPr>
          <p:cNvPr name="Freeform 13" id="13"/>
          <p:cNvSpPr/>
          <p:nvPr/>
        </p:nvSpPr>
        <p:spPr>
          <a:xfrm flipH="false" flipV="false" rot="0">
            <a:off x="6395598" y="6102246"/>
            <a:ext cx="3180461" cy="2976640"/>
          </a:xfrm>
          <a:custGeom>
            <a:avLst/>
            <a:gdLst/>
            <a:ahLst/>
            <a:cxnLst/>
            <a:rect r="r" b="b" t="t" l="l"/>
            <a:pathLst>
              <a:path h="2976640" w="3180461">
                <a:moveTo>
                  <a:pt x="0" y="0"/>
                </a:moveTo>
                <a:lnTo>
                  <a:pt x="3180461" y="0"/>
                </a:lnTo>
                <a:lnTo>
                  <a:pt x="3180461" y="2976640"/>
                </a:lnTo>
                <a:lnTo>
                  <a:pt x="0" y="297664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0">
            <a:off x="8949118" y="8451944"/>
            <a:ext cx="344265" cy="344265"/>
          </a:xfrm>
          <a:custGeom>
            <a:avLst/>
            <a:gdLst/>
            <a:ahLst/>
            <a:cxnLst/>
            <a:rect r="r" b="b" t="t" l="l"/>
            <a:pathLst>
              <a:path h="344265" w="344265">
                <a:moveTo>
                  <a:pt x="0" y="0"/>
                </a:moveTo>
                <a:lnTo>
                  <a:pt x="344265" y="0"/>
                </a:lnTo>
                <a:lnTo>
                  <a:pt x="344265" y="344265"/>
                </a:lnTo>
                <a:lnTo>
                  <a:pt x="0" y="34426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5" id="15"/>
          <p:cNvGrpSpPr/>
          <p:nvPr/>
        </p:nvGrpSpPr>
        <p:grpSpPr>
          <a:xfrm rot="0">
            <a:off x="9048018" y="8550844"/>
            <a:ext cx="146466" cy="146466"/>
            <a:chOff x="0" y="0"/>
            <a:chExt cx="195288" cy="195288"/>
          </a:xfrm>
        </p:grpSpPr>
        <p:sp>
          <p:nvSpPr>
            <p:cNvPr name="Freeform 16" id="16"/>
            <p:cNvSpPr/>
            <p:nvPr/>
          </p:nvSpPr>
          <p:spPr>
            <a:xfrm flipH="false" flipV="false" rot="0">
              <a:off x="0" y="0"/>
              <a:ext cx="195326" cy="195326"/>
            </a:xfrm>
            <a:custGeom>
              <a:avLst/>
              <a:gdLst/>
              <a:ahLst/>
              <a:cxnLst/>
              <a:rect r="r" b="b" t="t" l="l"/>
              <a:pathLst>
                <a:path h="195326" w="195326">
                  <a:moveTo>
                    <a:pt x="0" y="0"/>
                  </a:moveTo>
                  <a:lnTo>
                    <a:pt x="195326" y="0"/>
                  </a:lnTo>
                  <a:lnTo>
                    <a:pt x="195326" y="195326"/>
                  </a:lnTo>
                  <a:lnTo>
                    <a:pt x="0" y="195326"/>
                  </a:lnTo>
                  <a:lnTo>
                    <a:pt x="0" y="0"/>
                  </a:lnTo>
                  <a:close/>
                </a:path>
              </a:pathLst>
            </a:custGeom>
            <a:blipFill>
              <a:blip r:embed="rId17"/>
              <a:stretch>
                <a:fillRect l="0" t="0" r="19" b="19"/>
              </a:stretch>
            </a:blipFill>
          </p:spPr>
        </p:sp>
      </p:grpSp>
      <p:sp>
        <p:nvSpPr>
          <p:cNvPr name="TextBox 17" id="17"/>
          <p:cNvSpPr txBox="true"/>
          <p:nvPr/>
        </p:nvSpPr>
        <p:spPr>
          <a:xfrm rot="0">
            <a:off x="6800389" y="7715317"/>
            <a:ext cx="2492994" cy="736627"/>
          </a:xfrm>
          <a:prstGeom prst="rect">
            <a:avLst/>
          </a:prstGeom>
        </p:spPr>
        <p:txBody>
          <a:bodyPr anchor="t" rtlCol="false" tIns="0" lIns="0" bIns="0" rIns="0">
            <a:spAutoFit/>
          </a:bodyPr>
          <a:lstStyle/>
          <a:p>
            <a:pPr algn="l">
              <a:lnSpc>
                <a:spcPts val="2014"/>
              </a:lnSpc>
            </a:pPr>
            <a:r>
              <a:rPr lang="en-US" sz="1200">
                <a:solidFill>
                  <a:srgbClr val="292929"/>
                </a:solidFill>
                <a:latin typeface="Inter"/>
                <a:ea typeface="Inter"/>
                <a:cs typeface="Inter"/>
                <a:sym typeface="Inter"/>
              </a:rPr>
              <a:t>Eq</a:t>
            </a:r>
            <a:r>
              <a:rPr lang="en-US" sz="1200">
                <a:solidFill>
                  <a:srgbClr val="292929"/>
                </a:solidFill>
                <a:latin typeface="Inter"/>
                <a:ea typeface="Inter"/>
                <a:cs typeface="Inter"/>
                <a:sym typeface="Inter"/>
              </a:rPr>
              <a:t>uip visually impaired individuals with accessible technology training</a:t>
            </a:r>
          </a:p>
        </p:txBody>
      </p:sp>
      <p:sp>
        <p:nvSpPr>
          <p:cNvPr name="TextBox 18" id="18"/>
          <p:cNvSpPr txBox="true"/>
          <p:nvPr/>
        </p:nvSpPr>
        <p:spPr>
          <a:xfrm rot="0">
            <a:off x="6806841" y="6583678"/>
            <a:ext cx="2387700" cy="1107611"/>
          </a:xfrm>
          <a:prstGeom prst="rect">
            <a:avLst/>
          </a:prstGeom>
        </p:spPr>
        <p:txBody>
          <a:bodyPr anchor="t" rtlCol="false" tIns="0" lIns="0" bIns="0" rIns="0">
            <a:spAutoFit/>
          </a:bodyPr>
          <a:lstStyle/>
          <a:p>
            <a:pPr algn="l">
              <a:lnSpc>
                <a:spcPts val="2948"/>
              </a:lnSpc>
            </a:pPr>
            <a:r>
              <a:rPr lang="en-US" b="true" sz="2100">
                <a:solidFill>
                  <a:srgbClr val="292929"/>
                </a:solidFill>
                <a:latin typeface="Inter Bold"/>
                <a:ea typeface="Inter Bold"/>
                <a:cs typeface="Inter Bold"/>
                <a:sym typeface="Inter Bold"/>
              </a:rPr>
              <a:t>Access</a:t>
            </a:r>
            <a:r>
              <a:rPr lang="en-US" b="true" sz="2100">
                <a:solidFill>
                  <a:srgbClr val="292929"/>
                </a:solidFill>
                <a:latin typeface="Inter Bold"/>
                <a:ea typeface="Inter Bold"/>
                <a:cs typeface="Inter Bold"/>
                <a:sym typeface="Inter Bold"/>
              </a:rPr>
              <a:t>ible Tech Training for the Visually Impaired</a:t>
            </a:r>
          </a:p>
        </p:txBody>
      </p:sp>
      <p:sp>
        <p:nvSpPr>
          <p:cNvPr name="Freeform 19" id="19"/>
          <p:cNvSpPr/>
          <p:nvPr/>
        </p:nvSpPr>
        <p:spPr>
          <a:xfrm flipH="false" flipV="false" rot="0">
            <a:off x="10023735" y="6102246"/>
            <a:ext cx="3180461" cy="2976640"/>
          </a:xfrm>
          <a:custGeom>
            <a:avLst/>
            <a:gdLst/>
            <a:ahLst/>
            <a:cxnLst/>
            <a:rect r="r" b="b" t="t" l="l"/>
            <a:pathLst>
              <a:path h="2976640" w="3180461">
                <a:moveTo>
                  <a:pt x="0" y="0"/>
                </a:moveTo>
                <a:lnTo>
                  <a:pt x="3180461" y="0"/>
                </a:lnTo>
                <a:lnTo>
                  <a:pt x="3180461" y="2976640"/>
                </a:lnTo>
                <a:lnTo>
                  <a:pt x="0" y="297664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0" id="20"/>
          <p:cNvSpPr/>
          <p:nvPr/>
        </p:nvSpPr>
        <p:spPr>
          <a:xfrm flipH="false" flipV="false" rot="0">
            <a:off x="12577254" y="8451944"/>
            <a:ext cx="344265" cy="344265"/>
          </a:xfrm>
          <a:custGeom>
            <a:avLst/>
            <a:gdLst/>
            <a:ahLst/>
            <a:cxnLst/>
            <a:rect r="r" b="b" t="t" l="l"/>
            <a:pathLst>
              <a:path h="344265" w="344265">
                <a:moveTo>
                  <a:pt x="0" y="0"/>
                </a:moveTo>
                <a:lnTo>
                  <a:pt x="344265" y="0"/>
                </a:lnTo>
                <a:lnTo>
                  <a:pt x="344265" y="344265"/>
                </a:lnTo>
                <a:lnTo>
                  <a:pt x="0" y="34426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21" id="21"/>
          <p:cNvGrpSpPr/>
          <p:nvPr/>
        </p:nvGrpSpPr>
        <p:grpSpPr>
          <a:xfrm rot="0">
            <a:off x="12676154" y="8550844"/>
            <a:ext cx="146466" cy="146466"/>
            <a:chOff x="0" y="0"/>
            <a:chExt cx="195288" cy="195288"/>
          </a:xfrm>
        </p:grpSpPr>
        <p:sp>
          <p:nvSpPr>
            <p:cNvPr name="Freeform 22" id="22"/>
            <p:cNvSpPr/>
            <p:nvPr/>
          </p:nvSpPr>
          <p:spPr>
            <a:xfrm flipH="false" flipV="false" rot="0">
              <a:off x="0" y="0"/>
              <a:ext cx="195326" cy="195326"/>
            </a:xfrm>
            <a:custGeom>
              <a:avLst/>
              <a:gdLst/>
              <a:ahLst/>
              <a:cxnLst/>
              <a:rect r="r" b="b" t="t" l="l"/>
              <a:pathLst>
                <a:path h="195326" w="195326">
                  <a:moveTo>
                    <a:pt x="0" y="0"/>
                  </a:moveTo>
                  <a:lnTo>
                    <a:pt x="195326" y="0"/>
                  </a:lnTo>
                  <a:lnTo>
                    <a:pt x="195326" y="195326"/>
                  </a:lnTo>
                  <a:lnTo>
                    <a:pt x="0" y="195326"/>
                  </a:lnTo>
                  <a:lnTo>
                    <a:pt x="0" y="0"/>
                  </a:lnTo>
                  <a:close/>
                </a:path>
              </a:pathLst>
            </a:custGeom>
            <a:blipFill>
              <a:blip r:embed="rId17"/>
              <a:stretch>
                <a:fillRect l="0" t="0" r="19" b="19"/>
              </a:stretch>
            </a:blipFill>
          </p:spPr>
        </p:sp>
      </p:grpSp>
      <p:sp>
        <p:nvSpPr>
          <p:cNvPr name="TextBox 23" id="23"/>
          <p:cNvSpPr txBox="true"/>
          <p:nvPr/>
        </p:nvSpPr>
        <p:spPr>
          <a:xfrm rot="0">
            <a:off x="10370694" y="7793791"/>
            <a:ext cx="2486541" cy="488977"/>
          </a:xfrm>
          <a:prstGeom prst="rect">
            <a:avLst/>
          </a:prstGeom>
        </p:spPr>
        <p:txBody>
          <a:bodyPr anchor="t" rtlCol="false" tIns="0" lIns="0" bIns="0" rIns="0">
            <a:spAutoFit/>
          </a:bodyPr>
          <a:lstStyle/>
          <a:p>
            <a:pPr algn="l">
              <a:lnSpc>
                <a:spcPts val="2014"/>
              </a:lnSpc>
            </a:pPr>
            <a:r>
              <a:rPr lang="en-US" sz="1200">
                <a:solidFill>
                  <a:srgbClr val="292929"/>
                </a:solidFill>
                <a:latin typeface="Inter"/>
                <a:ea typeface="Inter"/>
                <a:cs typeface="Inter"/>
                <a:sym typeface="Inter"/>
              </a:rPr>
              <a:t>P</a:t>
            </a:r>
            <a:r>
              <a:rPr lang="en-US" sz="1200">
                <a:solidFill>
                  <a:srgbClr val="292929"/>
                </a:solidFill>
                <a:latin typeface="Inter"/>
                <a:ea typeface="Inter"/>
                <a:cs typeface="Inter"/>
                <a:sym typeface="Inter"/>
              </a:rPr>
              <a:t>rovide reliable ICT infrastructure support</a:t>
            </a:r>
          </a:p>
        </p:txBody>
      </p:sp>
      <p:sp>
        <p:nvSpPr>
          <p:cNvPr name="TextBox 24" id="24"/>
          <p:cNvSpPr txBox="true"/>
          <p:nvPr/>
        </p:nvSpPr>
        <p:spPr>
          <a:xfrm rot="0">
            <a:off x="10434978" y="6583678"/>
            <a:ext cx="2241300" cy="1107611"/>
          </a:xfrm>
          <a:prstGeom prst="rect">
            <a:avLst/>
          </a:prstGeom>
        </p:spPr>
        <p:txBody>
          <a:bodyPr anchor="t" rtlCol="false" tIns="0" lIns="0" bIns="0" rIns="0">
            <a:spAutoFit/>
          </a:bodyPr>
          <a:lstStyle/>
          <a:p>
            <a:pPr algn="l">
              <a:lnSpc>
                <a:spcPts val="2948"/>
              </a:lnSpc>
            </a:pPr>
            <a:r>
              <a:rPr lang="en-US" b="true" sz="2100">
                <a:solidFill>
                  <a:srgbClr val="292929"/>
                </a:solidFill>
                <a:latin typeface="Inter Bold"/>
                <a:ea typeface="Inter Bold"/>
                <a:cs typeface="Inter Bold"/>
                <a:sym typeface="Inter Bold"/>
              </a:rPr>
              <a:t>Reliable </a:t>
            </a:r>
            <a:r>
              <a:rPr lang="en-US" b="true" sz="2100">
                <a:solidFill>
                  <a:srgbClr val="292929"/>
                </a:solidFill>
                <a:latin typeface="Inter Bold"/>
                <a:ea typeface="Inter Bold"/>
                <a:cs typeface="Inter Bold"/>
                <a:sym typeface="Inter Bold"/>
              </a:rPr>
              <a:t>ICT Support You Can Trust</a:t>
            </a:r>
          </a:p>
        </p:txBody>
      </p:sp>
      <p:sp>
        <p:nvSpPr>
          <p:cNvPr name="Freeform 25" id="25"/>
          <p:cNvSpPr/>
          <p:nvPr/>
        </p:nvSpPr>
        <p:spPr>
          <a:xfrm flipH="false" flipV="false" rot="0">
            <a:off x="13651871" y="6102246"/>
            <a:ext cx="3180461" cy="2976640"/>
          </a:xfrm>
          <a:custGeom>
            <a:avLst/>
            <a:gdLst/>
            <a:ahLst/>
            <a:cxnLst/>
            <a:rect r="r" b="b" t="t" l="l"/>
            <a:pathLst>
              <a:path h="2976640" w="3180461">
                <a:moveTo>
                  <a:pt x="0" y="0"/>
                </a:moveTo>
                <a:lnTo>
                  <a:pt x="3180461" y="0"/>
                </a:lnTo>
                <a:lnTo>
                  <a:pt x="3180461" y="2976640"/>
                </a:lnTo>
                <a:lnTo>
                  <a:pt x="0" y="297664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6" id="26"/>
          <p:cNvSpPr/>
          <p:nvPr/>
        </p:nvSpPr>
        <p:spPr>
          <a:xfrm flipH="false" flipV="false" rot="0">
            <a:off x="16205390" y="8451944"/>
            <a:ext cx="344265" cy="344265"/>
          </a:xfrm>
          <a:custGeom>
            <a:avLst/>
            <a:gdLst/>
            <a:ahLst/>
            <a:cxnLst/>
            <a:rect r="r" b="b" t="t" l="l"/>
            <a:pathLst>
              <a:path h="344265" w="344265">
                <a:moveTo>
                  <a:pt x="0" y="0"/>
                </a:moveTo>
                <a:lnTo>
                  <a:pt x="344265" y="0"/>
                </a:lnTo>
                <a:lnTo>
                  <a:pt x="344265" y="344265"/>
                </a:lnTo>
                <a:lnTo>
                  <a:pt x="0" y="34426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27" id="27"/>
          <p:cNvGrpSpPr/>
          <p:nvPr/>
        </p:nvGrpSpPr>
        <p:grpSpPr>
          <a:xfrm rot="0">
            <a:off x="16304290" y="8550844"/>
            <a:ext cx="146466" cy="146466"/>
            <a:chOff x="0" y="0"/>
            <a:chExt cx="195288" cy="195288"/>
          </a:xfrm>
        </p:grpSpPr>
        <p:sp>
          <p:nvSpPr>
            <p:cNvPr name="Freeform 28" id="28"/>
            <p:cNvSpPr/>
            <p:nvPr/>
          </p:nvSpPr>
          <p:spPr>
            <a:xfrm flipH="false" flipV="false" rot="0">
              <a:off x="0" y="0"/>
              <a:ext cx="195326" cy="195326"/>
            </a:xfrm>
            <a:custGeom>
              <a:avLst/>
              <a:gdLst/>
              <a:ahLst/>
              <a:cxnLst/>
              <a:rect r="r" b="b" t="t" l="l"/>
              <a:pathLst>
                <a:path h="195326" w="195326">
                  <a:moveTo>
                    <a:pt x="0" y="0"/>
                  </a:moveTo>
                  <a:lnTo>
                    <a:pt x="195326" y="0"/>
                  </a:lnTo>
                  <a:lnTo>
                    <a:pt x="195326" y="195326"/>
                  </a:lnTo>
                  <a:lnTo>
                    <a:pt x="0" y="195326"/>
                  </a:lnTo>
                  <a:lnTo>
                    <a:pt x="0" y="0"/>
                  </a:lnTo>
                  <a:close/>
                </a:path>
              </a:pathLst>
            </a:custGeom>
            <a:blipFill>
              <a:blip r:embed="rId17"/>
              <a:stretch>
                <a:fillRect l="0" t="0" r="19" b="19"/>
              </a:stretch>
            </a:blipFill>
          </p:spPr>
        </p:sp>
      </p:grpSp>
      <p:sp>
        <p:nvSpPr>
          <p:cNvPr name="TextBox 29" id="29"/>
          <p:cNvSpPr txBox="true"/>
          <p:nvPr/>
        </p:nvSpPr>
        <p:spPr>
          <a:xfrm rot="0">
            <a:off x="14063114" y="7735042"/>
            <a:ext cx="2486541" cy="488977"/>
          </a:xfrm>
          <a:prstGeom prst="rect">
            <a:avLst/>
          </a:prstGeom>
        </p:spPr>
        <p:txBody>
          <a:bodyPr anchor="t" rtlCol="false" tIns="0" lIns="0" bIns="0" rIns="0">
            <a:spAutoFit/>
          </a:bodyPr>
          <a:lstStyle/>
          <a:p>
            <a:pPr algn="l">
              <a:lnSpc>
                <a:spcPts val="2014"/>
              </a:lnSpc>
            </a:pPr>
            <a:r>
              <a:rPr lang="en-US" sz="1200">
                <a:solidFill>
                  <a:srgbClr val="292929"/>
                </a:solidFill>
                <a:latin typeface="Inter"/>
                <a:ea typeface="Inter"/>
                <a:cs typeface="Inter"/>
                <a:sym typeface="Inter"/>
              </a:rPr>
              <a:t>D</a:t>
            </a:r>
            <a:r>
              <a:rPr lang="en-US" sz="1200">
                <a:solidFill>
                  <a:srgbClr val="292929"/>
                </a:solidFill>
                <a:latin typeface="Inter"/>
                <a:ea typeface="Inter"/>
                <a:cs typeface="Inter"/>
                <a:sym typeface="Inter"/>
              </a:rPr>
              <a:t>eliver innovative branding and digital tools</a:t>
            </a:r>
          </a:p>
        </p:txBody>
      </p:sp>
      <p:sp>
        <p:nvSpPr>
          <p:cNvPr name="TextBox 30" id="30"/>
          <p:cNvSpPr txBox="true"/>
          <p:nvPr/>
        </p:nvSpPr>
        <p:spPr>
          <a:xfrm rot="0">
            <a:off x="14063114" y="6583678"/>
            <a:ext cx="2240700" cy="1107611"/>
          </a:xfrm>
          <a:prstGeom prst="rect">
            <a:avLst/>
          </a:prstGeom>
        </p:spPr>
        <p:txBody>
          <a:bodyPr anchor="t" rtlCol="false" tIns="0" lIns="0" bIns="0" rIns="0">
            <a:spAutoFit/>
          </a:bodyPr>
          <a:lstStyle/>
          <a:p>
            <a:pPr algn="l">
              <a:lnSpc>
                <a:spcPts val="2948"/>
              </a:lnSpc>
            </a:pPr>
            <a:r>
              <a:rPr lang="en-US" b="true" sz="2100">
                <a:solidFill>
                  <a:srgbClr val="292929"/>
                </a:solidFill>
                <a:latin typeface="Inter Bold"/>
                <a:ea typeface="Inter Bold"/>
                <a:cs typeface="Inter Bold"/>
                <a:sym typeface="Inter Bold"/>
              </a:rPr>
              <a:t>Innova</a:t>
            </a:r>
            <a:r>
              <a:rPr lang="en-US" b="true" sz="2100">
                <a:solidFill>
                  <a:srgbClr val="292929"/>
                </a:solidFill>
                <a:latin typeface="Inter Bold"/>
                <a:ea typeface="Inter Bold"/>
                <a:cs typeface="Inter Bold"/>
                <a:sym typeface="Inter Bold"/>
              </a:rPr>
              <a:t>tive Branding &amp; Digital Solutions</a:t>
            </a:r>
          </a:p>
        </p:txBody>
      </p:sp>
      <p:sp>
        <p:nvSpPr>
          <p:cNvPr name="TextBox 31" id="31"/>
          <p:cNvSpPr txBox="true"/>
          <p:nvPr/>
        </p:nvSpPr>
        <p:spPr>
          <a:xfrm rot="0">
            <a:off x="6535299" y="4864300"/>
            <a:ext cx="4065519" cy="548300"/>
          </a:xfrm>
          <a:prstGeom prst="rect">
            <a:avLst/>
          </a:prstGeom>
        </p:spPr>
        <p:txBody>
          <a:bodyPr anchor="t" rtlCol="false" tIns="0" lIns="0" bIns="0" rIns="0">
            <a:spAutoFit/>
          </a:bodyPr>
          <a:lstStyle/>
          <a:p>
            <a:pPr algn="ctr">
              <a:lnSpc>
                <a:spcPts val="4666"/>
              </a:lnSpc>
            </a:pPr>
            <a:r>
              <a:rPr lang="en-US" b="true" sz="2777">
                <a:solidFill>
                  <a:srgbClr val="FFFFFF"/>
                </a:solidFill>
                <a:latin typeface="Inter Bold"/>
                <a:ea typeface="Inter Bold"/>
                <a:cs typeface="Inter Bold"/>
                <a:sym typeface="Inter Bold"/>
              </a:rPr>
              <a:t>C</a:t>
            </a:r>
            <a:r>
              <a:rPr lang="en-US" b="true" sz="2777">
                <a:solidFill>
                  <a:srgbClr val="FFFFFF"/>
                </a:solidFill>
                <a:latin typeface="Inter Bold"/>
                <a:ea typeface="Inter Bold"/>
                <a:cs typeface="Inter Bold"/>
                <a:sym typeface="Inter Bold"/>
              </a:rPr>
              <a:t>ORE COMMITMENTS</a:t>
            </a:r>
          </a:p>
        </p:txBody>
      </p:sp>
      <p:sp>
        <p:nvSpPr>
          <p:cNvPr name="TextBox 32" id="32"/>
          <p:cNvSpPr txBox="true"/>
          <p:nvPr/>
        </p:nvSpPr>
        <p:spPr>
          <a:xfrm rot="0">
            <a:off x="677607" y="9518121"/>
            <a:ext cx="419288" cy="274320"/>
          </a:xfrm>
          <a:prstGeom prst="rect">
            <a:avLst/>
          </a:prstGeom>
        </p:spPr>
        <p:txBody>
          <a:bodyPr anchor="t" rtlCol="false" tIns="0" lIns="0" bIns="0" rIns="0">
            <a:spAutoFit/>
          </a:bodyPr>
          <a:lstStyle/>
          <a:p>
            <a:pPr algn="just">
              <a:lnSpc>
                <a:spcPts val="2014"/>
              </a:lnSpc>
            </a:pPr>
            <a:r>
              <a:rPr lang="en-US" sz="1200">
                <a:solidFill>
                  <a:srgbClr val="FFFFFF"/>
                </a:solidFill>
                <a:latin typeface="Inter Light"/>
                <a:ea typeface="Inter Light"/>
                <a:cs typeface="Inter Light"/>
                <a:sym typeface="Inter Light"/>
              </a:rPr>
              <a:t>04</a:t>
            </a:r>
          </a:p>
        </p:txBody>
      </p:sp>
      <p:sp>
        <p:nvSpPr>
          <p:cNvPr name="TextBox 33" id="33"/>
          <p:cNvSpPr txBox="true"/>
          <p:nvPr/>
        </p:nvSpPr>
        <p:spPr>
          <a:xfrm rot="0">
            <a:off x="1228783" y="590519"/>
            <a:ext cx="2430410"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Freeform 34" id="34"/>
          <p:cNvSpPr/>
          <p:nvPr/>
        </p:nvSpPr>
        <p:spPr>
          <a:xfrm flipH="false" flipV="false" rot="0">
            <a:off x="2767462" y="6102246"/>
            <a:ext cx="3180461" cy="2976640"/>
          </a:xfrm>
          <a:custGeom>
            <a:avLst/>
            <a:gdLst/>
            <a:ahLst/>
            <a:cxnLst/>
            <a:rect r="r" b="b" t="t" l="l"/>
            <a:pathLst>
              <a:path h="2976640" w="3180461">
                <a:moveTo>
                  <a:pt x="0" y="0"/>
                </a:moveTo>
                <a:lnTo>
                  <a:pt x="3180461" y="0"/>
                </a:lnTo>
                <a:lnTo>
                  <a:pt x="3180461" y="2976640"/>
                </a:lnTo>
                <a:lnTo>
                  <a:pt x="0" y="297664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5" id="35"/>
          <p:cNvSpPr txBox="true"/>
          <p:nvPr/>
        </p:nvSpPr>
        <p:spPr>
          <a:xfrm rot="0">
            <a:off x="3178705" y="7735042"/>
            <a:ext cx="2492994" cy="488977"/>
          </a:xfrm>
          <a:prstGeom prst="rect">
            <a:avLst/>
          </a:prstGeom>
        </p:spPr>
        <p:txBody>
          <a:bodyPr anchor="t" rtlCol="false" tIns="0" lIns="0" bIns="0" rIns="0">
            <a:spAutoFit/>
          </a:bodyPr>
          <a:lstStyle/>
          <a:p>
            <a:pPr algn="l">
              <a:lnSpc>
                <a:spcPts val="2014"/>
              </a:lnSpc>
            </a:pPr>
            <a:r>
              <a:rPr lang="en-US" sz="1200">
                <a:solidFill>
                  <a:srgbClr val="292929"/>
                </a:solidFill>
                <a:latin typeface="Inter"/>
                <a:ea typeface="Inter"/>
                <a:cs typeface="Inter"/>
                <a:sym typeface="Inter"/>
              </a:rPr>
              <a:t>Build functional and visually compelling websites</a:t>
            </a:r>
          </a:p>
        </p:txBody>
      </p:sp>
      <p:sp>
        <p:nvSpPr>
          <p:cNvPr name="TextBox 36" id="36"/>
          <p:cNvSpPr txBox="true"/>
          <p:nvPr/>
        </p:nvSpPr>
        <p:spPr>
          <a:xfrm rot="0">
            <a:off x="3178705" y="6583678"/>
            <a:ext cx="2387700" cy="1107611"/>
          </a:xfrm>
          <a:prstGeom prst="rect">
            <a:avLst/>
          </a:prstGeom>
        </p:spPr>
        <p:txBody>
          <a:bodyPr anchor="t" rtlCol="false" tIns="0" lIns="0" bIns="0" rIns="0">
            <a:spAutoFit/>
          </a:bodyPr>
          <a:lstStyle/>
          <a:p>
            <a:pPr algn="l">
              <a:lnSpc>
                <a:spcPts val="2948"/>
              </a:lnSpc>
            </a:pPr>
            <a:r>
              <a:rPr lang="en-US" b="true" sz="2100">
                <a:solidFill>
                  <a:srgbClr val="292929"/>
                </a:solidFill>
                <a:latin typeface="Inter Bold"/>
                <a:ea typeface="Inter Bold"/>
                <a:cs typeface="Inter Bold"/>
                <a:sym typeface="Inter Bold"/>
              </a:rPr>
              <a:t>Craft Stunning, Functional Websites</a:t>
            </a:r>
          </a:p>
        </p:txBody>
      </p:sp>
      <p:sp>
        <p:nvSpPr>
          <p:cNvPr name="Freeform 37" id="37"/>
          <p:cNvSpPr/>
          <p:nvPr/>
        </p:nvSpPr>
        <p:spPr>
          <a:xfrm flipH="false" flipV="false" rot="0">
            <a:off x="5222658" y="8451944"/>
            <a:ext cx="344265" cy="344265"/>
          </a:xfrm>
          <a:custGeom>
            <a:avLst/>
            <a:gdLst/>
            <a:ahLst/>
            <a:cxnLst/>
            <a:rect r="r" b="b" t="t" l="l"/>
            <a:pathLst>
              <a:path h="344265" w="344265">
                <a:moveTo>
                  <a:pt x="0" y="0"/>
                </a:moveTo>
                <a:lnTo>
                  <a:pt x="344265" y="0"/>
                </a:lnTo>
                <a:lnTo>
                  <a:pt x="344265" y="344265"/>
                </a:lnTo>
                <a:lnTo>
                  <a:pt x="0" y="34426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8" id="38"/>
          <p:cNvGrpSpPr/>
          <p:nvPr/>
        </p:nvGrpSpPr>
        <p:grpSpPr>
          <a:xfrm rot="0">
            <a:off x="5315682" y="8550844"/>
            <a:ext cx="146466" cy="146466"/>
            <a:chOff x="0" y="0"/>
            <a:chExt cx="195288" cy="195288"/>
          </a:xfrm>
        </p:grpSpPr>
        <p:sp>
          <p:nvSpPr>
            <p:cNvPr name="Freeform 39" id="39"/>
            <p:cNvSpPr/>
            <p:nvPr/>
          </p:nvSpPr>
          <p:spPr>
            <a:xfrm flipH="false" flipV="false" rot="0">
              <a:off x="0" y="0"/>
              <a:ext cx="195326" cy="195326"/>
            </a:xfrm>
            <a:custGeom>
              <a:avLst/>
              <a:gdLst/>
              <a:ahLst/>
              <a:cxnLst/>
              <a:rect r="r" b="b" t="t" l="l"/>
              <a:pathLst>
                <a:path h="195326" w="195326">
                  <a:moveTo>
                    <a:pt x="0" y="0"/>
                  </a:moveTo>
                  <a:lnTo>
                    <a:pt x="195326" y="0"/>
                  </a:lnTo>
                  <a:lnTo>
                    <a:pt x="195326" y="195326"/>
                  </a:lnTo>
                  <a:lnTo>
                    <a:pt x="0" y="195326"/>
                  </a:lnTo>
                  <a:lnTo>
                    <a:pt x="0" y="0"/>
                  </a:lnTo>
                  <a:close/>
                </a:path>
              </a:pathLst>
            </a:custGeom>
            <a:blipFill>
              <a:blip r:embed="rId17"/>
              <a:stretch>
                <a:fillRect l="0" t="0" r="19" b="19"/>
              </a:stretch>
            </a:blipFill>
          </p:spPr>
        </p:sp>
      </p:grpSp>
      <p:sp>
        <p:nvSpPr>
          <p:cNvPr name="Freeform 40" id="40"/>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22"/>
            <a:stretch>
              <a:fillRect l="0" t="0" r="0" b="0"/>
            </a:stretch>
          </a:blipFill>
        </p:spPr>
      </p:sp>
      <p:sp>
        <p:nvSpPr>
          <p:cNvPr name="TextBox 41" id="41"/>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grpSp>
        <p:nvGrpSpPr>
          <p:cNvPr name="Group 3" id="3"/>
          <p:cNvGrpSpPr/>
          <p:nvPr/>
        </p:nvGrpSpPr>
        <p:grpSpPr>
          <a:xfrm rot="0">
            <a:off x="5303202" y="2034745"/>
            <a:ext cx="4060812" cy="4068220"/>
            <a:chOff x="0" y="0"/>
            <a:chExt cx="5414416" cy="5424293"/>
          </a:xfrm>
        </p:grpSpPr>
        <p:sp>
          <p:nvSpPr>
            <p:cNvPr name="Freeform 4" id="4"/>
            <p:cNvSpPr/>
            <p:nvPr/>
          </p:nvSpPr>
          <p:spPr>
            <a:xfrm flipH="false" flipV="false" rot="0">
              <a:off x="0" y="0"/>
              <a:ext cx="5414391" cy="5424297"/>
            </a:xfrm>
            <a:custGeom>
              <a:avLst/>
              <a:gdLst/>
              <a:ahLst/>
              <a:cxnLst/>
              <a:rect r="r" b="b" t="t" l="l"/>
              <a:pathLst>
                <a:path h="5424297" w="5414391">
                  <a:moveTo>
                    <a:pt x="510159" y="0"/>
                  </a:moveTo>
                  <a:lnTo>
                    <a:pt x="4904232" y="0"/>
                  </a:lnTo>
                  <a:cubicBezTo>
                    <a:pt x="5185918" y="0"/>
                    <a:pt x="5414391" y="228346"/>
                    <a:pt x="5414391" y="510159"/>
                  </a:cubicBezTo>
                  <a:lnTo>
                    <a:pt x="5414391" y="4914138"/>
                  </a:lnTo>
                  <a:cubicBezTo>
                    <a:pt x="5414391" y="5195824"/>
                    <a:pt x="5186045" y="5424297"/>
                    <a:pt x="4904232" y="5424297"/>
                  </a:cubicBezTo>
                  <a:lnTo>
                    <a:pt x="510159" y="5424297"/>
                  </a:lnTo>
                  <a:cubicBezTo>
                    <a:pt x="228346" y="5424297"/>
                    <a:pt x="0" y="5195824"/>
                    <a:pt x="0" y="4914138"/>
                  </a:cubicBezTo>
                  <a:lnTo>
                    <a:pt x="0" y="510159"/>
                  </a:lnTo>
                  <a:cubicBezTo>
                    <a:pt x="0" y="228346"/>
                    <a:pt x="228346" y="0"/>
                    <a:pt x="510159" y="0"/>
                  </a:cubicBezTo>
                  <a:close/>
                </a:path>
              </a:pathLst>
            </a:custGeom>
            <a:blipFill>
              <a:blip r:embed="rId3"/>
              <a:stretch>
                <a:fillRect l="-91" t="0" r="-91" b="0"/>
              </a:stretch>
            </a:blipFill>
          </p:spPr>
        </p:sp>
      </p:grpSp>
      <p:sp>
        <p:nvSpPr>
          <p:cNvPr name="Freeform 5" id="5"/>
          <p:cNvSpPr/>
          <p:nvPr/>
        </p:nvSpPr>
        <p:spPr>
          <a:xfrm flipH="false" flipV="false" rot="0">
            <a:off x="5303202" y="5296759"/>
            <a:ext cx="4060812" cy="3514443"/>
          </a:xfrm>
          <a:custGeom>
            <a:avLst/>
            <a:gdLst/>
            <a:ahLst/>
            <a:cxnLst/>
            <a:rect r="r" b="b" t="t" l="l"/>
            <a:pathLst>
              <a:path h="3514443" w="4060812">
                <a:moveTo>
                  <a:pt x="0" y="0"/>
                </a:moveTo>
                <a:lnTo>
                  <a:pt x="4060812" y="0"/>
                </a:lnTo>
                <a:lnTo>
                  <a:pt x="4060812" y="3514443"/>
                </a:lnTo>
                <a:lnTo>
                  <a:pt x="0" y="3514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77607" y="1367302"/>
            <a:ext cx="4060838" cy="7443948"/>
          </a:xfrm>
          <a:custGeom>
            <a:avLst/>
            <a:gdLst/>
            <a:ahLst/>
            <a:cxnLst/>
            <a:rect r="r" b="b" t="t" l="l"/>
            <a:pathLst>
              <a:path h="7443948" w="4060838">
                <a:moveTo>
                  <a:pt x="0" y="0"/>
                </a:moveTo>
                <a:lnTo>
                  <a:pt x="4060838" y="0"/>
                </a:lnTo>
                <a:lnTo>
                  <a:pt x="4060838" y="7443948"/>
                </a:lnTo>
                <a:lnTo>
                  <a:pt x="0" y="74439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3836306" y="5964202"/>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8" id="8"/>
          <p:cNvGrpSpPr/>
          <p:nvPr/>
        </p:nvGrpSpPr>
        <p:grpSpPr>
          <a:xfrm rot="0">
            <a:off x="3975070" y="6102965"/>
            <a:ext cx="205502" cy="205502"/>
            <a:chOff x="0" y="0"/>
            <a:chExt cx="274003" cy="274003"/>
          </a:xfrm>
        </p:grpSpPr>
        <p:sp>
          <p:nvSpPr>
            <p:cNvPr name="Freeform 9" id="9"/>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10"/>
              <a:stretch>
                <a:fillRect l="0" t="0" r="23" b="23"/>
              </a:stretch>
            </a:blipFill>
          </p:spPr>
        </p:sp>
      </p:grpSp>
      <p:sp>
        <p:nvSpPr>
          <p:cNvPr name="Freeform 10" id="10"/>
          <p:cNvSpPr/>
          <p:nvPr/>
        </p:nvSpPr>
        <p:spPr>
          <a:xfrm flipH="false" flipV="false" rot="0">
            <a:off x="8461901" y="5964202"/>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0">
            <a:off x="8600665" y="6102965"/>
            <a:ext cx="205502" cy="205502"/>
            <a:chOff x="0" y="0"/>
            <a:chExt cx="274003" cy="274003"/>
          </a:xfrm>
        </p:grpSpPr>
        <p:sp>
          <p:nvSpPr>
            <p:cNvPr name="Freeform 12" id="12"/>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10"/>
              <a:stretch>
                <a:fillRect l="0" t="0" r="23" b="23"/>
              </a:stretch>
            </a:blipFill>
          </p:spPr>
        </p:sp>
      </p:grpSp>
      <p:sp>
        <p:nvSpPr>
          <p:cNvPr name="Freeform 13" id="13"/>
          <p:cNvSpPr/>
          <p:nvPr/>
        </p:nvSpPr>
        <p:spPr>
          <a:xfrm flipH="false" flipV="false" rot="0">
            <a:off x="3836306" y="2034745"/>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4" id="14"/>
          <p:cNvGrpSpPr/>
          <p:nvPr/>
        </p:nvGrpSpPr>
        <p:grpSpPr>
          <a:xfrm rot="0">
            <a:off x="3975070" y="2173509"/>
            <a:ext cx="205502" cy="205502"/>
            <a:chOff x="0" y="0"/>
            <a:chExt cx="274003" cy="274003"/>
          </a:xfrm>
        </p:grpSpPr>
        <p:sp>
          <p:nvSpPr>
            <p:cNvPr name="Freeform 15" id="15"/>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10"/>
              <a:stretch>
                <a:fillRect l="0" t="0" r="23" b="23"/>
              </a:stretch>
            </a:blipFill>
          </p:spPr>
        </p:sp>
      </p:grpSp>
      <p:sp>
        <p:nvSpPr>
          <p:cNvPr name="AutoShape 16" id="16"/>
          <p:cNvSpPr/>
          <p:nvPr/>
        </p:nvSpPr>
        <p:spPr>
          <a:xfrm rot="33981">
            <a:off x="959803" y="5238750"/>
            <a:ext cx="2890861" cy="0"/>
          </a:xfrm>
          <a:prstGeom prst="line">
            <a:avLst/>
          </a:prstGeom>
          <a:ln cap="rnd" w="19050">
            <a:solidFill>
              <a:srgbClr val="292929"/>
            </a:solidFill>
            <a:prstDash val="solid"/>
            <a:headEnd type="none" len="sm" w="sm"/>
            <a:tailEnd type="none" len="sm" w="sm"/>
          </a:ln>
        </p:spPr>
      </p:sp>
      <p:sp>
        <p:nvSpPr>
          <p:cNvPr name="Freeform 17" id="17"/>
          <p:cNvSpPr/>
          <p:nvPr/>
        </p:nvSpPr>
        <p:spPr>
          <a:xfrm flipH="false" flipV="false" rot="0">
            <a:off x="11519238" y="7108109"/>
            <a:ext cx="5003721" cy="859443"/>
          </a:xfrm>
          <a:custGeom>
            <a:avLst/>
            <a:gdLst/>
            <a:ahLst/>
            <a:cxnLst/>
            <a:rect r="r" b="b" t="t" l="l"/>
            <a:pathLst>
              <a:path h="859443" w="5003721">
                <a:moveTo>
                  <a:pt x="0" y="0"/>
                </a:moveTo>
                <a:lnTo>
                  <a:pt x="5003721" y="0"/>
                </a:lnTo>
                <a:lnTo>
                  <a:pt x="5003721" y="859443"/>
                </a:lnTo>
                <a:lnTo>
                  <a:pt x="0" y="85944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8" id="18"/>
          <p:cNvGrpSpPr/>
          <p:nvPr/>
        </p:nvGrpSpPr>
        <p:grpSpPr>
          <a:xfrm rot="0">
            <a:off x="10345089" y="7217041"/>
            <a:ext cx="750511" cy="750511"/>
            <a:chOff x="0" y="0"/>
            <a:chExt cx="1000681" cy="1000681"/>
          </a:xfrm>
        </p:grpSpPr>
        <p:sp>
          <p:nvSpPr>
            <p:cNvPr name="Freeform 19" id="19"/>
            <p:cNvSpPr/>
            <p:nvPr/>
          </p:nvSpPr>
          <p:spPr>
            <a:xfrm flipH="false" flipV="false" rot="0">
              <a:off x="0" y="0"/>
              <a:ext cx="1000633" cy="1000633"/>
            </a:xfrm>
            <a:custGeom>
              <a:avLst/>
              <a:gdLst/>
              <a:ahLst/>
              <a:cxnLst/>
              <a:rect r="r" b="b" t="t" l="l"/>
              <a:pathLst>
                <a:path h="1000633" w="1000633">
                  <a:moveTo>
                    <a:pt x="0" y="0"/>
                  </a:moveTo>
                  <a:lnTo>
                    <a:pt x="1000633" y="0"/>
                  </a:lnTo>
                  <a:lnTo>
                    <a:pt x="1000633" y="1000633"/>
                  </a:lnTo>
                  <a:lnTo>
                    <a:pt x="0" y="1000633"/>
                  </a:lnTo>
                  <a:lnTo>
                    <a:pt x="0" y="0"/>
                  </a:lnTo>
                  <a:close/>
                </a:path>
              </a:pathLst>
            </a:custGeom>
            <a:blipFill>
              <a:blip r:embed="rId13"/>
              <a:stretch>
                <a:fillRect l="0" t="0" r="-4" b="-4"/>
              </a:stretch>
            </a:blipFill>
          </p:spPr>
        </p:sp>
      </p:grpSp>
      <p:grpSp>
        <p:nvGrpSpPr>
          <p:cNvPr name="Group 20" id="20"/>
          <p:cNvGrpSpPr/>
          <p:nvPr/>
        </p:nvGrpSpPr>
        <p:grpSpPr>
          <a:xfrm rot="0">
            <a:off x="10559885" y="7455319"/>
            <a:ext cx="320919" cy="320919"/>
            <a:chOff x="0" y="0"/>
            <a:chExt cx="427892" cy="427892"/>
          </a:xfrm>
        </p:grpSpPr>
        <p:sp>
          <p:nvSpPr>
            <p:cNvPr name="Freeform 21" id="21"/>
            <p:cNvSpPr/>
            <p:nvPr/>
          </p:nvSpPr>
          <p:spPr>
            <a:xfrm flipH="false" flipV="false" rot="0">
              <a:off x="0" y="0"/>
              <a:ext cx="427863" cy="427863"/>
            </a:xfrm>
            <a:custGeom>
              <a:avLst/>
              <a:gdLst/>
              <a:ahLst/>
              <a:cxnLst/>
              <a:rect r="r" b="b" t="t" l="l"/>
              <a:pathLst>
                <a:path h="427863" w="427863">
                  <a:moveTo>
                    <a:pt x="0" y="0"/>
                  </a:moveTo>
                  <a:lnTo>
                    <a:pt x="427863" y="0"/>
                  </a:lnTo>
                  <a:lnTo>
                    <a:pt x="427863" y="427863"/>
                  </a:lnTo>
                  <a:lnTo>
                    <a:pt x="0" y="427863"/>
                  </a:lnTo>
                  <a:lnTo>
                    <a:pt x="0" y="0"/>
                  </a:lnTo>
                  <a:close/>
                </a:path>
              </a:pathLst>
            </a:custGeom>
            <a:blipFill>
              <a:blip r:embed="rId14"/>
              <a:stretch>
                <a:fillRect l="0" t="0" r="-6" b="-6"/>
              </a:stretch>
            </a:blipFill>
          </p:spPr>
        </p:sp>
      </p:grpSp>
      <p:sp>
        <p:nvSpPr>
          <p:cNvPr name="TextBox 22" id="22"/>
          <p:cNvSpPr txBox="true"/>
          <p:nvPr/>
        </p:nvSpPr>
        <p:spPr>
          <a:xfrm rot="0">
            <a:off x="10345089" y="3922532"/>
            <a:ext cx="7274400" cy="2565300"/>
          </a:xfrm>
          <a:prstGeom prst="rect">
            <a:avLst/>
          </a:prstGeom>
        </p:spPr>
        <p:txBody>
          <a:bodyPr anchor="t" rtlCol="false" tIns="0" lIns="0" bIns="0" rIns="0">
            <a:spAutoFit/>
          </a:bodyPr>
          <a:lstStyle/>
          <a:p>
            <a:pPr algn="just">
              <a:lnSpc>
                <a:spcPts val="9999"/>
              </a:lnSpc>
            </a:pPr>
            <a:r>
              <a:rPr lang="en-US" b="true" sz="8332">
                <a:solidFill>
                  <a:srgbClr val="FFFFFF"/>
                </a:solidFill>
                <a:latin typeface="Inter Bold"/>
                <a:ea typeface="Inter Bold"/>
                <a:cs typeface="Inter Bold"/>
                <a:sym typeface="Inter Bold"/>
              </a:rPr>
              <a:t>MAJOR</a:t>
            </a:r>
          </a:p>
          <a:p>
            <a:pPr algn="just">
              <a:lnSpc>
                <a:spcPts val="9999"/>
              </a:lnSpc>
            </a:pPr>
            <a:r>
              <a:rPr lang="en-US" b="true" sz="8332">
                <a:solidFill>
                  <a:srgbClr val="FFFFFF"/>
                </a:solidFill>
                <a:latin typeface="Inter Bold"/>
                <a:ea typeface="Inter Bold"/>
                <a:cs typeface="Inter Bold"/>
                <a:sym typeface="Inter Bold"/>
              </a:rPr>
              <a:t>FACTOR</a:t>
            </a:r>
          </a:p>
        </p:txBody>
      </p:sp>
      <p:sp>
        <p:nvSpPr>
          <p:cNvPr name="TextBox 23" id="23"/>
          <p:cNvSpPr txBox="true"/>
          <p:nvPr/>
        </p:nvSpPr>
        <p:spPr>
          <a:xfrm rot="0">
            <a:off x="974161" y="7282773"/>
            <a:ext cx="3348000" cy="867156"/>
          </a:xfrm>
          <a:prstGeom prst="rect">
            <a:avLst/>
          </a:prstGeom>
        </p:spPr>
        <p:txBody>
          <a:bodyPr anchor="t" rtlCol="false" tIns="0" lIns="0" bIns="0" rIns="0">
            <a:spAutoFit/>
          </a:bodyPr>
          <a:lstStyle/>
          <a:p>
            <a:pPr algn="l">
              <a:lnSpc>
                <a:spcPts val="2351"/>
              </a:lnSpc>
            </a:pPr>
            <a:r>
              <a:rPr lang="en-US" sz="1399">
                <a:solidFill>
                  <a:srgbClr val="292929"/>
                </a:solidFill>
                <a:latin typeface="Inter"/>
                <a:ea typeface="Inter"/>
                <a:cs typeface="Inter"/>
                <a:sym typeface="Inter"/>
              </a:rPr>
              <a:t>D</a:t>
            </a:r>
            <a:r>
              <a:rPr lang="en-US" sz="1399">
                <a:solidFill>
                  <a:srgbClr val="292929"/>
                </a:solidFill>
                <a:latin typeface="Inter"/>
                <a:ea typeface="Inter"/>
                <a:cs typeface="Inter"/>
                <a:sym typeface="Inter"/>
              </a:rPr>
              <a:t>elivering end-to-end ICT solutions that empower both businesses and individuals to succeed efficiently.</a:t>
            </a:r>
          </a:p>
        </p:txBody>
      </p:sp>
      <p:sp>
        <p:nvSpPr>
          <p:cNvPr name="TextBox 24" id="24"/>
          <p:cNvSpPr txBox="true"/>
          <p:nvPr/>
        </p:nvSpPr>
        <p:spPr>
          <a:xfrm rot="0">
            <a:off x="5599756" y="7311066"/>
            <a:ext cx="3544200" cy="867156"/>
          </a:xfrm>
          <a:prstGeom prst="rect">
            <a:avLst/>
          </a:prstGeom>
        </p:spPr>
        <p:txBody>
          <a:bodyPr anchor="t" rtlCol="false" tIns="0" lIns="0" bIns="0" rIns="0">
            <a:spAutoFit/>
          </a:bodyPr>
          <a:lstStyle/>
          <a:p>
            <a:pPr algn="l">
              <a:lnSpc>
                <a:spcPts val="2351"/>
              </a:lnSpc>
            </a:pPr>
            <a:r>
              <a:rPr lang="en-US" sz="1399">
                <a:solidFill>
                  <a:srgbClr val="292929"/>
                </a:solidFill>
                <a:latin typeface="Inter"/>
                <a:ea typeface="Inter"/>
                <a:cs typeface="Inter"/>
                <a:sym typeface="Inter"/>
              </a:rPr>
              <a:t>C</a:t>
            </a:r>
            <a:r>
              <a:rPr lang="en-US" sz="1399">
                <a:solidFill>
                  <a:srgbClr val="292929"/>
                </a:solidFill>
                <a:latin typeface="Inter"/>
                <a:ea typeface="Inter"/>
                <a:cs typeface="Inter"/>
                <a:sym typeface="Inter"/>
              </a:rPr>
              <a:t>reating technology that prioritizes accessibility, security, and social responsibility for lasting positive impact.</a:t>
            </a:r>
          </a:p>
        </p:txBody>
      </p:sp>
      <p:sp>
        <p:nvSpPr>
          <p:cNvPr name="TextBox 25" id="25"/>
          <p:cNvSpPr txBox="true"/>
          <p:nvPr/>
        </p:nvSpPr>
        <p:spPr>
          <a:xfrm rot="0">
            <a:off x="974161" y="6011025"/>
            <a:ext cx="2741400" cy="736171"/>
          </a:xfrm>
          <a:prstGeom prst="rect">
            <a:avLst/>
          </a:prstGeom>
        </p:spPr>
        <p:txBody>
          <a:bodyPr anchor="t" rtlCol="false" tIns="0" lIns="0" bIns="0" rIns="0">
            <a:spAutoFit/>
          </a:bodyPr>
          <a:lstStyle/>
          <a:p>
            <a:pPr algn="l">
              <a:lnSpc>
                <a:spcPts val="2948"/>
              </a:lnSpc>
            </a:pPr>
            <a:r>
              <a:rPr lang="en-US" b="true" sz="2100">
                <a:solidFill>
                  <a:srgbClr val="292929"/>
                </a:solidFill>
                <a:latin typeface="Inter Bold"/>
                <a:ea typeface="Inter Bold"/>
                <a:cs typeface="Inter Bold"/>
                <a:sym typeface="Inter Bold"/>
              </a:rPr>
              <a:t>Multifunctional Expertise</a:t>
            </a:r>
          </a:p>
        </p:txBody>
      </p:sp>
      <p:sp>
        <p:nvSpPr>
          <p:cNvPr name="TextBox 26" id="26"/>
          <p:cNvSpPr txBox="true"/>
          <p:nvPr/>
        </p:nvSpPr>
        <p:spPr>
          <a:xfrm rot="0">
            <a:off x="5599756" y="6011025"/>
            <a:ext cx="2547300" cy="364696"/>
          </a:xfrm>
          <a:prstGeom prst="rect">
            <a:avLst/>
          </a:prstGeom>
        </p:spPr>
        <p:txBody>
          <a:bodyPr anchor="t" rtlCol="false" tIns="0" lIns="0" bIns="0" rIns="0">
            <a:spAutoFit/>
          </a:bodyPr>
          <a:lstStyle/>
          <a:p>
            <a:pPr algn="l">
              <a:lnSpc>
                <a:spcPts val="2948"/>
              </a:lnSpc>
            </a:pPr>
            <a:r>
              <a:rPr lang="en-US" b="true" sz="2100">
                <a:solidFill>
                  <a:srgbClr val="292929"/>
                </a:solidFill>
                <a:latin typeface="Inter Bold"/>
                <a:ea typeface="Inter Bold"/>
                <a:cs typeface="Inter Bold"/>
                <a:sym typeface="Inter Bold"/>
              </a:rPr>
              <a:t>Eth</a:t>
            </a:r>
            <a:r>
              <a:rPr lang="en-US" b="true" sz="2100">
                <a:solidFill>
                  <a:srgbClr val="292929"/>
                </a:solidFill>
                <a:latin typeface="Inter Bold"/>
                <a:ea typeface="Inter Bold"/>
                <a:cs typeface="Inter Bold"/>
                <a:sym typeface="Inter Bold"/>
              </a:rPr>
              <a:t>ical Innovation</a:t>
            </a:r>
          </a:p>
        </p:txBody>
      </p:sp>
      <p:sp>
        <p:nvSpPr>
          <p:cNvPr name="TextBox 27" id="27"/>
          <p:cNvSpPr txBox="true"/>
          <p:nvPr/>
        </p:nvSpPr>
        <p:spPr>
          <a:xfrm rot="0">
            <a:off x="974161" y="2081569"/>
            <a:ext cx="2741400" cy="364696"/>
          </a:xfrm>
          <a:prstGeom prst="rect">
            <a:avLst/>
          </a:prstGeom>
        </p:spPr>
        <p:txBody>
          <a:bodyPr anchor="t" rtlCol="false" tIns="0" lIns="0" bIns="0" rIns="0">
            <a:spAutoFit/>
          </a:bodyPr>
          <a:lstStyle/>
          <a:p>
            <a:pPr algn="l">
              <a:lnSpc>
                <a:spcPts val="2948"/>
              </a:lnSpc>
            </a:pPr>
            <a:r>
              <a:rPr lang="en-US" b="true" sz="2100">
                <a:solidFill>
                  <a:srgbClr val="292929"/>
                </a:solidFill>
                <a:latin typeface="Inter Bold"/>
                <a:ea typeface="Inter Bold"/>
                <a:cs typeface="Inter Bold"/>
                <a:sym typeface="Inter Bold"/>
              </a:rPr>
              <a:t>Ad</a:t>
            </a:r>
            <a:r>
              <a:rPr lang="en-US" b="true" sz="2100">
                <a:solidFill>
                  <a:srgbClr val="292929"/>
                </a:solidFill>
                <a:latin typeface="Inter Bold"/>
                <a:ea typeface="Inter Bold"/>
                <a:cs typeface="Inter Bold"/>
                <a:sym typeface="Inter Bold"/>
              </a:rPr>
              <a:t>aptability</a:t>
            </a:r>
          </a:p>
        </p:txBody>
      </p:sp>
      <p:sp>
        <p:nvSpPr>
          <p:cNvPr name="TextBox 28" id="28"/>
          <p:cNvSpPr txBox="true"/>
          <p:nvPr/>
        </p:nvSpPr>
        <p:spPr>
          <a:xfrm rot="0">
            <a:off x="11354438" y="7277976"/>
            <a:ext cx="5333320" cy="466957"/>
          </a:xfrm>
          <a:prstGeom prst="rect">
            <a:avLst/>
          </a:prstGeom>
        </p:spPr>
        <p:txBody>
          <a:bodyPr anchor="t" rtlCol="false" tIns="0" lIns="0" bIns="0" rIns="0">
            <a:spAutoFit/>
          </a:bodyPr>
          <a:lstStyle/>
          <a:p>
            <a:pPr algn="ctr">
              <a:lnSpc>
                <a:spcPts val="3932"/>
              </a:lnSpc>
            </a:pPr>
            <a:r>
              <a:rPr lang="en-US" b="true" sz="2340">
                <a:solidFill>
                  <a:srgbClr val="FFFFFF"/>
                </a:solidFill>
                <a:latin typeface="Inter Medium"/>
                <a:ea typeface="Inter Medium"/>
                <a:cs typeface="Inter Medium"/>
                <a:sym typeface="Inter Medium"/>
              </a:rPr>
              <a:t>F</a:t>
            </a:r>
            <a:r>
              <a:rPr lang="en-US" b="true" sz="2340">
                <a:solidFill>
                  <a:srgbClr val="FFFFFF"/>
                </a:solidFill>
                <a:latin typeface="Inter Medium"/>
                <a:ea typeface="Inter Medium"/>
                <a:cs typeface="Inter Medium"/>
                <a:sym typeface="Inter Medium"/>
              </a:rPr>
              <a:t>actors for Success</a:t>
            </a:r>
          </a:p>
        </p:txBody>
      </p:sp>
      <p:sp>
        <p:nvSpPr>
          <p:cNvPr name="Freeform 29" id="29"/>
          <p:cNvSpPr/>
          <p:nvPr/>
        </p:nvSpPr>
        <p:spPr>
          <a:xfrm flipH="false" flipV="false" rot="0">
            <a:off x="11268228" y="9649402"/>
            <a:ext cx="6342165" cy="1497479"/>
          </a:xfrm>
          <a:custGeom>
            <a:avLst/>
            <a:gdLst/>
            <a:ahLst/>
            <a:cxnLst/>
            <a:rect r="r" b="b" t="t" l="l"/>
            <a:pathLst>
              <a:path h="1497479" w="6342165">
                <a:moveTo>
                  <a:pt x="0" y="0"/>
                </a:moveTo>
                <a:lnTo>
                  <a:pt x="6342165" y="0"/>
                </a:lnTo>
                <a:lnTo>
                  <a:pt x="6342165" y="1497479"/>
                </a:lnTo>
                <a:lnTo>
                  <a:pt x="0" y="14974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0" id="30"/>
          <p:cNvSpPr/>
          <p:nvPr/>
        </p:nvSpPr>
        <p:spPr>
          <a:xfrm flipH="false" flipV="false" rot="0">
            <a:off x="8923986" y="9649402"/>
            <a:ext cx="1969142" cy="1497479"/>
          </a:xfrm>
          <a:custGeom>
            <a:avLst/>
            <a:gdLst/>
            <a:ahLst/>
            <a:cxnLst/>
            <a:rect r="r" b="b" t="t" l="l"/>
            <a:pathLst>
              <a:path h="1497479" w="1969142">
                <a:moveTo>
                  <a:pt x="0" y="0"/>
                </a:moveTo>
                <a:lnTo>
                  <a:pt x="1969142" y="0"/>
                </a:lnTo>
                <a:lnTo>
                  <a:pt x="1969142" y="1497479"/>
                </a:lnTo>
                <a:lnTo>
                  <a:pt x="0" y="149747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31" id="31"/>
          <p:cNvGrpSpPr/>
          <p:nvPr/>
        </p:nvGrpSpPr>
        <p:grpSpPr>
          <a:xfrm rot="-10800000">
            <a:off x="15734495" y="2369899"/>
            <a:ext cx="1016537" cy="1016537"/>
            <a:chOff x="0" y="0"/>
            <a:chExt cx="1355383" cy="1355383"/>
          </a:xfrm>
        </p:grpSpPr>
        <p:sp>
          <p:nvSpPr>
            <p:cNvPr name="Freeform 32" id="32"/>
            <p:cNvSpPr/>
            <p:nvPr/>
          </p:nvSpPr>
          <p:spPr>
            <a:xfrm flipH="false" flipV="false" rot="0">
              <a:off x="0" y="0"/>
              <a:ext cx="1355344" cy="1355344"/>
            </a:xfrm>
            <a:custGeom>
              <a:avLst/>
              <a:gdLst/>
              <a:ahLst/>
              <a:cxnLst/>
              <a:rect r="r" b="b" t="t" l="l"/>
              <a:pathLst>
                <a:path h="1355344" w="1355344">
                  <a:moveTo>
                    <a:pt x="0" y="0"/>
                  </a:moveTo>
                  <a:lnTo>
                    <a:pt x="1355344" y="0"/>
                  </a:lnTo>
                  <a:lnTo>
                    <a:pt x="1355344" y="1355344"/>
                  </a:lnTo>
                  <a:lnTo>
                    <a:pt x="0" y="1355344"/>
                  </a:lnTo>
                  <a:lnTo>
                    <a:pt x="0" y="0"/>
                  </a:lnTo>
                  <a:close/>
                </a:path>
              </a:pathLst>
            </a:custGeom>
            <a:blipFill>
              <a:blip r:embed="rId19"/>
              <a:stretch>
                <a:fillRect l="0" t="0" r="-2" b="-2"/>
              </a:stretch>
            </a:blipFill>
          </p:spPr>
        </p:sp>
      </p:grpSp>
      <p:grpSp>
        <p:nvGrpSpPr>
          <p:cNvPr name="Group 33" id="33"/>
          <p:cNvGrpSpPr/>
          <p:nvPr/>
        </p:nvGrpSpPr>
        <p:grpSpPr>
          <a:xfrm rot="-5400000">
            <a:off x="14975879" y="2621407"/>
            <a:ext cx="1010125" cy="507107"/>
            <a:chOff x="0" y="0"/>
            <a:chExt cx="1346833" cy="676143"/>
          </a:xfrm>
        </p:grpSpPr>
        <p:sp>
          <p:nvSpPr>
            <p:cNvPr name="Freeform 34" id="34"/>
            <p:cNvSpPr/>
            <p:nvPr/>
          </p:nvSpPr>
          <p:spPr>
            <a:xfrm flipH="false" flipV="false" rot="0">
              <a:off x="0" y="0"/>
              <a:ext cx="1346835" cy="676148"/>
            </a:xfrm>
            <a:custGeom>
              <a:avLst/>
              <a:gdLst/>
              <a:ahLst/>
              <a:cxnLst/>
              <a:rect r="r" b="b" t="t" l="l"/>
              <a:pathLst>
                <a:path h="676148" w="1346835">
                  <a:moveTo>
                    <a:pt x="1346835" y="676148"/>
                  </a:moveTo>
                  <a:lnTo>
                    <a:pt x="0" y="676148"/>
                  </a:lnTo>
                  <a:lnTo>
                    <a:pt x="0" y="0"/>
                  </a:lnTo>
                  <a:lnTo>
                    <a:pt x="1346835" y="0"/>
                  </a:lnTo>
                  <a:lnTo>
                    <a:pt x="1346835" y="676148"/>
                  </a:lnTo>
                  <a:close/>
                </a:path>
              </a:pathLst>
            </a:custGeom>
            <a:blipFill>
              <a:blip r:embed="rId20"/>
              <a:stretch>
                <a:fillRect l="0" t="-33" r="0" b="-32"/>
              </a:stretch>
            </a:blipFill>
          </p:spPr>
        </p:sp>
      </p:grpSp>
      <p:sp>
        <p:nvSpPr>
          <p:cNvPr name="TextBox 35" id="35"/>
          <p:cNvSpPr txBox="true"/>
          <p:nvPr/>
        </p:nvSpPr>
        <p:spPr>
          <a:xfrm rot="0">
            <a:off x="974161" y="3201699"/>
            <a:ext cx="3597900" cy="867156"/>
          </a:xfrm>
          <a:prstGeom prst="rect">
            <a:avLst/>
          </a:prstGeom>
        </p:spPr>
        <p:txBody>
          <a:bodyPr anchor="t" rtlCol="false" tIns="0" lIns="0" bIns="0" rIns="0">
            <a:spAutoFit/>
          </a:bodyPr>
          <a:lstStyle/>
          <a:p>
            <a:pPr algn="l">
              <a:lnSpc>
                <a:spcPts val="2351"/>
              </a:lnSpc>
            </a:pPr>
            <a:r>
              <a:rPr lang="en-US" sz="1399">
                <a:solidFill>
                  <a:srgbClr val="292929"/>
                </a:solidFill>
                <a:latin typeface="Inter"/>
                <a:ea typeface="Inter"/>
                <a:cs typeface="Inter"/>
                <a:sym typeface="Inter"/>
              </a:rPr>
              <a:t>Designing s</a:t>
            </a:r>
            <a:r>
              <a:rPr lang="en-US" sz="1399">
                <a:solidFill>
                  <a:srgbClr val="292929"/>
                </a:solidFill>
                <a:latin typeface="Inter"/>
                <a:ea typeface="Inter"/>
                <a:cs typeface="Inter"/>
                <a:sym typeface="Inter"/>
              </a:rPr>
              <a:t>olutions tailored to specific client goals while staying ahead of evolving market trends.</a:t>
            </a:r>
          </a:p>
        </p:txBody>
      </p:sp>
      <p:sp>
        <p:nvSpPr>
          <p:cNvPr name="TextBox 36" id="36"/>
          <p:cNvSpPr txBox="true"/>
          <p:nvPr/>
        </p:nvSpPr>
        <p:spPr>
          <a:xfrm rot="0">
            <a:off x="677607" y="9518121"/>
            <a:ext cx="419288" cy="274320"/>
          </a:xfrm>
          <a:prstGeom prst="rect">
            <a:avLst/>
          </a:prstGeom>
        </p:spPr>
        <p:txBody>
          <a:bodyPr anchor="t" rtlCol="false" tIns="0" lIns="0" bIns="0" rIns="0">
            <a:spAutoFit/>
          </a:bodyPr>
          <a:lstStyle/>
          <a:p>
            <a:pPr algn="just">
              <a:lnSpc>
                <a:spcPts val="2014"/>
              </a:lnSpc>
            </a:pPr>
            <a:r>
              <a:rPr lang="en-US" sz="1200">
                <a:solidFill>
                  <a:srgbClr val="FFFFFF"/>
                </a:solidFill>
                <a:latin typeface="Inter Light"/>
                <a:ea typeface="Inter Light"/>
                <a:cs typeface="Inter Light"/>
                <a:sym typeface="Inter Light"/>
              </a:rPr>
              <a:t>05</a:t>
            </a:r>
          </a:p>
        </p:txBody>
      </p:sp>
      <p:sp>
        <p:nvSpPr>
          <p:cNvPr name="TextBox 37" id="37"/>
          <p:cNvSpPr txBox="true"/>
          <p:nvPr/>
        </p:nvSpPr>
        <p:spPr>
          <a:xfrm rot="0">
            <a:off x="1228783" y="590519"/>
            <a:ext cx="2607523"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Freeform 38" id="38"/>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21"/>
            <a:stretch>
              <a:fillRect l="0" t="0" r="0" b="0"/>
            </a:stretch>
          </a:blipFill>
        </p:spPr>
      </p:sp>
      <p:sp>
        <p:nvSpPr>
          <p:cNvPr name="TextBox 39" id="39"/>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Freeform 3" id="3"/>
          <p:cNvSpPr/>
          <p:nvPr/>
        </p:nvSpPr>
        <p:spPr>
          <a:xfrm flipH="false" flipV="false" rot="0">
            <a:off x="8261661" y="1670911"/>
            <a:ext cx="3465411" cy="3374351"/>
          </a:xfrm>
          <a:custGeom>
            <a:avLst/>
            <a:gdLst/>
            <a:ahLst/>
            <a:cxnLst/>
            <a:rect r="r" b="b" t="t" l="l"/>
            <a:pathLst>
              <a:path h="3374351" w="3465411">
                <a:moveTo>
                  <a:pt x="0" y="0"/>
                </a:moveTo>
                <a:lnTo>
                  <a:pt x="3465411" y="0"/>
                </a:lnTo>
                <a:lnTo>
                  <a:pt x="3465411" y="3374351"/>
                </a:lnTo>
                <a:lnTo>
                  <a:pt x="0" y="33743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261661" y="5416976"/>
            <a:ext cx="3465411" cy="3374351"/>
          </a:xfrm>
          <a:custGeom>
            <a:avLst/>
            <a:gdLst/>
            <a:ahLst/>
            <a:cxnLst/>
            <a:rect r="r" b="b" t="t" l="l"/>
            <a:pathLst>
              <a:path h="3374351" w="3465411">
                <a:moveTo>
                  <a:pt x="0" y="0"/>
                </a:moveTo>
                <a:lnTo>
                  <a:pt x="3465411" y="0"/>
                </a:lnTo>
                <a:lnTo>
                  <a:pt x="3465411" y="3374351"/>
                </a:lnTo>
                <a:lnTo>
                  <a:pt x="0" y="3374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2141321" y="1779407"/>
            <a:ext cx="5117979" cy="7011920"/>
            <a:chOff x="0" y="0"/>
            <a:chExt cx="6823972" cy="9349227"/>
          </a:xfrm>
        </p:grpSpPr>
        <p:sp>
          <p:nvSpPr>
            <p:cNvPr name="Freeform 6" id="6"/>
            <p:cNvSpPr/>
            <p:nvPr/>
          </p:nvSpPr>
          <p:spPr>
            <a:xfrm flipH="false" flipV="false" rot="0">
              <a:off x="0" y="0"/>
              <a:ext cx="6823964" cy="9349232"/>
            </a:xfrm>
            <a:custGeom>
              <a:avLst/>
              <a:gdLst/>
              <a:ahLst/>
              <a:cxnLst/>
              <a:rect r="r" b="b" t="t" l="l"/>
              <a:pathLst>
                <a:path h="9349232" w="6823964">
                  <a:moveTo>
                    <a:pt x="716915" y="0"/>
                  </a:moveTo>
                  <a:lnTo>
                    <a:pt x="6107049" y="0"/>
                  </a:lnTo>
                  <a:cubicBezTo>
                    <a:pt x="6297168" y="0"/>
                    <a:pt x="6479540" y="75565"/>
                    <a:pt x="6614033" y="209931"/>
                  </a:cubicBezTo>
                  <a:cubicBezTo>
                    <a:pt x="6748526" y="344297"/>
                    <a:pt x="6823964" y="526796"/>
                    <a:pt x="6823964" y="716915"/>
                  </a:cubicBezTo>
                  <a:lnTo>
                    <a:pt x="6823964" y="8632317"/>
                  </a:lnTo>
                  <a:cubicBezTo>
                    <a:pt x="6823964" y="9028303"/>
                    <a:pt x="6503035" y="9349232"/>
                    <a:pt x="6107049" y="9349232"/>
                  </a:cubicBezTo>
                  <a:lnTo>
                    <a:pt x="716915" y="9349232"/>
                  </a:lnTo>
                  <a:cubicBezTo>
                    <a:pt x="526796" y="9349232"/>
                    <a:pt x="344424" y="9273667"/>
                    <a:pt x="209931" y="9139301"/>
                  </a:cubicBezTo>
                  <a:cubicBezTo>
                    <a:pt x="75438" y="9004936"/>
                    <a:pt x="0" y="8822436"/>
                    <a:pt x="0" y="8632317"/>
                  </a:cubicBezTo>
                  <a:lnTo>
                    <a:pt x="0" y="716915"/>
                  </a:lnTo>
                  <a:cubicBezTo>
                    <a:pt x="0" y="320929"/>
                    <a:pt x="320929" y="0"/>
                    <a:pt x="716915" y="0"/>
                  </a:cubicBezTo>
                  <a:close/>
                </a:path>
              </a:pathLst>
            </a:custGeom>
            <a:blipFill>
              <a:blip r:embed="rId7"/>
              <a:stretch>
                <a:fillRect l="-23330" t="-3843" r="-25524" b="-4804"/>
              </a:stretch>
            </a:blipFill>
          </p:spPr>
        </p:sp>
      </p:grpSp>
      <p:sp>
        <p:nvSpPr>
          <p:cNvPr name="Freeform 7" id="7"/>
          <p:cNvSpPr/>
          <p:nvPr/>
        </p:nvSpPr>
        <p:spPr>
          <a:xfrm flipH="false" flipV="false" rot="0">
            <a:off x="12330150" y="7715055"/>
            <a:ext cx="4740320" cy="856000"/>
          </a:xfrm>
          <a:custGeom>
            <a:avLst/>
            <a:gdLst/>
            <a:ahLst/>
            <a:cxnLst/>
            <a:rect r="r" b="b" t="t" l="l"/>
            <a:pathLst>
              <a:path h="856000" w="4740320">
                <a:moveTo>
                  <a:pt x="0" y="0"/>
                </a:moveTo>
                <a:lnTo>
                  <a:pt x="4740320" y="0"/>
                </a:lnTo>
                <a:lnTo>
                  <a:pt x="4740320" y="856000"/>
                </a:lnTo>
                <a:lnTo>
                  <a:pt x="0" y="8560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2653742" y="7994422"/>
            <a:ext cx="398936" cy="398936"/>
          </a:xfrm>
          <a:custGeom>
            <a:avLst/>
            <a:gdLst/>
            <a:ahLst/>
            <a:cxnLst/>
            <a:rect r="r" b="b" t="t" l="l"/>
            <a:pathLst>
              <a:path h="398936" w="398936">
                <a:moveTo>
                  <a:pt x="0" y="0"/>
                </a:moveTo>
                <a:lnTo>
                  <a:pt x="398936" y="0"/>
                </a:lnTo>
                <a:lnTo>
                  <a:pt x="398936" y="398936"/>
                </a:lnTo>
                <a:lnTo>
                  <a:pt x="0" y="39893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9" id="9"/>
          <p:cNvGrpSpPr/>
          <p:nvPr/>
        </p:nvGrpSpPr>
        <p:grpSpPr>
          <a:xfrm rot="0">
            <a:off x="12768348" y="8109028"/>
            <a:ext cx="169725" cy="169725"/>
            <a:chOff x="0" y="0"/>
            <a:chExt cx="226300" cy="226300"/>
          </a:xfrm>
        </p:grpSpPr>
        <p:sp>
          <p:nvSpPr>
            <p:cNvPr name="Freeform 10" id="10"/>
            <p:cNvSpPr/>
            <p:nvPr/>
          </p:nvSpPr>
          <p:spPr>
            <a:xfrm flipH="false" flipV="false" rot="0">
              <a:off x="0" y="0"/>
              <a:ext cx="226314" cy="226314"/>
            </a:xfrm>
            <a:custGeom>
              <a:avLst/>
              <a:gdLst/>
              <a:ahLst/>
              <a:cxnLst/>
              <a:rect r="r" b="b" t="t" l="l"/>
              <a:pathLst>
                <a:path h="226314" w="226314">
                  <a:moveTo>
                    <a:pt x="0" y="0"/>
                  </a:moveTo>
                  <a:lnTo>
                    <a:pt x="226314" y="0"/>
                  </a:lnTo>
                  <a:lnTo>
                    <a:pt x="226314" y="226314"/>
                  </a:lnTo>
                  <a:lnTo>
                    <a:pt x="0" y="226314"/>
                  </a:lnTo>
                  <a:lnTo>
                    <a:pt x="0" y="0"/>
                  </a:lnTo>
                  <a:close/>
                </a:path>
              </a:pathLst>
            </a:custGeom>
            <a:blipFill>
              <a:blip r:embed="rId12"/>
              <a:stretch>
                <a:fillRect l="0" t="0" r="6" b="6"/>
              </a:stretch>
            </a:blipFill>
          </p:spPr>
        </p:sp>
      </p:grpSp>
      <p:sp>
        <p:nvSpPr>
          <p:cNvPr name="Freeform 11" id="11"/>
          <p:cNvSpPr/>
          <p:nvPr/>
        </p:nvSpPr>
        <p:spPr>
          <a:xfrm flipH="false" flipV="false" rot="0">
            <a:off x="17735550" y="1779407"/>
            <a:ext cx="1497479" cy="4712845"/>
          </a:xfrm>
          <a:custGeom>
            <a:avLst/>
            <a:gdLst/>
            <a:ahLst/>
            <a:cxnLst/>
            <a:rect r="r" b="b" t="t" l="l"/>
            <a:pathLst>
              <a:path h="4712845" w="1497479">
                <a:moveTo>
                  <a:pt x="0" y="0"/>
                </a:moveTo>
                <a:lnTo>
                  <a:pt x="1497479" y="0"/>
                </a:lnTo>
                <a:lnTo>
                  <a:pt x="1497479" y="4712845"/>
                </a:lnTo>
                <a:lnTo>
                  <a:pt x="0" y="471284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17735550" y="6822184"/>
            <a:ext cx="1497479" cy="1969142"/>
          </a:xfrm>
          <a:custGeom>
            <a:avLst/>
            <a:gdLst/>
            <a:ahLst/>
            <a:cxnLst/>
            <a:rect r="r" b="b" t="t" l="l"/>
            <a:pathLst>
              <a:path h="1969142" w="1497479">
                <a:moveTo>
                  <a:pt x="0" y="0"/>
                </a:moveTo>
                <a:lnTo>
                  <a:pt x="1497480" y="0"/>
                </a:lnTo>
                <a:lnTo>
                  <a:pt x="1497480" y="1969142"/>
                </a:lnTo>
                <a:lnTo>
                  <a:pt x="0" y="196914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3" id="13"/>
          <p:cNvSpPr txBox="true"/>
          <p:nvPr/>
        </p:nvSpPr>
        <p:spPr>
          <a:xfrm rot="0">
            <a:off x="1028700" y="2003379"/>
            <a:ext cx="6374400" cy="1668225"/>
          </a:xfrm>
          <a:prstGeom prst="rect">
            <a:avLst/>
          </a:prstGeom>
        </p:spPr>
        <p:txBody>
          <a:bodyPr anchor="t" rtlCol="false" tIns="0" lIns="0" bIns="0" rIns="0">
            <a:spAutoFit/>
          </a:bodyPr>
          <a:lstStyle/>
          <a:p>
            <a:pPr algn="l">
              <a:lnSpc>
                <a:spcPts val="13944"/>
              </a:lnSpc>
            </a:pPr>
            <a:r>
              <a:rPr lang="en-US" b="true" sz="8300">
                <a:solidFill>
                  <a:srgbClr val="FFFFFF"/>
                </a:solidFill>
                <a:latin typeface="Inter Bold"/>
                <a:ea typeface="Inter Bold"/>
                <a:cs typeface="Inter Bold"/>
                <a:sym typeface="Inter Bold"/>
              </a:rPr>
              <a:t>PROBLEM</a:t>
            </a:r>
          </a:p>
        </p:txBody>
      </p:sp>
      <p:sp>
        <p:nvSpPr>
          <p:cNvPr name="TextBox 14" id="14"/>
          <p:cNvSpPr txBox="true"/>
          <p:nvPr/>
        </p:nvSpPr>
        <p:spPr>
          <a:xfrm rot="0">
            <a:off x="1028700" y="3956410"/>
            <a:ext cx="5820900" cy="3404871"/>
          </a:xfrm>
          <a:prstGeom prst="rect">
            <a:avLst/>
          </a:prstGeom>
        </p:spPr>
        <p:txBody>
          <a:bodyPr anchor="t" rtlCol="false" tIns="0" lIns="0" bIns="0" rIns="0">
            <a:spAutoFit/>
          </a:bodyPr>
          <a:lstStyle/>
          <a:p>
            <a:pPr algn="l">
              <a:lnSpc>
                <a:spcPts val="3024"/>
              </a:lnSpc>
            </a:pPr>
            <a:r>
              <a:rPr lang="en-US" sz="1800">
                <a:solidFill>
                  <a:srgbClr val="FFFFFF"/>
                </a:solidFill>
                <a:latin typeface="Inter"/>
                <a:ea typeface="Inter"/>
                <a:cs typeface="Inter"/>
                <a:sym typeface="Inter"/>
              </a:rPr>
              <a:t>Ma</a:t>
            </a:r>
            <a:r>
              <a:rPr lang="en-US" sz="1800">
                <a:solidFill>
                  <a:srgbClr val="FFFFFF"/>
                </a:solidFill>
                <a:latin typeface="Inter"/>
                <a:ea typeface="Inter"/>
                <a:cs typeface="Inter"/>
                <a:sym typeface="Inter"/>
              </a:rPr>
              <a:t>ny organizations in Zambia lack affordable, reliable ICT services, leaving them with outdated websites, inconsistent branding, and unmaintained systems.</a:t>
            </a:r>
          </a:p>
          <a:p>
            <a:pPr algn="l">
              <a:lnSpc>
                <a:spcPts val="3024"/>
              </a:lnSpc>
            </a:pPr>
            <a:r>
              <a:rPr lang="en-US" sz="1800">
                <a:solidFill>
                  <a:srgbClr val="FFFFFF"/>
                </a:solidFill>
                <a:latin typeface="Inter"/>
                <a:ea typeface="Inter"/>
                <a:cs typeface="Inter"/>
                <a:sym typeface="Inter"/>
              </a:rPr>
              <a:t> Additionally, visually impaired individuals have limited access to adaptive technology, further widening the digital divide.</a:t>
            </a:r>
          </a:p>
          <a:p>
            <a:pPr algn="l">
              <a:lnSpc>
                <a:spcPts val="3024"/>
              </a:lnSpc>
            </a:pPr>
            <a:r>
              <a:rPr lang="en-US" sz="1800">
                <a:solidFill>
                  <a:srgbClr val="FFFFFF"/>
                </a:solidFill>
                <a:latin typeface="Inter"/>
                <a:ea typeface="Inter"/>
                <a:cs typeface="Inter"/>
                <a:sym typeface="Inter"/>
              </a:rPr>
              <a:t> Otrava Technologies addresses these challenges with cost-effective, high-quality solutions.</a:t>
            </a:r>
          </a:p>
        </p:txBody>
      </p:sp>
      <p:sp>
        <p:nvSpPr>
          <p:cNvPr name="TextBox 15" id="15"/>
          <p:cNvSpPr txBox="true"/>
          <p:nvPr/>
        </p:nvSpPr>
        <p:spPr>
          <a:xfrm rot="0">
            <a:off x="13387714" y="7978144"/>
            <a:ext cx="4012800" cy="415214"/>
          </a:xfrm>
          <a:prstGeom prst="rect">
            <a:avLst/>
          </a:prstGeom>
        </p:spPr>
        <p:txBody>
          <a:bodyPr anchor="t" rtlCol="false" tIns="0" lIns="0" bIns="0" rIns="0">
            <a:spAutoFit/>
          </a:bodyPr>
          <a:lstStyle/>
          <a:p>
            <a:pPr algn="l">
              <a:lnSpc>
                <a:spcPts val="3518"/>
              </a:lnSpc>
            </a:pPr>
            <a:r>
              <a:rPr lang="en-US" b="true" sz="2094">
                <a:solidFill>
                  <a:srgbClr val="292929"/>
                </a:solidFill>
                <a:latin typeface="Inter Medium"/>
                <a:ea typeface="Inter Medium"/>
                <a:cs typeface="Inter Medium"/>
                <a:sym typeface="Inter Medium"/>
              </a:rPr>
              <a:t>Bridging </a:t>
            </a:r>
            <a:r>
              <a:rPr lang="en-US" b="true" sz="2094">
                <a:solidFill>
                  <a:srgbClr val="292929"/>
                </a:solidFill>
                <a:latin typeface="Inter Medium"/>
                <a:ea typeface="Inter Medium"/>
                <a:cs typeface="Inter Medium"/>
                <a:sym typeface="Inter Medium"/>
              </a:rPr>
              <a:t>ICT Gaps</a:t>
            </a:r>
          </a:p>
        </p:txBody>
      </p:sp>
      <p:sp>
        <p:nvSpPr>
          <p:cNvPr name="TextBox 16" id="16"/>
          <p:cNvSpPr txBox="true"/>
          <p:nvPr/>
        </p:nvSpPr>
        <p:spPr>
          <a:xfrm rot="0">
            <a:off x="677607" y="9518121"/>
            <a:ext cx="419288" cy="274320"/>
          </a:xfrm>
          <a:prstGeom prst="rect">
            <a:avLst/>
          </a:prstGeom>
        </p:spPr>
        <p:txBody>
          <a:bodyPr anchor="t" rtlCol="false" tIns="0" lIns="0" bIns="0" rIns="0">
            <a:spAutoFit/>
          </a:bodyPr>
          <a:lstStyle/>
          <a:p>
            <a:pPr algn="just">
              <a:lnSpc>
                <a:spcPts val="2014"/>
              </a:lnSpc>
            </a:pPr>
            <a:r>
              <a:rPr lang="en-US" sz="1200">
                <a:solidFill>
                  <a:srgbClr val="FFFFFF"/>
                </a:solidFill>
                <a:latin typeface="Inter Light"/>
                <a:ea typeface="Inter Light"/>
                <a:cs typeface="Inter Light"/>
                <a:sym typeface="Inter Light"/>
              </a:rPr>
              <a:t>06</a:t>
            </a:r>
          </a:p>
        </p:txBody>
      </p:sp>
      <p:sp>
        <p:nvSpPr>
          <p:cNvPr name="TextBox 17" id="17"/>
          <p:cNvSpPr txBox="true"/>
          <p:nvPr/>
        </p:nvSpPr>
        <p:spPr>
          <a:xfrm rot="0">
            <a:off x="8560049" y="2466411"/>
            <a:ext cx="2990700" cy="2343710"/>
          </a:xfrm>
          <a:prstGeom prst="rect">
            <a:avLst/>
          </a:prstGeom>
        </p:spPr>
        <p:txBody>
          <a:bodyPr anchor="t" rtlCol="false" tIns="0" lIns="0" bIns="0" rIns="0">
            <a:spAutoFit/>
          </a:bodyPr>
          <a:lstStyle/>
          <a:p>
            <a:pPr algn="l">
              <a:lnSpc>
                <a:spcPts val="2350"/>
              </a:lnSpc>
            </a:pPr>
            <a:r>
              <a:rPr lang="en-US" sz="1399">
                <a:solidFill>
                  <a:srgbClr val="292929"/>
                </a:solidFill>
                <a:latin typeface="Inter"/>
                <a:ea typeface="Inter"/>
                <a:cs typeface="Inter"/>
                <a:sym typeface="Inter"/>
              </a:rPr>
              <a:t>In Zam</a:t>
            </a:r>
            <a:r>
              <a:rPr lang="en-US" sz="1399">
                <a:solidFill>
                  <a:srgbClr val="292929"/>
                </a:solidFill>
                <a:latin typeface="Inter"/>
                <a:ea typeface="Inter"/>
                <a:cs typeface="Inter"/>
                <a:sym typeface="Inter"/>
              </a:rPr>
              <a:t>bia, unreliable ICT services hinder productivity, leaving many organizations with poor systems and weak online presence. Otrava Technologies delivers dependable, cost-effective solutions that strengthen operations and connect businesses to their audiences.</a:t>
            </a:r>
          </a:p>
        </p:txBody>
      </p:sp>
      <p:sp>
        <p:nvSpPr>
          <p:cNvPr name="TextBox 18" id="18"/>
          <p:cNvSpPr txBox="true"/>
          <p:nvPr/>
        </p:nvSpPr>
        <p:spPr>
          <a:xfrm rot="0">
            <a:off x="8560049" y="6194619"/>
            <a:ext cx="2868600" cy="2343710"/>
          </a:xfrm>
          <a:prstGeom prst="rect">
            <a:avLst/>
          </a:prstGeom>
        </p:spPr>
        <p:txBody>
          <a:bodyPr anchor="t" rtlCol="false" tIns="0" lIns="0" bIns="0" rIns="0">
            <a:spAutoFit/>
          </a:bodyPr>
          <a:lstStyle/>
          <a:p>
            <a:pPr algn="l">
              <a:lnSpc>
                <a:spcPts val="2350"/>
              </a:lnSpc>
            </a:pPr>
            <a:r>
              <a:rPr lang="en-US" sz="1399">
                <a:solidFill>
                  <a:srgbClr val="FFFFFF"/>
                </a:solidFill>
                <a:latin typeface="Inter"/>
                <a:ea typeface="Inter"/>
                <a:cs typeface="Inter"/>
                <a:sym typeface="Inter"/>
              </a:rPr>
              <a:t>Fr</a:t>
            </a:r>
            <a:r>
              <a:rPr lang="en-US" sz="1399">
                <a:solidFill>
                  <a:srgbClr val="FFFFFF"/>
                </a:solidFill>
                <a:latin typeface="Inter"/>
                <a:ea typeface="Inter"/>
                <a:cs typeface="Inter"/>
                <a:sym typeface="Inter"/>
              </a:rPr>
              <a:t>equent hardware disposal and inefficient ICT systems contribute to rising e-waste. Otrava Technologies promotes repair, upgrades, and sustainable tech practices to reduce environmental impact while improving performanc</a:t>
            </a:r>
          </a:p>
        </p:txBody>
      </p:sp>
      <p:sp>
        <p:nvSpPr>
          <p:cNvPr name="TextBox 19" id="19"/>
          <p:cNvSpPr txBox="true"/>
          <p:nvPr/>
        </p:nvSpPr>
        <p:spPr>
          <a:xfrm rot="0">
            <a:off x="8560049" y="1963529"/>
            <a:ext cx="2373900" cy="427875"/>
          </a:xfrm>
          <a:prstGeom prst="rect">
            <a:avLst/>
          </a:prstGeom>
        </p:spPr>
        <p:txBody>
          <a:bodyPr anchor="t" rtlCol="false" tIns="0" lIns="0" bIns="0" rIns="0">
            <a:spAutoFit/>
          </a:bodyPr>
          <a:lstStyle/>
          <a:p>
            <a:pPr algn="l">
              <a:lnSpc>
                <a:spcPts val="3528"/>
              </a:lnSpc>
            </a:pPr>
            <a:r>
              <a:rPr lang="en-US" b="true" sz="2100">
                <a:solidFill>
                  <a:srgbClr val="292929"/>
                </a:solidFill>
                <a:latin typeface="Inter Bold"/>
                <a:ea typeface="Inter Bold"/>
                <a:cs typeface="Inter Bold"/>
                <a:sym typeface="Inter Bold"/>
              </a:rPr>
              <a:t>Society</a:t>
            </a:r>
          </a:p>
        </p:txBody>
      </p:sp>
      <p:sp>
        <p:nvSpPr>
          <p:cNvPr name="TextBox 20" id="20"/>
          <p:cNvSpPr txBox="true"/>
          <p:nvPr/>
        </p:nvSpPr>
        <p:spPr>
          <a:xfrm rot="0">
            <a:off x="8560049" y="5709594"/>
            <a:ext cx="2868600" cy="427875"/>
          </a:xfrm>
          <a:prstGeom prst="rect">
            <a:avLst/>
          </a:prstGeom>
        </p:spPr>
        <p:txBody>
          <a:bodyPr anchor="t" rtlCol="false" tIns="0" lIns="0" bIns="0" rIns="0">
            <a:spAutoFit/>
          </a:bodyPr>
          <a:lstStyle/>
          <a:p>
            <a:pPr algn="l">
              <a:lnSpc>
                <a:spcPts val="3528"/>
              </a:lnSpc>
            </a:pPr>
            <a:r>
              <a:rPr lang="en-US" b="true" sz="2100">
                <a:solidFill>
                  <a:srgbClr val="FFFFFF"/>
                </a:solidFill>
                <a:latin typeface="Inter Bold"/>
                <a:ea typeface="Inter Bold"/>
                <a:cs typeface="Inter Bold"/>
                <a:sym typeface="Inter Bold"/>
              </a:rPr>
              <a:t>Environment</a:t>
            </a:r>
          </a:p>
        </p:txBody>
      </p:sp>
      <p:sp>
        <p:nvSpPr>
          <p:cNvPr name="Freeform 21" id="21"/>
          <p:cNvSpPr/>
          <p:nvPr/>
        </p:nvSpPr>
        <p:spPr>
          <a:xfrm flipH="false" flipV="false" rot="0">
            <a:off x="11158688" y="1955643"/>
            <a:ext cx="392188" cy="392188"/>
          </a:xfrm>
          <a:custGeom>
            <a:avLst/>
            <a:gdLst/>
            <a:ahLst/>
            <a:cxnLst/>
            <a:rect r="r" b="b" t="t" l="l"/>
            <a:pathLst>
              <a:path h="392188" w="392188">
                <a:moveTo>
                  <a:pt x="0" y="0"/>
                </a:moveTo>
                <a:lnTo>
                  <a:pt x="392188" y="0"/>
                </a:lnTo>
                <a:lnTo>
                  <a:pt x="392188" y="392188"/>
                </a:lnTo>
                <a:lnTo>
                  <a:pt x="0" y="39218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2" id="22"/>
          <p:cNvSpPr/>
          <p:nvPr/>
        </p:nvSpPr>
        <p:spPr>
          <a:xfrm flipH="false" flipV="false" rot="0">
            <a:off x="11158688" y="5701708"/>
            <a:ext cx="392188" cy="392188"/>
          </a:xfrm>
          <a:custGeom>
            <a:avLst/>
            <a:gdLst/>
            <a:ahLst/>
            <a:cxnLst/>
            <a:rect r="r" b="b" t="t" l="l"/>
            <a:pathLst>
              <a:path h="392188" w="392188">
                <a:moveTo>
                  <a:pt x="0" y="0"/>
                </a:moveTo>
                <a:lnTo>
                  <a:pt x="392188" y="0"/>
                </a:lnTo>
                <a:lnTo>
                  <a:pt x="392188" y="392188"/>
                </a:lnTo>
                <a:lnTo>
                  <a:pt x="0" y="39218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23" id="23"/>
          <p:cNvGrpSpPr/>
          <p:nvPr/>
        </p:nvGrpSpPr>
        <p:grpSpPr>
          <a:xfrm rot="0">
            <a:off x="11271355" y="2068310"/>
            <a:ext cx="166854" cy="166854"/>
            <a:chOff x="0" y="0"/>
            <a:chExt cx="222472" cy="222472"/>
          </a:xfrm>
        </p:grpSpPr>
        <p:sp>
          <p:nvSpPr>
            <p:cNvPr name="Freeform 24" id="24"/>
            <p:cNvSpPr/>
            <p:nvPr/>
          </p:nvSpPr>
          <p:spPr>
            <a:xfrm flipH="false" flipV="false" rot="0">
              <a:off x="0" y="0"/>
              <a:ext cx="222504" cy="222504"/>
            </a:xfrm>
            <a:custGeom>
              <a:avLst/>
              <a:gdLst/>
              <a:ahLst/>
              <a:cxnLst/>
              <a:rect r="r" b="b" t="t" l="l"/>
              <a:pathLst>
                <a:path h="222504" w="222504">
                  <a:moveTo>
                    <a:pt x="0" y="0"/>
                  </a:moveTo>
                  <a:lnTo>
                    <a:pt x="222504" y="0"/>
                  </a:lnTo>
                  <a:lnTo>
                    <a:pt x="222504" y="222504"/>
                  </a:lnTo>
                  <a:lnTo>
                    <a:pt x="0" y="222504"/>
                  </a:lnTo>
                  <a:lnTo>
                    <a:pt x="0" y="0"/>
                  </a:lnTo>
                  <a:close/>
                </a:path>
              </a:pathLst>
            </a:custGeom>
            <a:blipFill>
              <a:blip r:embed="rId12"/>
              <a:stretch>
                <a:fillRect l="0" t="0" r="14" b="14"/>
              </a:stretch>
            </a:blipFill>
          </p:spPr>
        </p:sp>
      </p:grpSp>
      <p:grpSp>
        <p:nvGrpSpPr>
          <p:cNvPr name="Group 25" id="25"/>
          <p:cNvGrpSpPr/>
          <p:nvPr/>
        </p:nvGrpSpPr>
        <p:grpSpPr>
          <a:xfrm rot="0">
            <a:off x="11271355" y="5814375"/>
            <a:ext cx="166854" cy="166854"/>
            <a:chOff x="0" y="0"/>
            <a:chExt cx="222472" cy="222472"/>
          </a:xfrm>
        </p:grpSpPr>
        <p:sp>
          <p:nvSpPr>
            <p:cNvPr name="Freeform 26" id="26"/>
            <p:cNvSpPr/>
            <p:nvPr/>
          </p:nvSpPr>
          <p:spPr>
            <a:xfrm flipH="false" flipV="false" rot="0">
              <a:off x="0" y="0"/>
              <a:ext cx="222504" cy="222504"/>
            </a:xfrm>
            <a:custGeom>
              <a:avLst/>
              <a:gdLst/>
              <a:ahLst/>
              <a:cxnLst/>
              <a:rect r="r" b="b" t="t" l="l"/>
              <a:pathLst>
                <a:path h="222504" w="222504">
                  <a:moveTo>
                    <a:pt x="0" y="0"/>
                  </a:moveTo>
                  <a:lnTo>
                    <a:pt x="222504" y="0"/>
                  </a:lnTo>
                  <a:lnTo>
                    <a:pt x="222504" y="222504"/>
                  </a:lnTo>
                  <a:lnTo>
                    <a:pt x="0" y="222504"/>
                  </a:lnTo>
                  <a:lnTo>
                    <a:pt x="0" y="0"/>
                  </a:lnTo>
                  <a:close/>
                </a:path>
              </a:pathLst>
            </a:custGeom>
            <a:blipFill>
              <a:blip r:embed="rId12"/>
              <a:stretch>
                <a:fillRect l="0" t="0" r="14" b="14"/>
              </a:stretch>
            </a:blipFill>
          </p:spPr>
        </p:sp>
      </p:grpSp>
      <p:sp>
        <p:nvSpPr>
          <p:cNvPr name="TextBox 27" id="27"/>
          <p:cNvSpPr txBox="true"/>
          <p:nvPr/>
        </p:nvSpPr>
        <p:spPr>
          <a:xfrm rot="0">
            <a:off x="1228783" y="590519"/>
            <a:ext cx="2514026"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TextBox 28" id="28"/>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
        <p:nvSpPr>
          <p:cNvPr name="Freeform 29" id="29"/>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19"/>
            <a:stretch>
              <a:fillRect l="0" t="0" r="0" b="0"/>
            </a:stretch>
          </a:blipFill>
        </p:spPr>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Freeform 3" id="3"/>
          <p:cNvSpPr/>
          <p:nvPr/>
        </p:nvSpPr>
        <p:spPr>
          <a:xfrm flipH="false" flipV="false" rot="0">
            <a:off x="1343722" y="1486182"/>
            <a:ext cx="3616699" cy="4909509"/>
          </a:xfrm>
          <a:custGeom>
            <a:avLst/>
            <a:gdLst/>
            <a:ahLst/>
            <a:cxnLst/>
            <a:rect r="r" b="b" t="t" l="l"/>
            <a:pathLst>
              <a:path h="4909509" w="3616699">
                <a:moveTo>
                  <a:pt x="0" y="0"/>
                </a:moveTo>
                <a:lnTo>
                  <a:pt x="3616699" y="0"/>
                </a:lnTo>
                <a:lnTo>
                  <a:pt x="3616699" y="4909509"/>
                </a:lnTo>
                <a:lnTo>
                  <a:pt x="0" y="49095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8439" y="6752199"/>
            <a:ext cx="3651959" cy="2484894"/>
          </a:xfrm>
          <a:custGeom>
            <a:avLst/>
            <a:gdLst/>
            <a:ahLst/>
            <a:cxnLst/>
            <a:rect r="r" b="b" t="t" l="l"/>
            <a:pathLst>
              <a:path h="2484894" w="3651959">
                <a:moveTo>
                  <a:pt x="0" y="0"/>
                </a:moveTo>
                <a:lnTo>
                  <a:pt x="3651959" y="0"/>
                </a:lnTo>
                <a:lnTo>
                  <a:pt x="3651959" y="2484894"/>
                </a:lnTo>
                <a:lnTo>
                  <a:pt x="0" y="24848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614166" y="6971254"/>
            <a:ext cx="3040506" cy="1773629"/>
            <a:chOff x="0" y="0"/>
            <a:chExt cx="4054008" cy="2364839"/>
          </a:xfrm>
        </p:grpSpPr>
        <p:sp>
          <p:nvSpPr>
            <p:cNvPr name="Freeform 6" id="6"/>
            <p:cNvSpPr/>
            <p:nvPr/>
          </p:nvSpPr>
          <p:spPr>
            <a:xfrm flipH="false" flipV="false" rot="0">
              <a:off x="0" y="0"/>
              <a:ext cx="4053967" cy="2364867"/>
            </a:xfrm>
            <a:custGeom>
              <a:avLst/>
              <a:gdLst/>
              <a:ahLst/>
              <a:cxnLst/>
              <a:rect r="r" b="b" t="t" l="l"/>
              <a:pathLst>
                <a:path h="2364867" w="4053967">
                  <a:moveTo>
                    <a:pt x="0" y="0"/>
                  </a:moveTo>
                  <a:lnTo>
                    <a:pt x="4053967" y="0"/>
                  </a:lnTo>
                  <a:lnTo>
                    <a:pt x="4053967" y="2364867"/>
                  </a:lnTo>
                  <a:lnTo>
                    <a:pt x="0" y="2364867"/>
                  </a:lnTo>
                  <a:lnTo>
                    <a:pt x="0" y="0"/>
                  </a:lnTo>
                  <a:close/>
                </a:path>
              </a:pathLst>
            </a:custGeom>
            <a:blipFill>
              <a:blip r:embed="rId7"/>
              <a:stretch>
                <a:fillRect l="0" t="0" r="-45" b="1"/>
              </a:stretch>
            </a:blipFill>
          </p:spPr>
        </p:sp>
      </p:grpSp>
      <p:sp>
        <p:nvSpPr>
          <p:cNvPr name="Freeform 7" id="7"/>
          <p:cNvSpPr/>
          <p:nvPr/>
        </p:nvSpPr>
        <p:spPr>
          <a:xfrm flipH="false" flipV="false" rot="0">
            <a:off x="4159781" y="5682834"/>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8" id="8"/>
          <p:cNvGrpSpPr/>
          <p:nvPr/>
        </p:nvGrpSpPr>
        <p:grpSpPr>
          <a:xfrm rot="0">
            <a:off x="4298545" y="5821598"/>
            <a:ext cx="205502" cy="205502"/>
            <a:chOff x="0" y="0"/>
            <a:chExt cx="274003" cy="274003"/>
          </a:xfrm>
        </p:grpSpPr>
        <p:sp>
          <p:nvSpPr>
            <p:cNvPr name="Freeform 9" id="9"/>
            <p:cNvSpPr/>
            <p:nvPr/>
          </p:nvSpPr>
          <p:spPr>
            <a:xfrm flipH="false" flipV="false" rot="0">
              <a:off x="0" y="0"/>
              <a:ext cx="274066" cy="273939"/>
            </a:xfrm>
            <a:custGeom>
              <a:avLst/>
              <a:gdLst/>
              <a:ahLst/>
              <a:cxnLst/>
              <a:rect r="r" b="b" t="t" l="l"/>
              <a:pathLst>
                <a:path h="273939" w="274066">
                  <a:moveTo>
                    <a:pt x="0" y="0"/>
                  </a:moveTo>
                  <a:lnTo>
                    <a:pt x="274066" y="0"/>
                  </a:lnTo>
                  <a:lnTo>
                    <a:pt x="274066" y="273939"/>
                  </a:lnTo>
                  <a:lnTo>
                    <a:pt x="0" y="273939"/>
                  </a:lnTo>
                  <a:lnTo>
                    <a:pt x="0" y="0"/>
                  </a:lnTo>
                  <a:close/>
                </a:path>
              </a:pathLst>
            </a:custGeom>
            <a:blipFill>
              <a:blip r:embed="rId10"/>
              <a:stretch>
                <a:fillRect l="0" t="0" r="23" b="-23"/>
              </a:stretch>
            </a:blipFill>
          </p:spPr>
        </p:sp>
      </p:grpSp>
      <p:sp>
        <p:nvSpPr>
          <p:cNvPr name="Freeform 10" id="10"/>
          <p:cNvSpPr/>
          <p:nvPr/>
        </p:nvSpPr>
        <p:spPr>
          <a:xfrm flipH="false" flipV="false" rot="0">
            <a:off x="5406676" y="5035004"/>
            <a:ext cx="3616676" cy="4202088"/>
          </a:xfrm>
          <a:custGeom>
            <a:avLst/>
            <a:gdLst/>
            <a:ahLst/>
            <a:cxnLst/>
            <a:rect r="r" b="b" t="t" l="l"/>
            <a:pathLst>
              <a:path h="4202088" w="3616676">
                <a:moveTo>
                  <a:pt x="0" y="0"/>
                </a:moveTo>
                <a:lnTo>
                  <a:pt x="3616676" y="0"/>
                </a:lnTo>
                <a:lnTo>
                  <a:pt x="3616676" y="4202088"/>
                </a:lnTo>
                <a:lnTo>
                  <a:pt x="0" y="420208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8222735" y="8524266"/>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2" id="12"/>
          <p:cNvGrpSpPr/>
          <p:nvPr/>
        </p:nvGrpSpPr>
        <p:grpSpPr>
          <a:xfrm rot="0">
            <a:off x="8361499" y="8663030"/>
            <a:ext cx="205502" cy="205502"/>
            <a:chOff x="0" y="0"/>
            <a:chExt cx="274003" cy="274003"/>
          </a:xfrm>
        </p:grpSpPr>
        <p:sp>
          <p:nvSpPr>
            <p:cNvPr name="Freeform 13" id="13"/>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15"/>
              <a:stretch>
                <a:fillRect l="0" t="0" r="23" b="23"/>
              </a:stretch>
            </a:blipFill>
          </p:spPr>
        </p:sp>
      </p:grpSp>
      <p:grpSp>
        <p:nvGrpSpPr>
          <p:cNvPr name="Group 14" id="14"/>
          <p:cNvGrpSpPr/>
          <p:nvPr/>
        </p:nvGrpSpPr>
        <p:grpSpPr>
          <a:xfrm rot="0">
            <a:off x="5406676" y="1594678"/>
            <a:ext cx="3616676" cy="3075351"/>
            <a:chOff x="0" y="0"/>
            <a:chExt cx="4822235" cy="4100468"/>
          </a:xfrm>
        </p:grpSpPr>
        <p:sp>
          <p:nvSpPr>
            <p:cNvPr name="Freeform 15" id="15"/>
            <p:cNvSpPr/>
            <p:nvPr/>
          </p:nvSpPr>
          <p:spPr>
            <a:xfrm flipH="false" flipV="false" rot="0">
              <a:off x="0" y="0"/>
              <a:ext cx="4822190" cy="4100449"/>
            </a:xfrm>
            <a:custGeom>
              <a:avLst/>
              <a:gdLst/>
              <a:ahLst/>
              <a:cxnLst/>
              <a:rect r="r" b="b" t="t" l="l"/>
              <a:pathLst>
                <a:path h="4100449" w="4822190">
                  <a:moveTo>
                    <a:pt x="273558" y="0"/>
                  </a:moveTo>
                  <a:lnTo>
                    <a:pt x="4548632" y="0"/>
                  </a:lnTo>
                  <a:cubicBezTo>
                    <a:pt x="4621149" y="0"/>
                    <a:pt x="4690745" y="28829"/>
                    <a:pt x="4742053" y="80137"/>
                  </a:cubicBezTo>
                  <a:cubicBezTo>
                    <a:pt x="4793361" y="131445"/>
                    <a:pt x="4822190" y="201041"/>
                    <a:pt x="4822190" y="273558"/>
                  </a:cubicBezTo>
                  <a:lnTo>
                    <a:pt x="4822190" y="3826891"/>
                  </a:lnTo>
                  <a:cubicBezTo>
                    <a:pt x="4822190" y="3978021"/>
                    <a:pt x="4699762" y="4100449"/>
                    <a:pt x="4548632" y="4100449"/>
                  </a:cubicBezTo>
                  <a:lnTo>
                    <a:pt x="273558" y="4100449"/>
                  </a:lnTo>
                  <a:cubicBezTo>
                    <a:pt x="201041" y="4100449"/>
                    <a:pt x="131445" y="4071620"/>
                    <a:pt x="80137" y="4020312"/>
                  </a:cubicBezTo>
                  <a:cubicBezTo>
                    <a:pt x="28829" y="3969004"/>
                    <a:pt x="0" y="3899408"/>
                    <a:pt x="0" y="3826891"/>
                  </a:cubicBezTo>
                  <a:lnTo>
                    <a:pt x="0" y="273558"/>
                  </a:lnTo>
                  <a:cubicBezTo>
                    <a:pt x="0" y="201041"/>
                    <a:pt x="28829" y="131445"/>
                    <a:pt x="80137" y="80137"/>
                  </a:cubicBezTo>
                  <a:cubicBezTo>
                    <a:pt x="131445" y="28829"/>
                    <a:pt x="201041" y="0"/>
                    <a:pt x="273558" y="0"/>
                  </a:cubicBezTo>
                  <a:close/>
                </a:path>
              </a:pathLst>
            </a:custGeom>
            <a:blipFill>
              <a:blip r:embed="rId16"/>
              <a:stretch>
                <a:fillRect l="-17159" t="-1460" r="-29939" b="-16802"/>
              </a:stretch>
            </a:blipFill>
          </p:spPr>
        </p:sp>
      </p:grpSp>
      <p:sp>
        <p:nvSpPr>
          <p:cNvPr name="Freeform 16" id="16"/>
          <p:cNvSpPr/>
          <p:nvPr/>
        </p:nvSpPr>
        <p:spPr>
          <a:xfrm flipH="false" flipV="false" rot="0">
            <a:off x="-709195" y="1637540"/>
            <a:ext cx="1497479" cy="2495802"/>
          </a:xfrm>
          <a:custGeom>
            <a:avLst/>
            <a:gdLst/>
            <a:ahLst/>
            <a:cxnLst/>
            <a:rect r="r" b="b" t="t" l="l"/>
            <a:pathLst>
              <a:path h="2495802" w="1497479">
                <a:moveTo>
                  <a:pt x="0" y="0"/>
                </a:moveTo>
                <a:lnTo>
                  <a:pt x="1497479" y="0"/>
                </a:lnTo>
                <a:lnTo>
                  <a:pt x="1497479" y="2495802"/>
                </a:lnTo>
                <a:lnTo>
                  <a:pt x="0" y="249580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7" id="17"/>
          <p:cNvSpPr/>
          <p:nvPr/>
        </p:nvSpPr>
        <p:spPr>
          <a:xfrm flipH="false" flipV="false" rot="0">
            <a:off x="-709195" y="4546315"/>
            <a:ext cx="1497479" cy="4690778"/>
          </a:xfrm>
          <a:custGeom>
            <a:avLst/>
            <a:gdLst/>
            <a:ahLst/>
            <a:cxnLst/>
            <a:rect r="r" b="b" t="t" l="l"/>
            <a:pathLst>
              <a:path h="4690778" w="1497479">
                <a:moveTo>
                  <a:pt x="0" y="0"/>
                </a:moveTo>
                <a:lnTo>
                  <a:pt x="1497479" y="0"/>
                </a:lnTo>
                <a:lnTo>
                  <a:pt x="1497479" y="4690778"/>
                </a:lnTo>
                <a:lnTo>
                  <a:pt x="0" y="469077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18" id="18"/>
          <p:cNvSpPr txBox="true"/>
          <p:nvPr/>
        </p:nvSpPr>
        <p:spPr>
          <a:xfrm rot="0">
            <a:off x="10269559" y="5304122"/>
            <a:ext cx="7475700" cy="2261695"/>
          </a:xfrm>
          <a:prstGeom prst="rect">
            <a:avLst/>
          </a:prstGeom>
        </p:spPr>
        <p:txBody>
          <a:bodyPr anchor="t" rtlCol="false" tIns="0" lIns="0" bIns="0" rIns="0">
            <a:spAutoFit/>
          </a:bodyPr>
          <a:lstStyle/>
          <a:p>
            <a:pPr algn="l">
              <a:lnSpc>
                <a:spcPts val="3026"/>
              </a:lnSpc>
            </a:pPr>
            <a:r>
              <a:rPr lang="en-US" sz="1800">
                <a:solidFill>
                  <a:srgbClr val="FFFFFF"/>
                </a:solidFill>
                <a:latin typeface="Inter"/>
                <a:ea typeface="Inter"/>
                <a:cs typeface="Inter"/>
                <a:sym typeface="Inter"/>
              </a:rPr>
              <a:t>Otrava Techn</a:t>
            </a:r>
            <a:r>
              <a:rPr lang="en-US" sz="1800">
                <a:solidFill>
                  <a:srgbClr val="FFFFFF"/>
                </a:solidFill>
                <a:latin typeface="Inter"/>
                <a:ea typeface="Inter"/>
                <a:cs typeface="Inter"/>
                <a:sym typeface="Inter"/>
              </a:rPr>
              <a:t>ologies provides reliable, affordable ICT services that help businesses grow and compete. Our scalable websites, hardware support, and branding boost organizational success, while inclusive training and assistive technology empower visually impaired individuals and youth, promoting digital skills and social inclusion across Zambia.</a:t>
            </a:r>
          </a:p>
        </p:txBody>
      </p:sp>
      <p:sp>
        <p:nvSpPr>
          <p:cNvPr name="TextBox 19" id="19"/>
          <p:cNvSpPr txBox="true"/>
          <p:nvPr/>
        </p:nvSpPr>
        <p:spPr>
          <a:xfrm rot="0">
            <a:off x="10269559" y="2215764"/>
            <a:ext cx="7046700" cy="2984782"/>
          </a:xfrm>
          <a:prstGeom prst="rect">
            <a:avLst/>
          </a:prstGeom>
        </p:spPr>
        <p:txBody>
          <a:bodyPr anchor="t" rtlCol="false" tIns="0" lIns="0" bIns="0" rIns="0">
            <a:spAutoFit/>
          </a:bodyPr>
          <a:lstStyle/>
          <a:p>
            <a:pPr algn="l">
              <a:lnSpc>
                <a:spcPts val="11926"/>
              </a:lnSpc>
            </a:pPr>
            <a:r>
              <a:rPr lang="en-US" b="true" sz="8398">
                <a:solidFill>
                  <a:srgbClr val="FFFFFF"/>
                </a:solidFill>
                <a:latin typeface="Inter Bold"/>
                <a:ea typeface="Inter Bold"/>
                <a:cs typeface="Inter Bold"/>
                <a:sym typeface="Inter Bold"/>
              </a:rPr>
              <a:t>Our Impact &amp; Solutions</a:t>
            </a:r>
          </a:p>
        </p:txBody>
      </p:sp>
      <p:sp>
        <p:nvSpPr>
          <p:cNvPr name="TextBox 20" id="20"/>
          <p:cNvSpPr txBox="true"/>
          <p:nvPr/>
        </p:nvSpPr>
        <p:spPr>
          <a:xfrm rot="0">
            <a:off x="1648453" y="1876425"/>
            <a:ext cx="3043200" cy="424376"/>
          </a:xfrm>
          <a:prstGeom prst="rect">
            <a:avLst/>
          </a:prstGeom>
        </p:spPr>
        <p:txBody>
          <a:bodyPr anchor="t" rtlCol="false" tIns="0" lIns="0" bIns="0" rIns="0">
            <a:spAutoFit/>
          </a:bodyPr>
          <a:lstStyle/>
          <a:p>
            <a:pPr algn="l">
              <a:lnSpc>
                <a:spcPts val="3528"/>
              </a:lnSpc>
            </a:pPr>
            <a:r>
              <a:rPr lang="en-US" b="true" sz="2100">
                <a:solidFill>
                  <a:srgbClr val="292929"/>
                </a:solidFill>
                <a:latin typeface="Inter Bold"/>
                <a:ea typeface="Inter Bold"/>
                <a:cs typeface="Inter Bold"/>
                <a:sym typeface="Inter Bold"/>
              </a:rPr>
              <a:t>Business Impact</a:t>
            </a:r>
          </a:p>
        </p:txBody>
      </p:sp>
      <p:sp>
        <p:nvSpPr>
          <p:cNvPr name="TextBox 21" id="21"/>
          <p:cNvSpPr txBox="true"/>
          <p:nvPr/>
        </p:nvSpPr>
        <p:spPr>
          <a:xfrm rot="0">
            <a:off x="1648453" y="2891216"/>
            <a:ext cx="2284332" cy="2638806"/>
          </a:xfrm>
          <a:prstGeom prst="rect">
            <a:avLst/>
          </a:prstGeom>
        </p:spPr>
        <p:txBody>
          <a:bodyPr anchor="t" rtlCol="false" tIns="0" lIns="0" bIns="0" rIns="0">
            <a:spAutoFit/>
          </a:bodyPr>
          <a:lstStyle/>
          <a:p>
            <a:pPr algn="l" marL="302261" indent="-151130" lvl="1">
              <a:lnSpc>
                <a:spcPts val="2352"/>
              </a:lnSpc>
              <a:buFont typeface="Arial"/>
              <a:buChar char="•"/>
            </a:pPr>
            <a:r>
              <a:rPr lang="en-US" sz="1400">
                <a:solidFill>
                  <a:srgbClr val="292929"/>
                </a:solidFill>
                <a:latin typeface="Inter"/>
                <a:ea typeface="Inter"/>
                <a:cs typeface="Inter"/>
                <a:sym typeface="Inter"/>
              </a:rPr>
              <a:t>S</a:t>
            </a:r>
            <a:r>
              <a:rPr lang="en-US" sz="1400">
                <a:solidFill>
                  <a:srgbClr val="292929"/>
                </a:solidFill>
                <a:latin typeface="Inter"/>
                <a:ea typeface="Inter"/>
                <a:cs typeface="Inter"/>
                <a:sym typeface="Inter"/>
              </a:rPr>
              <a:t>calable websites for SMEs and NGOs</a:t>
            </a:r>
          </a:p>
          <a:p>
            <a:pPr algn="l" marL="302261" indent="-151130" lvl="1">
              <a:lnSpc>
                <a:spcPts val="2352"/>
              </a:lnSpc>
              <a:buFont typeface="Arial"/>
              <a:buChar char="•"/>
            </a:pPr>
            <a:r>
              <a:rPr lang="en-US" sz="1400">
                <a:solidFill>
                  <a:srgbClr val="292929"/>
                </a:solidFill>
                <a:latin typeface="Inter"/>
                <a:ea typeface="Inter"/>
                <a:cs typeface="Inter"/>
                <a:sym typeface="Inter"/>
              </a:rPr>
              <a:t>Reliable ICT support for hardware and networks</a:t>
            </a:r>
          </a:p>
          <a:p>
            <a:pPr algn="l" marL="302261" indent="-151130" lvl="1">
              <a:lnSpc>
                <a:spcPts val="2352"/>
              </a:lnSpc>
              <a:buFont typeface="Arial"/>
              <a:buChar char="•"/>
            </a:pPr>
            <a:r>
              <a:rPr lang="en-US" sz="1400">
                <a:solidFill>
                  <a:srgbClr val="292929"/>
                </a:solidFill>
                <a:latin typeface="Inter"/>
                <a:ea typeface="Inter"/>
                <a:cs typeface="Inter"/>
                <a:sym typeface="Inter"/>
              </a:rPr>
              <a:t>Strong digital branding for competitive positioning</a:t>
            </a:r>
          </a:p>
          <a:p>
            <a:pPr algn="l">
              <a:lnSpc>
                <a:spcPts val="2351"/>
              </a:lnSpc>
            </a:pPr>
          </a:p>
        </p:txBody>
      </p:sp>
      <p:sp>
        <p:nvSpPr>
          <p:cNvPr name="TextBox 22" id="22"/>
          <p:cNvSpPr txBox="true"/>
          <p:nvPr/>
        </p:nvSpPr>
        <p:spPr>
          <a:xfrm rot="0">
            <a:off x="1697154" y="8507653"/>
            <a:ext cx="2945657" cy="392430"/>
          </a:xfrm>
          <a:prstGeom prst="rect">
            <a:avLst/>
          </a:prstGeom>
        </p:spPr>
        <p:txBody>
          <a:bodyPr anchor="t" rtlCol="false" tIns="0" lIns="0" bIns="0" rIns="0">
            <a:spAutoFit/>
          </a:bodyPr>
          <a:lstStyle/>
          <a:p>
            <a:pPr algn="ctr">
              <a:lnSpc>
                <a:spcPts val="3024"/>
              </a:lnSpc>
            </a:pPr>
            <a:r>
              <a:rPr lang="en-US" b="true" sz="1800">
                <a:solidFill>
                  <a:srgbClr val="292929"/>
                </a:solidFill>
                <a:latin typeface="Inter Bold"/>
                <a:ea typeface="Inter Bold"/>
                <a:cs typeface="Inter Bold"/>
                <a:sym typeface="Inter Bold"/>
              </a:rPr>
              <a:t>80% More Efficient</a:t>
            </a:r>
          </a:p>
        </p:txBody>
      </p:sp>
      <p:sp>
        <p:nvSpPr>
          <p:cNvPr name="TextBox 23" id="23"/>
          <p:cNvSpPr txBox="true"/>
          <p:nvPr/>
        </p:nvSpPr>
        <p:spPr>
          <a:xfrm rot="0">
            <a:off x="677607" y="9518121"/>
            <a:ext cx="419288" cy="274320"/>
          </a:xfrm>
          <a:prstGeom prst="rect">
            <a:avLst/>
          </a:prstGeom>
        </p:spPr>
        <p:txBody>
          <a:bodyPr anchor="t" rtlCol="false" tIns="0" lIns="0" bIns="0" rIns="0">
            <a:spAutoFit/>
          </a:bodyPr>
          <a:lstStyle/>
          <a:p>
            <a:pPr algn="just">
              <a:lnSpc>
                <a:spcPts val="2014"/>
              </a:lnSpc>
            </a:pPr>
            <a:r>
              <a:rPr lang="en-US" sz="1200">
                <a:solidFill>
                  <a:srgbClr val="FFFFFF"/>
                </a:solidFill>
                <a:latin typeface="Inter Light"/>
                <a:ea typeface="Inter Light"/>
                <a:cs typeface="Inter Light"/>
                <a:sym typeface="Inter Light"/>
              </a:rPr>
              <a:t>07</a:t>
            </a:r>
          </a:p>
        </p:txBody>
      </p:sp>
      <p:sp>
        <p:nvSpPr>
          <p:cNvPr name="TextBox 24" id="24"/>
          <p:cNvSpPr txBox="true"/>
          <p:nvPr/>
        </p:nvSpPr>
        <p:spPr>
          <a:xfrm rot="0">
            <a:off x="5729049" y="5425247"/>
            <a:ext cx="3043200" cy="424376"/>
          </a:xfrm>
          <a:prstGeom prst="rect">
            <a:avLst/>
          </a:prstGeom>
        </p:spPr>
        <p:txBody>
          <a:bodyPr anchor="t" rtlCol="false" tIns="0" lIns="0" bIns="0" rIns="0">
            <a:spAutoFit/>
          </a:bodyPr>
          <a:lstStyle/>
          <a:p>
            <a:pPr algn="l">
              <a:lnSpc>
                <a:spcPts val="3528"/>
              </a:lnSpc>
            </a:pPr>
            <a:r>
              <a:rPr lang="en-US" b="true" sz="2100">
                <a:solidFill>
                  <a:srgbClr val="FFFFFF"/>
                </a:solidFill>
                <a:latin typeface="Inter Bold"/>
                <a:ea typeface="Inter Bold"/>
                <a:cs typeface="Inter Bold"/>
                <a:sym typeface="Inter Bold"/>
              </a:rPr>
              <a:t>S</a:t>
            </a:r>
            <a:r>
              <a:rPr lang="en-US" b="true" sz="2100">
                <a:solidFill>
                  <a:srgbClr val="FFFFFF"/>
                </a:solidFill>
                <a:latin typeface="Inter Bold"/>
                <a:ea typeface="Inter Bold"/>
                <a:cs typeface="Inter Bold"/>
                <a:sym typeface="Inter Bold"/>
              </a:rPr>
              <a:t>ocial Impact</a:t>
            </a:r>
          </a:p>
        </p:txBody>
      </p:sp>
      <p:sp>
        <p:nvSpPr>
          <p:cNvPr name="TextBox 25" id="25"/>
          <p:cNvSpPr txBox="true"/>
          <p:nvPr/>
        </p:nvSpPr>
        <p:spPr>
          <a:xfrm rot="0">
            <a:off x="5728999" y="6411157"/>
            <a:ext cx="2632500" cy="2048256"/>
          </a:xfrm>
          <a:prstGeom prst="rect">
            <a:avLst/>
          </a:prstGeom>
        </p:spPr>
        <p:txBody>
          <a:bodyPr anchor="t" rtlCol="false" tIns="0" lIns="0" bIns="0" rIns="0">
            <a:spAutoFit/>
          </a:bodyPr>
          <a:lstStyle/>
          <a:p>
            <a:pPr algn="l" marL="302261" indent="-151130" lvl="1">
              <a:lnSpc>
                <a:spcPts val="2352"/>
              </a:lnSpc>
              <a:buFont typeface="Arial"/>
              <a:buChar char="•"/>
            </a:pPr>
            <a:r>
              <a:rPr lang="en-US" sz="1400">
                <a:solidFill>
                  <a:srgbClr val="FFFFFF"/>
                </a:solidFill>
                <a:latin typeface="Inter"/>
                <a:ea typeface="Inter"/>
                <a:cs typeface="Inter"/>
                <a:sym typeface="Inter"/>
              </a:rPr>
              <a:t>JAWS-bas</a:t>
            </a:r>
            <a:r>
              <a:rPr lang="en-US" sz="1400">
                <a:solidFill>
                  <a:srgbClr val="FFFFFF"/>
                </a:solidFill>
                <a:latin typeface="Inter"/>
                <a:ea typeface="Inter"/>
                <a:cs typeface="Inter"/>
                <a:sym typeface="Inter"/>
              </a:rPr>
              <a:t>ed ICT training for the visually impaired</a:t>
            </a:r>
          </a:p>
          <a:p>
            <a:pPr algn="l" marL="302261" indent="-151130" lvl="1">
              <a:lnSpc>
                <a:spcPts val="2352"/>
              </a:lnSpc>
              <a:buFont typeface="Arial"/>
              <a:buChar char="•"/>
            </a:pPr>
            <a:r>
              <a:rPr lang="en-US" sz="1400">
                <a:solidFill>
                  <a:srgbClr val="FFFFFF"/>
                </a:solidFill>
                <a:latin typeface="Inter"/>
                <a:ea typeface="Inter"/>
                <a:cs typeface="Inter"/>
                <a:sym typeface="Inter"/>
              </a:rPr>
              <a:t>Inclusive file navigation and screen reader setups</a:t>
            </a:r>
          </a:p>
          <a:p>
            <a:pPr algn="l" marL="302261" indent="-151130" lvl="1">
              <a:lnSpc>
                <a:spcPts val="2352"/>
              </a:lnSpc>
              <a:buFont typeface="Arial"/>
              <a:buChar char="•"/>
            </a:pPr>
            <a:r>
              <a:rPr lang="en-US" sz="1400">
                <a:solidFill>
                  <a:srgbClr val="FFFFFF"/>
                </a:solidFill>
                <a:latin typeface="Inter"/>
                <a:ea typeface="Inter"/>
                <a:cs typeface="Inter"/>
                <a:sym typeface="Inter"/>
              </a:rPr>
              <a:t>Affordable digital skills workshops for youth</a:t>
            </a:r>
          </a:p>
          <a:p>
            <a:pPr algn="l">
              <a:lnSpc>
                <a:spcPts val="2351"/>
              </a:lnSpc>
            </a:pPr>
          </a:p>
        </p:txBody>
      </p:sp>
      <p:sp>
        <p:nvSpPr>
          <p:cNvPr name="TextBox 26" id="26"/>
          <p:cNvSpPr txBox="true"/>
          <p:nvPr/>
        </p:nvSpPr>
        <p:spPr>
          <a:xfrm rot="0">
            <a:off x="1228783" y="590519"/>
            <a:ext cx="2451314"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TextBox 27" id="27"/>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
        <p:nvSpPr>
          <p:cNvPr name="Freeform 28" id="28"/>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21"/>
            <a:stretch>
              <a:fillRect l="0" t="0" r="0" b="0"/>
            </a:stretch>
          </a:blipFill>
        </p:spPr>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Freeform 3" id="3"/>
          <p:cNvSpPr/>
          <p:nvPr/>
        </p:nvSpPr>
        <p:spPr>
          <a:xfrm flipH="false" flipV="false" rot="0">
            <a:off x="1980208" y="5143500"/>
            <a:ext cx="3037391" cy="3843815"/>
          </a:xfrm>
          <a:custGeom>
            <a:avLst/>
            <a:gdLst/>
            <a:ahLst/>
            <a:cxnLst/>
            <a:rect r="r" b="b" t="t" l="l"/>
            <a:pathLst>
              <a:path h="3843815" w="3037391">
                <a:moveTo>
                  <a:pt x="0" y="0"/>
                </a:moveTo>
                <a:lnTo>
                  <a:pt x="3037391" y="0"/>
                </a:lnTo>
                <a:lnTo>
                  <a:pt x="3037391" y="3843815"/>
                </a:lnTo>
                <a:lnTo>
                  <a:pt x="0" y="38438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555697" y="5143500"/>
            <a:ext cx="3037391" cy="3843815"/>
          </a:xfrm>
          <a:custGeom>
            <a:avLst/>
            <a:gdLst/>
            <a:ahLst/>
            <a:cxnLst/>
            <a:rect r="r" b="b" t="t" l="l"/>
            <a:pathLst>
              <a:path h="3843815" w="3037391">
                <a:moveTo>
                  <a:pt x="0" y="0"/>
                </a:moveTo>
                <a:lnTo>
                  <a:pt x="3037391" y="0"/>
                </a:lnTo>
                <a:lnTo>
                  <a:pt x="3037391" y="3843815"/>
                </a:lnTo>
                <a:lnTo>
                  <a:pt x="0" y="38438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176383" y="6081337"/>
            <a:ext cx="2545200" cy="2343531"/>
          </a:xfrm>
          <a:prstGeom prst="rect">
            <a:avLst/>
          </a:prstGeom>
        </p:spPr>
        <p:txBody>
          <a:bodyPr anchor="t" rtlCol="false" tIns="0" lIns="0" bIns="0" rIns="0">
            <a:spAutoFit/>
          </a:bodyPr>
          <a:lstStyle/>
          <a:p>
            <a:pPr algn="l" marL="320041" indent="-106680" lvl="2">
              <a:lnSpc>
                <a:spcPts val="2352"/>
              </a:lnSpc>
              <a:buFont typeface="Arial"/>
              <a:buChar char="⚬"/>
            </a:pPr>
            <a:r>
              <a:rPr lang="en-US" sz="1400">
                <a:solidFill>
                  <a:srgbClr val="292929"/>
                </a:solidFill>
                <a:latin typeface="Inter"/>
                <a:ea typeface="Inter"/>
                <a:cs typeface="Inter"/>
                <a:sym typeface="Inter"/>
              </a:rPr>
              <a:t>B</a:t>
            </a:r>
            <a:r>
              <a:rPr lang="en-US" sz="1400">
                <a:solidFill>
                  <a:srgbClr val="292929"/>
                </a:solidFill>
                <a:latin typeface="Inter"/>
                <a:ea typeface="Inter"/>
                <a:cs typeface="Inter"/>
                <a:sym typeface="Inter"/>
              </a:rPr>
              <a:t>road ICT services, including AI tools.</a:t>
            </a:r>
          </a:p>
          <a:p>
            <a:pPr algn="l" marL="320042" indent="-106681" lvl="2">
              <a:lnSpc>
                <a:spcPts val="2352"/>
              </a:lnSpc>
              <a:buFont typeface="Arial"/>
              <a:buChar char="⚬"/>
            </a:pPr>
            <a:r>
              <a:rPr lang="en-US" sz="1400">
                <a:solidFill>
                  <a:srgbClr val="292929"/>
                </a:solidFill>
                <a:latin typeface="Inter"/>
                <a:ea typeface="Inter"/>
                <a:cs typeface="Inter"/>
                <a:sym typeface="Inter"/>
              </a:rPr>
              <a:t>Inclusive tech for the visually impaired.</a:t>
            </a:r>
          </a:p>
          <a:p>
            <a:pPr algn="l" marL="320041" indent="-106680" lvl="2">
              <a:lnSpc>
                <a:spcPts val="2352"/>
              </a:lnSpc>
              <a:buFont typeface="Arial"/>
              <a:buChar char="⚬"/>
            </a:pPr>
            <a:r>
              <a:rPr lang="en-US" sz="1400">
                <a:solidFill>
                  <a:srgbClr val="292929"/>
                </a:solidFill>
                <a:latin typeface="Inter"/>
                <a:ea typeface="Inter"/>
                <a:cs typeface="Inter"/>
                <a:sym typeface="Inter"/>
              </a:rPr>
              <a:t>Affordable, high-value pricing.</a:t>
            </a:r>
          </a:p>
          <a:p>
            <a:pPr algn="l" marL="320041" indent="-106680" lvl="2">
              <a:lnSpc>
                <a:spcPts val="2351"/>
              </a:lnSpc>
              <a:buFont typeface="Arial"/>
              <a:buChar char="⚬"/>
            </a:pPr>
            <a:r>
              <a:rPr lang="en-US" sz="1399">
                <a:solidFill>
                  <a:srgbClr val="292929"/>
                </a:solidFill>
                <a:latin typeface="Inter"/>
                <a:ea typeface="Inter"/>
                <a:cs typeface="Inter"/>
                <a:sym typeface="Inter"/>
              </a:rPr>
              <a:t>Cli</a:t>
            </a:r>
            <a:r>
              <a:rPr lang="en-US" sz="1399">
                <a:solidFill>
                  <a:srgbClr val="292929"/>
                </a:solidFill>
                <a:latin typeface="Inter"/>
                <a:ea typeface="Inter"/>
                <a:cs typeface="Inter"/>
                <a:sym typeface="Inter"/>
              </a:rPr>
              <a:t>ent-focused, tailored solutions.</a:t>
            </a:r>
          </a:p>
        </p:txBody>
      </p:sp>
      <p:sp>
        <p:nvSpPr>
          <p:cNvPr name="TextBox 6" id="6"/>
          <p:cNvSpPr txBox="true"/>
          <p:nvPr/>
        </p:nvSpPr>
        <p:spPr>
          <a:xfrm rot="0">
            <a:off x="677607" y="1788847"/>
            <a:ext cx="7764454" cy="2893238"/>
          </a:xfrm>
          <a:prstGeom prst="rect">
            <a:avLst/>
          </a:prstGeom>
        </p:spPr>
        <p:txBody>
          <a:bodyPr anchor="t" rtlCol="false" tIns="0" lIns="0" bIns="0" rIns="0">
            <a:spAutoFit/>
          </a:bodyPr>
          <a:lstStyle/>
          <a:p>
            <a:pPr algn="l">
              <a:lnSpc>
                <a:spcPts val="11553"/>
              </a:lnSpc>
            </a:pPr>
            <a:r>
              <a:rPr lang="en-US" b="true" sz="8300">
                <a:solidFill>
                  <a:srgbClr val="FFFFFF"/>
                </a:solidFill>
                <a:latin typeface="Inter Bold"/>
                <a:ea typeface="Inter Bold"/>
                <a:cs typeface="Inter Bold"/>
                <a:sym typeface="Inter Bold"/>
              </a:rPr>
              <a:t>SWOT</a:t>
            </a:r>
          </a:p>
          <a:p>
            <a:pPr algn="l">
              <a:lnSpc>
                <a:spcPts val="11553"/>
              </a:lnSpc>
            </a:pPr>
            <a:r>
              <a:rPr lang="en-US" b="true" sz="8300">
                <a:solidFill>
                  <a:srgbClr val="FFFFFF"/>
                </a:solidFill>
                <a:latin typeface="Inter Bold"/>
                <a:ea typeface="Inter Bold"/>
                <a:cs typeface="Inter Bold"/>
                <a:sym typeface="Inter Bold"/>
              </a:rPr>
              <a:t>ANALYSIS</a:t>
            </a:r>
          </a:p>
        </p:txBody>
      </p:sp>
      <p:sp>
        <p:nvSpPr>
          <p:cNvPr name="Freeform 7" id="7"/>
          <p:cNvSpPr/>
          <p:nvPr/>
        </p:nvSpPr>
        <p:spPr>
          <a:xfrm flipH="false" flipV="false" rot="0">
            <a:off x="7948115" y="8360307"/>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8" id="8"/>
          <p:cNvGrpSpPr/>
          <p:nvPr/>
        </p:nvGrpSpPr>
        <p:grpSpPr>
          <a:xfrm rot="0">
            <a:off x="8086879" y="8499071"/>
            <a:ext cx="205502" cy="205502"/>
            <a:chOff x="0" y="0"/>
            <a:chExt cx="274003" cy="274003"/>
          </a:xfrm>
        </p:grpSpPr>
        <p:sp>
          <p:nvSpPr>
            <p:cNvPr name="Freeform 9" id="9"/>
            <p:cNvSpPr/>
            <p:nvPr/>
          </p:nvSpPr>
          <p:spPr>
            <a:xfrm flipH="false" flipV="false" rot="0">
              <a:off x="0" y="0"/>
              <a:ext cx="273939" cy="274066"/>
            </a:xfrm>
            <a:custGeom>
              <a:avLst/>
              <a:gdLst/>
              <a:ahLst/>
              <a:cxnLst/>
              <a:rect r="r" b="b" t="t" l="l"/>
              <a:pathLst>
                <a:path h="274066" w="273939">
                  <a:moveTo>
                    <a:pt x="0" y="0"/>
                  </a:moveTo>
                  <a:lnTo>
                    <a:pt x="273939" y="0"/>
                  </a:lnTo>
                  <a:lnTo>
                    <a:pt x="273939" y="274066"/>
                  </a:lnTo>
                  <a:lnTo>
                    <a:pt x="0" y="274066"/>
                  </a:lnTo>
                  <a:lnTo>
                    <a:pt x="0" y="0"/>
                  </a:lnTo>
                  <a:close/>
                </a:path>
              </a:pathLst>
            </a:custGeom>
            <a:blipFill>
              <a:blip r:embed="rId9"/>
              <a:stretch>
                <a:fillRect l="0" t="0" r="-23" b="23"/>
              </a:stretch>
            </a:blipFill>
          </p:spPr>
        </p:sp>
      </p:grpSp>
      <p:sp>
        <p:nvSpPr>
          <p:cNvPr name="Freeform 10" id="10"/>
          <p:cNvSpPr/>
          <p:nvPr/>
        </p:nvSpPr>
        <p:spPr>
          <a:xfrm flipH="false" flipV="false" rot="0">
            <a:off x="4377346" y="8360307"/>
            <a:ext cx="483047" cy="483047"/>
          </a:xfrm>
          <a:custGeom>
            <a:avLst/>
            <a:gdLst/>
            <a:ahLst/>
            <a:cxnLst/>
            <a:rect r="r" b="b" t="t" l="l"/>
            <a:pathLst>
              <a:path h="483047" w="483047">
                <a:moveTo>
                  <a:pt x="0" y="0"/>
                </a:moveTo>
                <a:lnTo>
                  <a:pt x="483047" y="0"/>
                </a:lnTo>
                <a:lnTo>
                  <a:pt x="483047" y="483047"/>
                </a:lnTo>
                <a:lnTo>
                  <a:pt x="0" y="48304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4516109" y="8499071"/>
            <a:ext cx="205502" cy="205502"/>
            <a:chOff x="0" y="0"/>
            <a:chExt cx="274003" cy="274003"/>
          </a:xfrm>
        </p:grpSpPr>
        <p:sp>
          <p:nvSpPr>
            <p:cNvPr name="Freeform 12" id="12"/>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9"/>
              <a:stretch>
                <a:fillRect l="0" t="0" r="23" b="23"/>
              </a:stretch>
            </a:blipFill>
          </p:spPr>
        </p:sp>
      </p:grpSp>
      <p:sp>
        <p:nvSpPr>
          <p:cNvPr name="Freeform 13" id="13"/>
          <p:cNvSpPr/>
          <p:nvPr/>
        </p:nvSpPr>
        <p:spPr>
          <a:xfrm flipH="false" flipV="false" rot="0">
            <a:off x="16465160" y="1563631"/>
            <a:ext cx="2941852" cy="3070150"/>
          </a:xfrm>
          <a:custGeom>
            <a:avLst/>
            <a:gdLst/>
            <a:ahLst/>
            <a:cxnLst/>
            <a:rect r="r" b="b" t="t" l="l"/>
            <a:pathLst>
              <a:path h="3070150" w="2941852">
                <a:moveTo>
                  <a:pt x="0" y="0"/>
                </a:moveTo>
                <a:lnTo>
                  <a:pt x="2941852" y="0"/>
                </a:lnTo>
                <a:lnTo>
                  <a:pt x="2941852" y="3070150"/>
                </a:lnTo>
                <a:lnTo>
                  <a:pt x="0" y="30701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12"/>
            <a:stretch>
              <a:fillRect l="0" t="0" r="0" b="0"/>
            </a:stretch>
          </a:blipFill>
        </p:spPr>
      </p:sp>
      <p:grpSp>
        <p:nvGrpSpPr>
          <p:cNvPr name="Group 15" id="15"/>
          <p:cNvGrpSpPr/>
          <p:nvPr/>
        </p:nvGrpSpPr>
        <p:grpSpPr>
          <a:xfrm rot="0">
            <a:off x="8253862" y="1672127"/>
            <a:ext cx="7480771" cy="3271348"/>
            <a:chOff x="0" y="0"/>
            <a:chExt cx="9974361" cy="4361797"/>
          </a:xfrm>
        </p:grpSpPr>
        <p:grpSp>
          <p:nvGrpSpPr>
            <p:cNvPr name="Group 16" id="16"/>
            <p:cNvGrpSpPr/>
            <p:nvPr/>
          </p:nvGrpSpPr>
          <p:grpSpPr>
            <a:xfrm rot="0">
              <a:off x="0" y="0"/>
              <a:ext cx="9974361" cy="4361797"/>
              <a:chOff x="0" y="0"/>
              <a:chExt cx="9974361" cy="4361797"/>
            </a:xfrm>
          </p:grpSpPr>
          <p:sp>
            <p:nvSpPr>
              <p:cNvPr name="Freeform 17" id="17"/>
              <p:cNvSpPr/>
              <p:nvPr/>
            </p:nvSpPr>
            <p:spPr>
              <a:xfrm flipH="false" flipV="false" rot="0">
                <a:off x="0" y="0"/>
                <a:ext cx="9974453" cy="4361863"/>
              </a:xfrm>
              <a:custGeom>
                <a:avLst/>
                <a:gdLst/>
                <a:ahLst/>
                <a:cxnLst/>
                <a:rect r="r" b="b" t="t" l="l"/>
                <a:pathLst>
                  <a:path h="4361863" w="9974453">
                    <a:moveTo>
                      <a:pt x="204089" y="0"/>
                    </a:moveTo>
                    <a:lnTo>
                      <a:pt x="9770364" y="0"/>
                    </a:lnTo>
                    <a:cubicBezTo>
                      <a:pt x="9883013" y="0"/>
                      <a:pt x="9974453" y="100861"/>
                      <a:pt x="9974453" y="225430"/>
                    </a:cubicBezTo>
                    <a:lnTo>
                      <a:pt x="9974453" y="4136440"/>
                    </a:lnTo>
                    <a:cubicBezTo>
                      <a:pt x="9974453" y="4260869"/>
                      <a:pt x="9883140" y="4361863"/>
                      <a:pt x="9770364" y="4361863"/>
                    </a:cubicBezTo>
                    <a:lnTo>
                      <a:pt x="204089" y="4361863"/>
                    </a:lnTo>
                    <a:cubicBezTo>
                      <a:pt x="91313" y="4361730"/>
                      <a:pt x="0" y="4260869"/>
                      <a:pt x="0" y="4136440"/>
                    </a:cubicBezTo>
                    <a:lnTo>
                      <a:pt x="0" y="225430"/>
                    </a:lnTo>
                    <a:cubicBezTo>
                      <a:pt x="0" y="100861"/>
                      <a:pt x="91313" y="0"/>
                      <a:pt x="204089" y="0"/>
                    </a:cubicBezTo>
                    <a:close/>
                  </a:path>
                </a:pathLst>
              </a:custGeom>
              <a:blipFill>
                <a:blip r:embed="rId13"/>
                <a:stretch>
                  <a:fillRect l="0" t="-8831" r="0" b="-8831"/>
                </a:stretch>
              </a:blipFill>
            </p:spPr>
          </p:sp>
        </p:grpSp>
        <p:grpSp>
          <p:nvGrpSpPr>
            <p:cNvPr name="Group 18" id="18"/>
            <p:cNvGrpSpPr/>
            <p:nvPr/>
          </p:nvGrpSpPr>
          <p:grpSpPr>
            <a:xfrm rot="0">
              <a:off x="7316208" y="3631467"/>
              <a:ext cx="1940091" cy="634811"/>
              <a:chOff x="0" y="0"/>
              <a:chExt cx="383228" cy="125395"/>
            </a:xfrm>
          </p:grpSpPr>
          <p:sp>
            <p:nvSpPr>
              <p:cNvPr name="Freeform 19" id="19"/>
              <p:cNvSpPr/>
              <p:nvPr/>
            </p:nvSpPr>
            <p:spPr>
              <a:xfrm flipH="false" flipV="false" rot="0">
                <a:off x="0" y="0"/>
                <a:ext cx="383228" cy="125395"/>
              </a:xfrm>
              <a:custGeom>
                <a:avLst/>
                <a:gdLst/>
                <a:ahLst/>
                <a:cxnLst/>
                <a:rect r="r" b="b" t="t" l="l"/>
                <a:pathLst>
                  <a:path h="125395" w="383228">
                    <a:moveTo>
                      <a:pt x="0" y="0"/>
                    </a:moveTo>
                    <a:lnTo>
                      <a:pt x="383228" y="0"/>
                    </a:lnTo>
                    <a:lnTo>
                      <a:pt x="383228" y="125395"/>
                    </a:lnTo>
                    <a:lnTo>
                      <a:pt x="0" y="125395"/>
                    </a:lnTo>
                    <a:close/>
                  </a:path>
                </a:pathLst>
              </a:custGeom>
              <a:solidFill>
                <a:srgbClr val="CAE2F6"/>
              </a:solidFill>
            </p:spPr>
          </p:sp>
          <p:sp>
            <p:nvSpPr>
              <p:cNvPr name="TextBox 20" id="20"/>
              <p:cNvSpPr txBox="true"/>
              <p:nvPr/>
            </p:nvSpPr>
            <p:spPr>
              <a:xfrm>
                <a:off x="0" y="-85725"/>
                <a:ext cx="383228" cy="211120"/>
              </a:xfrm>
              <a:prstGeom prst="rect">
                <a:avLst/>
              </a:prstGeom>
            </p:spPr>
            <p:txBody>
              <a:bodyPr anchor="ctr" rtlCol="false" tIns="50800" lIns="50800" bIns="50800" rIns="50800"/>
              <a:lstStyle/>
              <a:p>
                <a:pPr algn="ctr">
                  <a:lnSpc>
                    <a:spcPts val="2825"/>
                  </a:lnSpc>
                </a:pPr>
              </a:p>
            </p:txBody>
          </p:sp>
        </p:grpSp>
      </p:grpSp>
      <p:sp>
        <p:nvSpPr>
          <p:cNvPr name="TextBox 21" id="21"/>
          <p:cNvSpPr txBox="true"/>
          <p:nvPr/>
        </p:nvSpPr>
        <p:spPr>
          <a:xfrm rot="0">
            <a:off x="2303521" y="5520872"/>
            <a:ext cx="2221200" cy="427875"/>
          </a:xfrm>
          <a:prstGeom prst="rect">
            <a:avLst/>
          </a:prstGeom>
        </p:spPr>
        <p:txBody>
          <a:bodyPr anchor="t" rtlCol="false" tIns="0" lIns="0" bIns="0" rIns="0">
            <a:spAutoFit/>
          </a:bodyPr>
          <a:lstStyle/>
          <a:p>
            <a:pPr algn="l">
              <a:lnSpc>
                <a:spcPts val="3528"/>
              </a:lnSpc>
            </a:pPr>
            <a:r>
              <a:rPr lang="en-US" b="true" sz="2100">
                <a:solidFill>
                  <a:srgbClr val="292929"/>
                </a:solidFill>
                <a:latin typeface="Inter Bold"/>
                <a:ea typeface="Inter Bold"/>
                <a:cs typeface="Inter Bold"/>
                <a:sym typeface="Inter Bold"/>
              </a:rPr>
              <a:t>Strengths</a:t>
            </a:r>
          </a:p>
        </p:txBody>
      </p:sp>
      <p:sp>
        <p:nvSpPr>
          <p:cNvPr name="TextBox 22" id="22"/>
          <p:cNvSpPr txBox="true"/>
          <p:nvPr/>
        </p:nvSpPr>
        <p:spPr>
          <a:xfrm rot="0">
            <a:off x="5879006" y="5520872"/>
            <a:ext cx="2221200" cy="427875"/>
          </a:xfrm>
          <a:prstGeom prst="rect">
            <a:avLst/>
          </a:prstGeom>
        </p:spPr>
        <p:txBody>
          <a:bodyPr anchor="t" rtlCol="false" tIns="0" lIns="0" bIns="0" rIns="0">
            <a:spAutoFit/>
          </a:bodyPr>
          <a:lstStyle/>
          <a:p>
            <a:pPr algn="l">
              <a:lnSpc>
                <a:spcPts val="3528"/>
              </a:lnSpc>
            </a:pPr>
            <a:r>
              <a:rPr lang="en-US" b="true" sz="2100">
                <a:solidFill>
                  <a:srgbClr val="292929"/>
                </a:solidFill>
                <a:latin typeface="Inter Bold"/>
                <a:ea typeface="Inter Bold"/>
                <a:cs typeface="Inter Bold"/>
                <a:sym typeface="Inter Bold"/>
              </a:rPr>
              <a:t>Weaknesses</a:t>
            </a:r>
          </a:p>
        </p:txBody>
      </p:sp>
      <p:grpSp>
        <p:nvGrpSpPr>
          <p:cNvPr name="Group 23" id="23"/>
          <p:cNvGrpSpPr/>
          <p:nvPr/>
        </p:nvGrpSpPr>
        <p:grpSpPr>
          <a:xfrm rot="0">
            <a:off x="12675109" y="5143500"/>
            <a:ext cx="3361706" cy="3843815"/>
            <a:chOff x="0" y="0"/>
            <a:chExt cx="4482275" cy="5125087"/>
          </a:xfrm>
        </p:grpSpPr>
        <p:sp>
          <p:nvSpPr>
            <p:cNvPr name="Freeform 24" id="24"/>
            <p:cNvSpPr/>
            <p:nvPr/>
          </p:nvSpPr>
          <p:spPr>
            <a:xfrm flipH="false" flipV="false" rot="0">
              <a:off x="0" y="0"/>
              <a:ext cx="4049855" cy="5125087"/>
            </a:xfrm>
            <a:custGeom>
              <a:avLst/>
              <a:gdLst/>
              <a:ahLst/>
              <a:cxnLst/>
              <a:rect r="r" b="b" t="t" l="l"/>
              <a:pathLst>
                <a:path h="5125087" w="4049855">
                  <a:moveTo>
                    <a:pt x="0" y="0"/>
                  </a:moveTo>
                  <a:lnTo>
                    <a:pt x="4049855" y="0"/>
                  </a:lnTo>
                  <a:lnTo>
                    <a:pt x="4049855" y="5125087"/>
                  </a:lnTo>
                  <a:lnTo>
                    <a:pt x="0" y="512508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5" id="25"/>
            <p:cNvSpPr txBox="true"/>
            <p:nvPr/>
          </p:nvSpPr>
          <p:spPr>
            <a:xfrm rot="0">
              <a:off x="261541" y="1272690"/>
              <a:ext cx="3381831" cy="3102483"/>
            </a:xfrm>
            <a:prstGeom prst="rect">
              <a:avLst/>
            </a:prstGeom>
          </p:spPr>
          <p:txBody>
            <a:bodyPr anchor="t" rtlCol="false" tIns="0" lIns="0" bIns="0" rIns="0">
              <a:spAutoFit/>
            </a:bodyPr>
            <a:lstStyle/>
            <a:p>
              <a:pPr algn="l" marL="320041" indent="-106680" lvl="2">
                <a:lnSpc>
                  <a:spcPts val="2352"/>
                </a:lnSpc>
                <a:buFont typeface="Arial"/>
                <a:buChar char="⚬"/>
              </a:pPr>
              <a:r>
                <a:rPr lang="en-US" sz="1400">
                  <a:solidFill>
                    <a:srgbClr val="292929"/>
                  </a:solidFill>
                  <a:latin typeface="Inter"/>
                  <a:ea typeface="Inter"/>
                  <a:cs typeface="Inter"/>
                  <a:sym typeface="Inter"/>
                </a:rPr>
                <a:t>Growing </a:t>
              </a:r>
              <a:r>
                <a:rPr lang="en-US" sz="1400">
                  <a:solidFill>
                    <a:srgbClr val="292929"/>
                  </a:solidFill>
                  <a:latin typeface="Inter"/>
                  <a:ea typeface="Inter"/>
                  <a:cs typeface="Inter"/>
                  <a:sym typeface="Inter"/>
                </a:rPr>
                <a:t>cloud service demand.</a:t>
              </a:r>
            </a:p>
            <a:p>
              <a:pPr algn="l" marL="320042" indent="-106681" lvl="2">
                <a:lnSpc>
                  <a:spcPts val="2352"/>
                </a:lnSpc>
                <a:buFont typeface="Arial"/>
                <a:buChar char="⚬"/>
              </a:pPr>
              <a:r>
                <a:rPr lang="en-US" sz="1400">
                  <a:solidFill>
                    <a:srgbClr val="292929"/>
                  </a:solidFill>
                  <a:latin typeface="Inter"/>
                  <a:ea typeface="Inter"/>
                  <a:cs typeface="Inter"/>
                  <a:sym typeface="Inter"/>
                </a:rPr>
                <a:t>Government and NGO partnerships.</a:t>
              </a:r>
            </a:p>
            <a:p>
              <a:pPr algn="l" marL="320041" indent="-106680" lvl="2">
                <a:lnSpc>
                  <a:spcPts val="2352"/>
                </a:lnSpc>
                <a:buFont typeface="Arial"/>
                <a:buChar char="⚬"/>
              </a:pPr>
              <a:r>
                <a:rPr lang="en-US" sz="1400">
                  <a:solidFill>
                    <a:srgbClr val="292929"/>
                  </a:solidFill>
                  <a:latin typeface="Inter"/>
                  <a:ea typeface="Inter"/>
                  <a:cs typeface="Inter"/>
                  <a:sym typeface="Inter"/>
                </a:rPr>
                <a:t>Rising AI marketing use.</a:t>
              </a:r>
            </a:p>
            <a:p>
              <a:pPr algn="l" marL="320041" indent="-106680" lvl="2">
                <a:lnSpc>
                  <a:spcPts val="2352"/>
                </a:lnSpc>
                <a:buFont typeface="Arial"/>
                <a:buChar char="⚬"/>
              </a:pPr>
              <a:r>
                <a:rPr lang="en-US" sz="1400">
                  <a:solidFill>
                    <a:srgbClr val="292929"/>
                  </a:solidFill>
                  <a:latin typeface="Inter"/>
                  <a:ea typeface="Inter"/>
                  <a:cs typeface="Inter"/>
                  <a:sym typeface="Inter"/>
                </a:rPr>
                <a:t>Online accessible learning</a:t>
              </a:r>
              <a:r>
                <a:rPr lang="en-US" sz="1400">
                  <a:solidFill>
                    <a:srgbClr val="292929"/>
                  </a:solidFill>
                  <a:latin typeface="Inter"/>
                  <a:ea typeface="Inter"/>
                  <a:cs typeface="Inter"/>
                  <a:sym typeface="Inter"/>
                </a:rPr>
                <a:t> growth.</a:t>
              </a:r>
            </a:p>
            <a:p>
              <a:pPr algn="l">
                <a:lnSpc>
                  <a:spcPts val="2351"/>
                </a:lnSpc>
              </a:pPr>
            </a:p>
          </p:txBody>
        </p:sp>
        <p:sp>
          <p:nvSpPr>
            <p:cNvPr name="Freeform 26" id="26"/>
            <p:cNvSpPr/>
            <p:nvPr/>
          </p:nvSpPr>
          <p:spPr>
            <a:xfrm flipH="false" flipV="false" rot="0">
              <a:off x="3184352" y="4289076"/>
              <a:ext cx="644039" cy="644039"/>
            </a:xfrm>
            <a:custGeom>
              <a:avLst/>
              <a:gdLst/>
              <a:ahLst/>
              <a:cxnLst/>
              <a:rect r="r" b="b" t="t" l="l"/>
              <a:pathLst>
                <a:path h="644039" w="644039">
                  <a:moveTo>
                    <a:pt x="0" y="0"/>
                  </a:moveTo>
                  <a:lnTo>
                    <a:pt x="644039" y="0"/>
                  </a:lnTo>
                  <a:lnTo>
                    <a:pt x="644039" y="644039"/>
                  </a:lnTo>
                  <a:lnTo>
                    <a:pt x="0" y="64403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7" id="27"/>
            <p:cNvGrpSpPr/>
            <p:nvPr/>
          </p:nvGrpSpPr>
          <p:grpSpPr>
            <a:xfrm rot="0">
              <a:off x="3369369" y="4474095"/>
              <a:ext cx="274003" cy="274003"/>
              <a:chOff x="0" y="0"/>
              <a:chExt cx="274003" cy="274003"/>
            </a:xfrm>
          </p:grpSpPr>
          <p:sp>
            <p:nvSpPr>
              <p:cNvPr name="Freeform 28" id="28"/>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9"/>
                <a:stretch>
                  <a:fillRect l="0" t="0" r="23" b="23"/>
                </a:stretch>
              </a:blipFill>
            </p:spPr>
          </p:sp>
        </p:grpSp>
        <p:sp>
          <p:nvSpPr>
            <p:cNvPr name="TextBox 29" id="29"/>
            <p:cNvSpPr txBox="true"/>
            <p:nvPr/>
          </p:nvSpPr>
          <p:spPr>
            <a:xfrm rot="0">
              <a:off x="431075" y="538088"/>
              <a:ext cx="4051200" cy="535575"/>
            </a:xfrm>
            <a:prstGeom prst="rect">
              <a:avLst/>
            </a:prstGeom>
          </p:spPr>
          <p:txBody>
            <a:bodyPr anchor="t" rtlCol="false" tIns="0" lIns="0" bIns="0" rIns="0">
              <a:spAutoFit/>
            </a:bodyPr>
            <a:lstStyle/>
            <a:p>
              <a:pPr algn="l">
                <a:lnSpc>
                  <a:spcPts val="3528"/>
                </a:lnSpc>
              </a:pPr>
              <a:r>
                <a:rPr lang="en-US" b="true" sz="2100">
                  <a:solidFill>
                    <a:srgbClr val="292929"/>
                  </a:solidFill>
                  <a:latin typeface="Inter Bold"/>
                  <a:ea typeface="Inter Bold"/>
                  <a:cs typeface="Inter Bold"/>
                  <a:sym typeface="Inter Bold"/>
                </a:rPr>
                <a:t>Opportunities</a:t>
              </a:r>
            </a:p>
          </p:txBody>
        </p:sp>
      </p:grpSp>
      <p:sp>
        <p:nvSpPr>
          <p:cNvPr name="TextBox 30" id="30"/>
          <p:cNvSpPr txBox="true"/>
          <p:nvPr/>
        </p:nvSpPr>
        <p:spPr>
          <a:xfrm rot="0">
            <a:off x="5751858" y="6081337"/>
            <a:ext cx="2334900" cy="1457706"/>
          </a:xfrm>
          <a:prstGeom prst="rect">
            <a:avLst/>
          </a:prstGeom>
        </p:spPr>
        <p:txBody>
          <a:bodyPr anchor="t" rtlCol="false" tIns="0" lIns="0" bIns="0" rIns="0">
            <a:spAutoFit/>
          </a:bodyPr>
          <a:lstStyle/>
          <a:p>
            <a:pPr algn="l" marL="320041" indent="-106680" lvl="2">
              <a:lnSpc>
                <a:spcPts val="2351"/>
              </a:lnSpc>
              <a:buFont typeface="Arial"/>
              <a:buChar char="⚬"/>
            </a:pPr>
            <a:r>
              <a:rPr lang="en-US" sz="1399">
                <a:solidFill>
                  <a:srgbClr val="292929"/>
                </a:solidFill>
                <a:latin typeface="Inter"/>
                <a:ea typeface="Inter"/>
                <a:cs typeface="Inter"/>
                <a:sym typeface="Inter"/>
              </a:rPr>
              <a:t>S</a:t>
            </a:r>
            <a:r>
              <a:rPr lang="en-US" sz="1399">
                <a:solidFill>
                  <a:srgbClr val="292929"/>
                </a:solidFill>
                <a:latin typeface="Inter"/>
                <a:ea typeface="Inter"/>
                <a:cs typeface="Inter"/>
                <a:sym typeface="Inter"/>
              </a:rPr>
              <a:t>mall team size.</a:t>
            </a:r>
          </a:p>
          <a:p>
            <a:pPr algn="l" marL="320041" indent="-106680" lvl="2">
              <a:lnSpc>
                <a:spcPts val="2352"/>
              </a:lnSpc>
              <a:buFont typeface="Arial"/>
              <a:buChar char="⚬"/>
            </a:pPr>
            <a:r>
              <a:rPr lang="en-US" sz="1400">
                <a:solidFill>
                  <a:srgbClr val="292929"/>
                </a:solidFill>
                <a:latin typeface="Inter"/>
                <a:ea typeface="Inter"/>
                <a:cs typeface="Inter"/>
                <a:sym typeface="Inter"/>
              </a:rPr>
              <a:t>Limited rural reach.</a:t>
            </a:r>
          </a:p>
          <a:p>
            <a:pPr algn="l" marL="320041" indent="-106680" lvl="2">
              <a:lnSpc>
                <a:spcPts val="2352"/>
              </a:lnSpc>
              <a:buFont typeface="Arial"/>
              <a:buChar char="⚬"/>
            </a:pPr>
            <a:r>
              <a:rPr lang="en-US" sz="1400">
                <a:solidFill>
                  <a:srgbClr val="292929"/>
                </a:solidFill>
                <a:latin typeface="Inter"/>
                <a:ea typeface="Inter"/>
                <a:cs typeface="Inter"/>
                <a:sym typeface="Inter"/>
              </a:rPr>
              <a:t>Internet dependency.</a:t>
            </a:r>
          </a:p>
          <a:p>
            <a:pPr algn="l" marL="320041" indent="-106680" lvl="2">
              <a:lnSpc>
                <a:spcPts val="2351"/>
              </a:lnSpc>
              <a:buFont typeface="Arial"/>
              <a:buChar char="⚬"/>
            </a:pPr>
            <a:r>
              <a:rPr lang="en-US" sz="1399">
                <a:solidFill>
                  <a:srgbClr val="292929"/>
                </a:solidFill>
                <a:latin typeface="Inter"/>
                <a:ea typeface="Inter"/>
                <a:cs typeface="Inter"/>
                <a:sym typeface="Inter"/>
              </a:rPr>
              <a:t>Ongoing staff training needed.</a:t>
            </a:r>
          </a:p>
        </p:txBody>
      </p:sp>
      <p:grpSp>
        <p:nvGrpSpPr>
          <p:cNvPr name="Group 31" id="31"/>
          <p:cNvGrpSpPr/>
          <p:nvPr/>
        </p:nvGrpSpPr>
        <p:grpSpPr>
          <a:xfrm rot="0">
            <a:off x="9126488" y="5143500"/>
            <a:ext cx="3037391" cy="3843815"/>
            <a:chOff x="0" y="0"/>
            <a:chExt cx="4049855" cy="5125087"/>
          </a:xfrm>
        </p:grpSpPr>
        <p:sp>
          <p:nvSpPr>
            <p:cNvPr name="Freeform 32" id="32"/>
            <p:cNvSpPr/>
            <p:nvPr/>
          </p:nvSpPr>
          <p:spPr>
            <a:xfrm flipH="false" flipV="false" rot="0">
              <a:off x="0" y="0"/>
              <a:ext cx="4049855" cy="5125087"/>
            </a:xfrm>
            <a:custGeom>
              <a:avLst/>
              <a:gdLst/>
              <a:ahLst/>
              <a:cxnLst/>
              <a:rect r="r" b="b" t="t" l="l"/>
              <a:pathLst>
                <a:path h="5125087" w="4049855">
                  <a:moveTo>
                    <a:pt x="0" y="0"/>
                  </a:moveTo>
                  <a:lnTo>
                    <a:pt x="4049855" y="0"/>
                  </a:lnTo>
                  <a:lnTo>
                    <a:pt x="4049855" y="5125087"/>
                  </a:lnTo>
                  <a:lnTo>
                    <a:pt x="0" y="512508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3" id="33"/>
            <p:cNvSpPr/>
            <p:nvPr/>
          </p:nvSpPr>
          <p:spPr>
            <a:xfrm flipH="false" flipV="false" rot="0">
              <a:off x="3197640" y="4289076"/>
              <a:ext cx="644039" cy="644039"/>
            </a:xfrm>
            <a:custGeom>
              <a:avLst/>
              <a:gdLst/>
              <a:ahLst/>
              <a:cxnLst/>
              <a:rect r="r" b="b" t="t" l="l"/>
              <a:pathLst>
                <a:path h="644039" w="644039">
                  <a:moveTo>
                    <a:pt x="0" y="0"/>
                  </a:moveTo>
                  <a:lnTo>
                    <a:pt x="644039" y="0"/>
                  </a:lnTo>
                  <a:lnTo>
                    <a:pt x="644039" y="644039"/>
                  </a:lnTo>
                  <a:lnTo>
                    <a:pt x="0" y="64403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34" id="34"/>
            <p:cNvGrpSpPr/>
            <p:nvPr/>
          </p:nvGrpSpPr>
          <p:grpSpPr>
            <a:xfrm rot="0">
              <a:off x="3382657" y="4474095"/>
              <a:ext cx="274003" cy="274003"/>
              <a:chOff x="0" y="0"/>
              <a:chExt cx="274003" cy="274003"/>
            </a:xfrm>
          </p:grpSpPr>
          <p:sp>
            <p:nvSpPr>
              <p:cNvPr name="Freeform 35" id="35"/>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9"/>
                <a:stretch>
                  <a:fillRect l="0" t="0" r="23" b="23"/>
                </a:stretch>
              </a:blipFill>
            </p:spPr>
          </p:sp>
        </p:grpSp>
        <p:sp>
          <p:nvSpPr>
            <p:cNvPr name="TextBox 36" id="36"/>
            <p:cNvSpPr txBox="true"/>
            <p:nvPr/>
          </p:nvSpPr>
          <p:spPr>
            <a:xfrm rot="0">
              <a:off x="431069" y="538088"/>
              <a:ext cx="2961600" cy="535575"/>
            </a:xfrm>
            <a:prstGeom prst="rect">
              <a:avLst/>
            </a:prstGeom>
          </p:spPr>
          <p:txBody>
            <a:bodyPr anchor="t" rtlCol="false" tIns="0" lIns="0" bIns="0" rIns="0">
              <a:spAutoFit/>
            </a:bodyPr>
            <a:lstStyle/>
            <a:p>
              <a:pPr algn="l">
                <a:lnSpc>
                  <a:spcPts val="3528"/>
                </a:lnSpc>
              </a:pPr>
              <a:r>
                <a:rPr lang="en-US" b="true" sz="2100">
                  <a:solidFill>
                    <a:srgbClr val="292929"/>
                  </a:solidFill>
                  <a:latin typeface="Inter Bold"/>
                  <a:ea typeface="Inter Bold"/>
                  <a:cs typeface="Inter Bold"/>
                  <a:sym typeface="Inter Bold"/>
                </a:rPr>
                <a:t>Threats</a:t>
              </a:r>
            </a:p>
          </p:txBody>
        </p:sp>
        <p:sp>
          <p:nvSpPr>
            <p:cNvPr name="TextBox 37" id="37"/>
            <p:cNvSpPr txBox="true"/>
            <p:nvPr/>
          </p:nvSpPr>
          <p:spPr>
            <a:xfrm rot="0">
              <a:off x="261523" y="1272674"/>
              <a:ext cx="2961600" cy="1921383"/>
            </a:xfrm>
            <a:prstGeom prst="rect">
              <a:avLst/>
            </a:prstGeom>
          </p:spPr>
          <p:txBody>
            <a:bodyPr anchor="t" rtlCol="false" tIns="0" lIns="0" bIns="0" rIns="0">
              <a:spAutoFit/>
            </a:bodyPr>
            <a:lstStyle/>
            <a:p>
              <a:pPr algn="l" marL="320041" indent="-106680" lvl="2">
                <a:lnSpc>
                  <a:spcPts val="2351"/>
                </a:lnSpc>
                <a:buFont typeface="Arial"/>
                <a:buChar char="⚬"/>
              </a:pPr>
              <a:r>
                <a:rPr lang="en-US" sz="1399">
                  <a:solidFill>
                    <a:srgbClr val="292929"/>
                  </a:solidFill>
                  <a:latin typeface="Inter"/>
                  <a:ea typeface="Inter"/>
                  <a:cs typeface="Inter"/>
                  <a:sym typeface="Inter"/>
                </a:rPr>
                <a:t>C</a:t>
              </a:r>
              <a:r>
                <a:rPr lang="en-US" sz="1399">
                  <a:solidFill>
                    <a:srgbClr val="292929"/>
                  </a:solidFill>
                  <a:latin typeface="Inter"/>
                  <a:ea typeface="Inter"/>
                  <a:cs typeface="Inter"/>
                  <a:sym typeface="Inter"/>
                </a:rPr>
                <a:t>ybersecurity challenges.</a:t>
              </a:r>
            </a:p>
            <a:p>
              <a:pPr algn="l" marL="320041" indent="-106680" lvl="2">
                <a:lnSpc>
                  <a:spcPts val="2352"/>
                </a:lnSpc>
                <a:buFont typeface="Arial"/>
                <a:buChar char="⚬"/>
              </a:pPr>
              <a:r>
                <a:rPr lang="en-US" sz="1400">
                  <a:solidFill>
                    <a:srgbClr val="292929"/>
                  </a:solidFill>
                  <a:latin typeface="Inter"/>
                  <a:ea typeface="Inter"/>
                  <a:cs typeface="Inter"/>
                  <a:sym typeface="Inter"/>
                </a:rPr>
                <a:t>Price competition.</a:t>
              </a:r>
            </a:p>
            <a:p>
              <a:pPr algn="l" marL="320041" indent="-106680" lvl="2">
                <a:lnSpc>
                  <a:spcPts val="2351"/>
                </a:lnSpc>
                <a:buFont typeface="Arial"/>
                <a:buChar char="⚬"/>
              </a:pPr>
              <a:r>
                <a:rPr lang="en-US" sz="1399">
                  <a:solidFill>
                    <a:srgbClr val="292929"/>
                  </a:solidFill>
                  <a:latin typeface="Inter"/>
                  <a:ea typeface="Inter"/>
                  <a:cs typeface="Inter"/>
                  <a:sym typeface="Inter"/>
                </a:rPr>
                <a:t>Poor rural internet.</a:t>
              </a:r>
            </a:p>
            <a:p>
              <a:pPr algn="l" marL="320041" indent="-106680" lvl="2">
                <a:lnSpc>
                  <a:spcPts val="2351"/>
                </a:lnSpc>
                <a:buFont typeface="Arial"/>
                <a:buChar char="⚬"/>
              </a:pPr>
              <a:r>
                <a:rPr lang="en-US" sz="1399">
                  <a:solidFill>
                    <a:srgbClr val="292929"/>
                  </a:solidFill>
                  <a:latin typeface="Inter"/>
                  <a:ea typeface="Inter"/>
                  <a:cs typeface="Inter"/>
                  <a:sym typeface="Inter"/>
                </a:rPr>
                <a:t>Rapid tech changes.</a:t>
              </a:r>
            </a:p>
          </p:txBody>
        </p:sp>
      </p:grpSp>
      <p:sp>
        <p:nvSpPr>
          <p:cNvPr name="TextBox 38" id="38"/>
          <p:cNvSpPr txBox="true"/>
          <p:nvPr/>
        </p:nvSpPr>
        <p:spPr>
          <a:xfrm rot="0">
            <a:off x="677607" y="9518121"/>
            <a:ext cx="419288" cy="274320"/>
          </a:xfrm>
          <a:prstGeom prst="rect">
            <a:avLst/>
          </a:prstGeom>
        </p:spPr>
        <p:txBody>
          <a:bodyPr anchor="t" rtlCol="false" tIns="0" lIns="0" bIns="0" rIns="0">
            <a:spAutoFit/>
          </a:bodyPr>
          <a:lstStyle/>
          <a:p>
            <a:pPr algn="just">
              <a:lnSpc>
                <a:spcPts val="2014"/>
              </a:lnSpc>
            </a:pPr>
            <a:r>
              <a:rPr lang="en-US" sz="1200">
                <a:solidFill>
                  <a:srgbClr val="FFFFFF"/>
                </a:solidFill>
                <a:latin typeface="Inter Light"/>
                <a:ea typeface="Inter Light"/>
                <a:cs typeface="Inter Light"/>
                <a:sym typeface="Inter Light"/>
              </a:rPr>
              <a:t>08</a:t>
            </a:r>
          </a:p>
        </p:txBody>
      </p:sp>
      <p:sp>
        <p:nvSpPr>
          <p:cNvPr name="TextBox 39" id="39"/>
          <p:cNvSpPr txBox="true"/>
          <p:nvPr/>
        </p:nvSpPr>
        <p:spPr>
          <a:xfrm rot="0">
            <a:off x="1228783" y="590519"/>
            <a:ext cx="2806681"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TextBox 40" id="40"/>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TextBox 3" id="3"/>
          <p:cNvSpPr txBox="true"/>
          <p:nvPr/>
        </p:nvSpPr>
        <p:spPr>
          <a:xfrm rot="0">
            <a:off x="747382" y="3059057"/>
            <a:ext cx="6930238" cy="2219305"/>
          </a:xfrm>
          <a:prstGeom prst="rect">
            <a:avLst/>
          </a:prstGeom>
        </p:spPr>
        <p:txBody>
          <a:bodyPr anchor="t" rtlCol="false" tIns="0" lIns="0" bIns="0" rIns="0">
            <a:spAutoFit/>
          </a:bodyPr>
          <a:lstStyle/>
          <a:p>
            <a:pPr algn="l">
              <a:lnSpc>
                <a:spcPts val="8777"/>
              </a:lnSpc>
            </a:pPr>
            <a:r>
              <a:rPr lang="en-US" b="true" sz="6360">
                <a:solidFill>
                  <a:srgbClr val="FFFFFF"/>
                </a:solidFill>
                <a:latin typeface="Inter Bold"/>
                <a:ea typeface="Inter Bold"/>
                <a:cs typeface="Inter Bold"/>
                <a:sym typeface="Inter Bold"/>
              </a:rPr>
              <a:t>OUR </a:t>
            </a:r>
          </a:p>
          <a:p>
            <a:pPr algn="l">
              <a:lnSpc>
                <a:spcPts val="8777"/>
              </a:lnSpc>
            </a:pPr>
            <a:r>
              <a:rPr lang="en-US" b="true" sz="6360">
                <a:solidFill>
                  <a:srgbClr val="FFFFFF"/>
                </a:solidFill>
                <a:latin typeface="Inter Bold"/>
                <a:ea typeface="Inter Bold"/>
                <a:cs typeface="Inter Bold"/>
                <a:sym typeface="Inter Bold"/>
              </a:rPr>
              <a:t>SERVICES</a:t>
            </a:r>
          </a:p>
        </p:txBody>
      </p:sp>
      <p:sp>
        <p:nvSpPr>
          <p:cNvPr name="Freeform 4" id="4"/>
          <p:cNvSpPr/>
          <p:nvPr/>
        </p:nvSpPr>
        <p:spPr>
          <a:xfrm flipH="false" flipV="false" rot="0">
            <a:off x="15570923" y="9537684"/>
            <a:ext cx="2039470" cy="1589323"/>
          </a:xfrm>
          <a:custGeom>
            <a:avLst/>
            <a:gdLst/>
            <a:ahLst/>
            <a:cxnLst/>
            <a:rect r="r" b="b" t="t" l="l"/>
            <a:pathLst>
              <a:path h="1589323" w="2039470">
                <a:moveTo>
                  <a:pt x="0" y="0"/>
                </a:moveTo>
                <a:lnTo>
                  <a:pt x="2039470" y="0"/>
                </a:lnTo>
                <a:lnTo>
                  <a:pt x="2039470" y="1589323"/>
                </a:lnTo>
                <a:lnTo>
                  <a:pt x="0" y="1589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1402706" y="9537684"/>
            <a:ext cx="3538961" cy="1589323"/>
          </a:xfrm>
          <a:custGeom>
            <a:avLst/>
            <a:gdLst/>
            <a:ahLst/>
            <a:cxnLst/>
            <a:rect r="r" b="b" t="t" l="l"/>
            <a:pathLst>
              <a:path h="1589323" w="3538961">
                <a:moveTo>
                  <a:pt x="0" y="0"/>
                </a:moveTo>
                <a:lnTo>
                  <a:pt x="3538961" y="0"/>
                </a:lnTo>
                <a:lnTo>
                  <a:pt x="3538961" y="1589323"/>
                </a:lnTo>
                <a:lnTo>
                  <a:pt x="0" y="15893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677607" y="9518121"/>
            <a:ext cx="419288" cy="274320"/>
          </a:xfrm>
          <a:prstGeom prst="rect">
            <a:avLst/>
          </a:prstGeom>
        </p:spPr>
        <p:txBody>
          <a:bodyPr anchor="t" rtlCol="false" tIns="0" lIns="0" bIns="0" rIns="0">
            <a:spAutoFit/>
          </a:bodyPr>
          <a:lstStyle/>
          <a:p>
            <a:pPr algn="just">
              <a:lnSpc>
                <a:spcPts val="2014"/>
              </a:lnSpc>
            </a:pPr>
            <a:r>
              <a:rPr lang="en-US" sz="1200">
                <a:solidFill>
                  <a:srgbClr val="FFFFFF"/>
                </a:solidFill>
                <a:latin typeface="Inter Light"/>
                <a:ea typeface="Inter Light"/>
                <a:cs typeface="Inter Light"/>
                <a:sym typeface="Inter Light"/>
              </a:rPr>
              <a:t>09</a:t>
            </a:r>
          </a:p>
        </p:txBody>
      </p:sp>
      <p:sp>
        <p:nvSpPr>
          <p:cNvPr name="TextBox 7" id="7"/>
          <p:cNvSpPr txBox="true"/>
          <p:nvPr/>
        </p:nvSpPr>
        <p:spPr>
          <a:xfrm rot="0">
            <a:off x="1228783" y="590519"/>
            <a:ext cx="2284082"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Freeform 8" id="8"/>
          <p:cNvSpPr/>
          <p:nvPr/>
        </p:nvSpPr>
        <p:spPr>
          <a:xfrm flipH="false" flipV="false" rot="0">
            <a:off x="9162397" y="5833189"/>
            <a:ext cx="4019279" cy="3472323"/>
          </a:xfrm>
          <a:custGeom>
            <a:avLst/>
            <a:gdLst/>
            <a:ahLst/>
            <a:cxnLst/>
            <a:rect r="r" b="b" t="t" l="l"/>
            <a:pathLst>
              <a:path h="3472323" w="4019279">
                <a:moveTo>
                  <a:pt x="0" y="0"/>
                </a:moveTo>
                <a:lnTo>
                  <a:pt x="4019278" y="0"/>
                </a:lnTo>
                <a:lnTo>
                  <a:pt x="4019278" y="3472323"/>
                </a:lnTo>
                <a:lnTo>
                  <a:pt x="0" y="34723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9509924" y="7368554"/>
            <a:ext cx="3520449" cy="1025550"/>
          </a:xfrm>
          <a:prstGeom prst="rect">
            <a:avLst/>
          </a:prstGeom>
        </p:spPr>
        <p:txBody>
          <a:bodyPr anchor="t" rtlCol="false" tIns="0" lIns="0" bIns="0" rIns="0">
            <a:spAutoFit/>
          </a:bodyPr>
          <a:lstStyle/>
          <a:p>
            <a:pPr algn="l">
              <a:lnSpc>
                <a:spcPts val="2058"/>
              </a:lnSpc>
            </a:pPr>
            <a:r>
              <a:rPr lang="en-US" sz="1225">
                <a:solidFill>
                  <a:srgbClr val="292929"/>
                </a:solidFill>
                <a:latin typeface="Inter"/>
                <a:ea typeface="Inter"/>
                <a:cs typeface="Inter"/>
                <a:sym typeface="Inter"/>
              </a:rPr>
              <a:t>Th</a:t>
            </a:r>
            <a:r>
              <a:rPr lang="en-US" sz="1225">
                <a:solidFill>
                  <a:srgbClr val="292929"/>
                </a:solidFill>
                <a:latin typeface="Inter"/>
                <a:ea typeface="Inter"/>
                <a:cs typeface="Inter"/>
                <a:sym typeface="Inter"/>
              </a:rPr>
              <a:t>rough hands-on training, we empower visually impaired users to confidently use JAWS screen reader technology for improved digital access and independence.</a:t>
            </a:r>
          </a:p>
        </p:txBody>
      </p:sp>
      <p:sp>
        <p:nvSpPr>
          <p:cNvPr name="TextBox 10" id="10"/>
          <p:cNvSpPr txBox="true"/>
          <p:nvPr/>
        </p:nvSpPr>
        <p:spPr>
          <a:xfrm rot="0">
            <a:off x="9509924" y="6145962"/>
            <a:ext cx="3097696" cy="1203158"/>
          </a:xfrm>
          <a:prstGeom prst="rect">
            <a:avLst/>
          </a:prstGeom>
        </p:spPr>
        <p:txBody>
          <a:bodyPr anchor="t" rtlCol="false" tIns="0" lIns="0" bIns="0" rIns="0">
            <a:spAutoFit/>
          </a:bodyPr>
          <a:lstStyle/>
          <a:p>
            <a:pPr algn="l">
              <a:lnSpc>
                <a:spcPts val="3233"/>
              </a:lnSpc>
            </a:pPr>
            <a:r>
              <a:rPr lang="en-US" b="true" sz="1924">
                <a:solidFill>
                  <a:srgbClr val="292929"/>
                </a:solidFill>
                <a:latin typeface="Inter Bold"/>
                <a:ea typeface="Inter Bold"/>
                <a:cs typeface="Inter Bold"/>
                <a:sym typeface="Inter Bold"/>
              </a:rPr>
              <a:t>Assistiv</a:t>
            </a:r>
            <a:r>
              <a:rPr lang="en-US" b="true" sz="1924">
                <a:solidFill>
                  <a:srgbClr val="292929"/>
                </a:solidFill>
                <a:latin typeface="Inter Bold"/>
                <a:ea typeface="Inter Bold"/>
                <a:cs typeface="Inter Bold"/>
                <a:sym typeface="Inter Bold"/>
              </a:rPr>
              <a:t>e Technology Training (JAWS for the Blind)</a:t>
            </a:r>
          </a:p>
        </p:txBody>
      </p:sp>
      <p:sp>
        <p:nvSpPr>
          <p:cNvPr name="Freeform 11" id="11"/>
          <p:cNvSpPr/>
          <p:nvPr/>
        </p:nvSpPr>
        <p:spPr>
          <a:xfrm flipH="false" flipV="false" rot="0">
            <a:off x="12479880" y="8694213"/>
            <a:ext cx="422689" cy="422689"/>
          </a:xfrm>
          <a:custGeom>
            <a:avLst/>
            <a:gdLst/>
            <a:ahLst/>
            <a:cxnLst/>
            <a:rect r="r" b="b" t="t" l="l"/>
            <a:pathLst>
              <a:path h="422689" w="422689">
                <a:moveTo>
                  <a:pt x="0" y="0"/>
                </a:moveTo>
                <a:lnTo>
                  <a:pt x="422689" y="0"/>
                </a:lnTo>
                <a:lnTo>
                  <a:pt x="422689" y="422689"/>
                </a:lnTo>
                <a:lnTo>
                  <a:pt x="0" y="4226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2" id="12"/>
          <p:cNvGrpSpPr/>
          <p:nvPr/>
        </p:nvGrpSpPr>
        <p:grpSpPr>
          <a:xfrm rot="0">
            <a:off x="12601310" y="8815642"/>
            <a:ext cx="179831" cy="179831"/>
            <a:chOff x="0" y="0"/>
            <a:chExt cx="274003" cy="274003"/>
          </a:xfrm>
        </p:grpSpPr>
        <p:sp>
          <p:nvSpPr>
            <p:cNvPr name="Freeform 13" id="13"/>
            <p:cNvSpPr/>
            <p:nvPr/>
          </p:nvSpPr>
          <p:spPr>
            <a:xfrm flipH="false" flipV="false" rot="0">
              <a:off x="0" y="0"/>
              <a:ext cx="274066" cy="273939"/>
            </a:xfrm>
            <a:custGeom>
              <a:avLst/>
              <a:gdLst/>
              <a:ahLst/>
              <a:cxnLst/>
              <a:rect r="r" b="b" t="t" l="l"/>
              <a:pathLst>
                <a:path h="273939" w="274066">
                  <a:moveTo>
                    <a:pt x="0" y="0"/>
                  </a:moveTo>
                  <a:lnTo>
                    <a:pt x="274066" y="0"/>
                  </a:lnTo>
                  <a:lnTo>
                    <a:pt x="274066" y="273939"/>
                  </a:lnTo>
                  <a:lnTo>
                    <a:pt x="0" y="273939"/>
                  </a:lnTo>
                  <a:lnTo>
                    <a:pt x="0" y="0"/>
                  </a:lnTo>
                  <a:close/>
                </a:path>
              </a:pathLst>
            </a:custGeom>
            <a:blipFill>
              <a:blip r:embed="rId11"/>
              <a:stretch>
                <a:fillRect l="0" t="0" r="23" b="-23"/>
              </a:stretch>
            </a:blipFill>
          </p:spPr>
        </p:sp>
      </p:grpSp>
      <p:sp>
        <p:nvSpPr>
          <p:cNvPr name="Freeform 14" id="14"/>
          <p:cNvSpPr/>
          <p:nvPr/>
        </p:nvSpPr>
        <p:spPr>
          <a:xfrm flipH="false" flipV="false" rot="0">
            <a:off x="13240021" y="5860552"/>
            <a:ext cx="4019279" cy="3444960"/>
          </a:xfrm>
          <a:custGeom>
            <a:avLst/>
            <a:gdLst/>
            <a:ahLst/>
            <a:cxnLst/>
            <a:rect r="r" b="b" t="t" l="l"/>
            <a:pathLst>
              <a:path h="3444960" w="4019279">
                <a:moveTo>
                  <a:pt x="0" y="0"/>
                </a:moveTo>
                <a:lnTo>
                  <a:pt x="4019279" y="0"/>
                </a:lnTo>
                <a:lnTo>
                  <a:pt x="4019279" y="3444960"/>
                </a:lnTo>
                <a:lnTo>
                  <a:pt x="0" y="3444960"/>
                </a:lnTo>
                <a:lnTo>
                  <a:pt x="0" y="0"/>
                </a:lnTo>
                <a:close/>
              </a:path>
            </a:pathLst>
          </a:custGeom>
          <a:blipFill>
            <a:blip r:embed="rId12">
              <a:extLst>
                <a:ext uri="{96DAC541-7B7A-43D3-8B79-37D633B846F1}">
                  <asvg:svgBlip xmlns:asvg="http://schemas.microsoft.com/office/drawing/2016/SVG/main" r:embed="rId13"/>
                </a:ext>
              </a:extLst>
            </a:blip>
            <a:stretch>
              <a:fillRect l="0" t="-397" r="0" b="-397"/>
            </a:stretch>
          </a:blipFill>
        </p:spPr>
      </p:sp>
      <p:sp>
        <p:nvSpPr>
          <p:cNvPr name="TextBox 15" id="15"/>
          <p:cNvSpPr txBox="true"/>
          <p:nvPr/>
        </p:nvSpPr>
        <p:spPr>
          <a:xfrm rot="0">
            <a:off x="13587549" y="7395917"/>
            <a:ext cx="3520449" cy="767160"/>
          </a:xfrm>
          <a:prstGeom prst="rect">
            <a:avLst/>
          </a:prstGeom>
        </p:spPr>
        <p:txBody>
          <a:bodyPr anchor="t" rtlCol="false" tIns="0" lIns="0" bIns="0" rIns="0">
            <a:spAutoFit/>
          </a:bodyPr>
          <a:lstStyle/>
          <a:p>
            <a:pPr algn="l">
              <a:lnSpc>
                <a:spcPts val="2058"/>
              </a:lnSpc>
            </a:pPr>
            <a:r>
              <a:rPr lang="en-US" sz="1225">
                <a:solidFill>
                  <a:srgbClr val="FFFFFF"/>
                </a:solidFill>
                <a:latin typeface="Inter"/>
                <a:ea typeface="Inter"/>
                <a:cs typeface="Inter"/>
                <a:sym typeface="Inter"/>
              </a:rPr>
              <a:t>W</a:t>
            </a:r>
            <a:r>
              <a:rPr lang="en-US" sz="1225">
                <a:solidFill>
                  <a:srgbClr val="FFFFFF"/>
                </a:solidFill>
                <a:latin typeface="Inter"/>
                <a:ea typeface="Inter"/>
                <a:cs typeface="Inter"/>
                <a:sym typeface="Inter"/>
              </a:rPr>
              <a:t>e provide dependable data recovery and backup strategies to safeguard your critical information against loss or damage.</a:t>
            </a:r>
          </a:p>
        </p:txBody>
      </p:sp>
      <p:sp>
        <p:nvSpPr>
          <p:cNvPr name="TextBox 16" id="16"/>
          <p:cNvSpPr txBox="true"/>
          <p:nvPr/>
        </p:nvSpPr>
        <p:spPr>
          <a:xfrm rot="0">
            <a:off x="13587549" y="6173325"/>
            <a:ext cx="3097696" cy="794736"/>
          </a:xfrm>
          <a:prstGeom prst="rect">
            <a:avLst/>
          </a:prstGeom>
        </p:spPr>
        <p:txBody>
          <a:bodyPr anchor="t" rtlCol="false" tIns="0" lIns="0" bIns="0" rIns="0">
            <a:spAutoFit/>
          </a:bodyPr>
          <a:lstStyle/>
          <a:p>
            <a:pPr algn="l">
              <a:lnSpc>
                <a:spcPts val="3233"/>
              </a:lnSpc>
            </a:pPr>
            <a:r>
              <a:rPr lang="en-US" b="true" sz="1924">
                <a:solidFill>
                  <a:srgbClr val="FFFFFF"/>
                </a:solidFill>
                <a:latin typeface="Inter Bold"/>
                <a:ea typeface="Inter Bold"/>
                <a:cs typeface="Inter Bold"/>
                <a:sym typeface="Inter Bold"/>
              </a:rPr>
              <a:t>Data Rec</a:t>
            </a:r>
            <a:r>
              <a:rPr lang="en-US" b="true" sz="1924">
                <a:solidFill>
                  <a:srgbClr val="FFFFFF"/>
                </a:solidFill>
                <a:latin typeface="Inter Bold"/>
                <a:ea typeface="Inter Bold"/>
                <a:cs typeface="Inter Bold"/>
                <a:sym typeface="Inter Bold"/>
              </a:rPr>
              <a:t>overy &amp; Backup Solutions</a:t>
            </a:r>
          </a:p>
        </p:txBody>
      </p:sp>
      <p:sp>
        <p:nvSpPr>
          <p:cNvPr name="Freeform 17" id="17"/>
          <p:cNvSpPr/>
          <p:nvPr/>
        </p:nvSpPr>
        <p:spPr>
          <a:xfrm flipH="false" flipV="false" rot="0">
            <a:off x="16557505" y="8694213"/>
            <a:ext cx="422689" cy="422689"/>
          </a:xfrm>
          <a:custGeom>
            <a:avLst/>
            <a:gdLst/>
            <a:ahLst/>
            <a:cxnLst/>
            <a:rect r="r" b="b" t="t" l="l"/>
            <a:pathLst>
              <a:path h="422689" w="422689">
                <a:moveTo>
                  <a:pt x="0" y="0"/>
                </a:moveTo>
                <a:lnTo>
                  <a:pt x="422689" y="0"/>
                </a:lnTo>
                <a:lnTo>
                  <a:pt x="422689" y="422689"/>
                </a:lnTo>
                <a:lnTo>
                  <a:pt x="0" y="4226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8" id="18"/>
          <p:cNvGrpSpPr/>
          <p:nvPr/>
        </p:nvGrpSpPr>
        <p:grpSpPr>
          <a:xfrm rot="0">
            <a:off x="16678934" y="8815642"/>
            <a:ext cx="179831" cy="179831"/>
            <a:chOff x="0" y="0"/>
            <a:chExt cx="274003" cy="274003"/>
          </a:xfrm>
        </p:grpSpPr>
        <p:sp>
          <p:nvSpPr>
            <p:cNvPr name="Freeform 19" id="19"/>
            <p:cNvSpPr/>
            <p:nvPr/>
          </p:nvSpPr>
          <p:spPr>
            <a:xfrm flipH="false" flipV="false" rot="0">
              <a:off x="0" y="0"/>
              <a:ext cx="274066" cy="273939"/>
            </a:xfrm>
            <a:custGeom>
              <a:avLst/>
              <a:gdLst/>
              <a:ahLst/>
              <a:cxnLst/>
              <a:rect r="r" b="b" t="t" l="l"/>
              <a:pathLst>
                <a:path h="273939" w="274066">
                  <a:moveTo>
                    <a:pt x="0" y="0"/>
                  </a:moveTo>
                  <a:lnTo>
                    <a:pt x="274066" y="0"/>
                  </a:lnTo>
                  <a:lnTo>
                    <a:pt x="274066" y="273939"/>
                  </a:lnTo>
                  <a:lnTo>
                    <a:pt x="0" y="273939"/>
                  </a:lnTo>
                  <a:lnTo>
                    <a:pt x="0" y="0"/>
                  </a:lnTo>
                  <a:close/>
                </a:path>
              </a:pathLst>
            </a:custGeom>
            <a:blipFill>
              <a:blip r:embed="rId11"/>
              <a:stretch>
                <a:fillRect l="0" t="0" r="23" b="-23"/>
              </a:stretch>
            </a:blipFill>
          </p:spPr>
        </p:sp>
      </p:grpSp>
      <p:sp>
        <p:nvSpPr>
          <p:cNvPr name="Freeform 20" id="20"/>
          <p:cNvSpPr/>
          <p:nvPr/>
        </p:nvSpPr>
        <p:spPr>
          <a:xfrm flipH="false" flipV="false" rot="0">
            <a:off x="13240021" y="2396542"/>
            <a:ext cx="4019279" cy="3444960"/>
          </a:xfrm>
          <a:custGeom>
            <a:avLst/>
            <a:gdLst/>
            <a:ahLst/>
            <a:cxnLst/>
            <a:rect r="r" b="b" t="t" l="l"/>
            <a:pathLst>
              <a:path h="3444960" w="4019279">
                <a:moveTo>
                  <a:pt x="0" y="0"/>
                </a:moveTo>
                <a:lnTo>
                  <a:pt x="4019279" y="0"/>
                </a:lnTo>
                <a:lnTo>
                  <a:pt x="4019279" y="3444960"/>
                </a:lnTo>
                <a:lnTo>
                  <a:pt x="0" y="3444960"/>
                </a:lnTo>
                <a:lnTo>
                  <a:pt x="0" y="0"/>
                </a:lnTo>
                <a:close/>
              </a:path>
            </a:pathLst>
          </a:custGeom>
          <a:blipFill>
            <a:blip r:embed="rId7">
              <a:extLst>
                <a:ext uri="{96DAC541-7B7A-43D3-8B79-37D633B846F1}">
                  <asvg:svgBlip xmlns:asvg="http://schemas.microsoft.com/office/drawing/2016/SVG/main" r:embed="rId8"/>
                </a:ext>
              </a:extLst>
            </a:blip>
            <a:stretch>
              <a:fillRect l="0" t="-397" r="0" b="-397"/>
            </a:stretch>
          </a:blipFill>
        </p:spPr>
      </p:sp>
      <p:sp>
        <p:nvSpPr>
          <p:cNvPr name="TextBox 21" id="21"/>
          <p:cNvSpPr txBox="true"/>
          <p:nvPr/>
        </p:nvSpPr>
        <p:spPr>
          <a:xfrm rot="0">
            <a:off x="13587549" y="3931907"/>
            <a:ext cx="3520449" cy="1025550"/>
          </a:xfrm>
          <a:prstGeom prst="rect">
            <a:avLst/>
          </a:prstGeom>
        </p:spPr>
        <p:txBody>
          <a:bodyPr anchor="t" rtlCol="false" tIns="0" lIns="0" bIns="0" rIns="0">
            <a:spAutoFit/>
          </a:bodyPr>
          <a:lstStyle/>
          <a:p>
            <a:pPr algn="l">
              <a:lnSpc>
                <a:spcPts val="2058"/>
              </a:lnSpc>
            </a:pPr>
            <a:r>
              <a:rPr lang="en-US" sz="1225">
                <a:solidFill>
                  <a:srgbClr val="292929"/>
                </a:solidFill>
                <a:latin typeface="Inter"/>
                <a:ea typeface="Inter"/>
                <a:cs typeface="Inter"/>
                <a:sym typeface="Inter"/>
              </a:rPr>
              <a:t>W</a:t>
            </a:r>
            <a:r>
              <a:rPr lang="en-US" sz="1225">
                <a:solidFill>
                  <a:srgbClr val="292929"/>
                </a:solidFill>
                <a:latin typeface="Inter"/>
                <a:ea typeface="Inter"/>
                <a:cs typeface="Inter"/>
                <a:sym typeface="Inter"/>
              </a:rPr>
              <a:t>e install secure and efficient network systems along with professional CCTV setups to enhance your business connectivity and security.</a:t>
            </a:r>
          </a:p>
        </p:txBody>
      </p:sp>
      <p:sp>
        <p:nvSpPr>
          <p:cNvPr name="TextBox 22" id="22"/>
          <p:cNvSpPr txBox="true"/>
          <p:nvPr/>
        </p:nvSpPr>
        <p:spPr>
          <a:xfrm rot="0">
            <a:off x="13587549" y="2709315"/>
            <a:ext cx="3097696" cy="794736"/>
          </a:xfrm>
          <a:prstGeom prst="rect">
            <a:avLst/>
          </a:prstGeom>
        </p:spPr>
        <p:txBody>
          <a:bodyPr anchor="t" rtlCol="false" tIns="0" lIns="0" bIns="0" rIns="0">
            <a:spAutoFit/>
          </a:bodyPr>
          <a:lstStyle/>
          <a:p>
            <a:pPr algn="l">
              <a:lnSpc>
                <a:spcPts val="3233"/>
              </a:lnSpc>
            </a:pPr>
            <a:r>
              <a:rPr lang="en-US" b="true" sz="1924">
                <a:solidFill>
                  <a:srgbClr val="292929"/>
                </a:solidFill>
                <a:latin typeface="Inter Bold"/>
                <a:ea typeface="Inter Bold"/>
                <a:cs typeface="Inter Bold"/>
                <a:sym typeface="Inter Bold"/>
              </a:rPr>
              <a:t>Netw</a:t>
            </a:r>
            <a:r>
              <a:rPr lang="en-US" b="true" sz="1924">
                <a:solidFill>
                  <a:srgbClr val="292929"/>
                </a:solidFill>
                <a:latin typeface="Inter Bold"/>
                <a:ea typeface="Inter Bold"/>
                <a:cs typeface="Inter Bold"/>
                <a:sym typeface="Inter Bold"/>
              </a:rPr>
              <a:t>orking &amp; CCTV Installation</a:t>
            </a:r>
          </a:p>
        </p:txBody>
      </p:sp>
      <p:sp>
        <p:nvSpPr>
          <p:cNvPr name="Freeform 23" id="23"/>
          <p:cNvSpPr/>
          <p:nvPr/>
        </p:nvSpPr>
        <p:spPr>
          <a:xfrm flipH="false" flipV="false" rot="0">
            <a:off x="16557505" y="5230203"/>
            <a:ext cx="422689" cy="422689"/>
          </a:xfrm>
          <a:custGeom>
            <a:avLst/>
            <a:gdLst/>
            <a:ahLst/>
            <a:cxnLst/>
            <a:rect r="r" b="b" t="t" l="l"/>
            <a:pathLst>
              <a:path h="422689" w="422689">
                <a:moveTo>
                  <a:pt x="0" y="0"/>
                </a:moveTo>
                <a:lnTo>
                  <a:pt x="422689" y="0"/>
                </a:lnTo>
                <a:lnTo>
                  <a:pt x="422689" y="422689"/>
                </a:lnTo>
                <a:lnTo>
                  <a:pt x="0" y="4226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4" id="24"/>
          <p:cNvGrpSpPr/>
          <p:nvPr/>
        </p:nvGrpSpPr>
        <p:grpSpPr>
          <a:xfrm rot="0">
            <a:off x="16678934" y="5351633"/>
            <a:ext cx="179831" cy="179831"/>
            <a:chOff x="0" y="0"/>
            <a:chExt cx="274003" cy="274003"/>
          </a:xfrm>
        </p:grpSpPr>
        <p:sp>
          <p:nvSpPr>
            <p:cNvPr name="Freeform 25" id="25"/>
            <p:cNvSpPr/>
            <p:nvPr/>
          </p:nvSpPr>
          <p:spPr>
            <a:xfrm flipH="false" flipV="false" rot="0">
              <a:off x="0" y="0"/>
              <a:ext cx="274066" cy="273939"/>
            </a:xfrm>
            <a:custGeom>
              <a:avLst/>
              <a:gdLst/>
              <a:ahLst/>
              <a:cxnLst/>
              <a:rect r="r" b="b" t="t" l="l"/>
              <a:pathLst>
                <a:path h="273939" w="274066">
                  <a:moveTo>
                    <a:pt x="0" y="0"/>
                  </a:moveTo>
                  <a:lnTo>
                    <a:pt x="274066" y="0"/>
                  </a:lnTo>
                  <a:lnTo>
                    <a:pt x="274066" y="273939"/>
                  </a:lnTo>
                  <a:lnTo>
                    <a:pt x="0" y="273939"/>
                  </a:lnTo>
                  <a:lnTo>
                    <a:pt x="0" y="0"/>
                  </a:lnTo>
                  <a:close/>
                </a:path>
              </a:pathLst>
            </a:custGeom>
            <a:blipFill>
              <a:blip r:embed="rId11"/>
              <a:stretch>
                <a:fillRect l="0" t="0" r="23" b="-23"/>
              </a:stretch>
            </a:blipFill>
          </p:spPr>
        </p:sp>
      </p:grpSp>
      <p:sp>
        <p:nvSpPr>
          <p:cNvPr name="Freeform 26" id="26"/>
          <p:cNvSpPr/>
          <p:nvPr/>
        </p:nvSpPr>
        <p:spPr>
          <a:xfrm flipH="false" flipV="false" rot="0">
            <a:off x="9152908" y="2415592"/>
            <a:ext cx="4019279" cy="3444960"/>
          </a:xfrm>
          <a:custGeom>
            <a:avLst/>
            <a:gdLst/>
            <a:ahLst/>
            <a:cxnLst/>
            <a:rect r="r" b="b" t="t" l="l"/>
            <a:pathLst>
              <a:path h="3444960" w="4019279">
                <a:moveTo>
                  <a:pt x="0" y="0"/>
                </a:moveTo>
                <a:lnTo>
                  <a:pt x="4019279" y="0"/>
                </a:lnTo>
                <a:lnTo>
                  <a:pt x="4019279" y="3444960"/>
                </a:lnTo>
                <a:lnTo>
                  <a:pt x="0" y="3444960"/>
                </a:lnTo>
                <a:lnTo>
                  <a:pt x="0" y="0"/>
                </a:lnTo>
                <a:close/>
              </a:path>
            </a:pathLst>
          </a:custGeom>
          <a:blipFill>
            <a:blip r:embed="rId12">
              <a:extLst>
                <a:ext uri="{96DAC541-7B7A-43D3-8B79-37D633B846F1}">
                  <asvg:svgBlip xmlns:asvg="http://schemas.microsoft.com/office/drawing/2016/SVG/main" r:embed="rId13"/>
                </a:ext>
              </a:extLst>
            </a:blip>
            <a:stretch>
              <a:fillRect l="0" t="-397" r="0" b="-397"/>
            </a:stretch>
          </a:blipFill>
        </p:spPr>
      </p:sp>
      <p:sp>
        <p:nvSpPr>
          <p:cNvPr name="TextBox 27" id="27"/>
          <p:cNvSpPr txBox="true"/>
          <p:nvPr/>
        </p:nvSpPr>
        <p:spPr>
          <a:xfrm rot="0">
            <a:off x="9500435" y="3950957"/>
            <a:ext cx="3520449" cy="1025550"/>
          </a:xfrm>
          <a:prstGeom prst="rect">
            <a:avLst/>
          </a:prstGeom>
        </p:spPr>
        <p:txBody>
          <a:bodyPr anchor="t" rtlCol="false" tIns="0" lIns="0" bIns="0" rIns="0">
            <a:spAutoFit/>
          </a:bodyPr>
          <a:lstStyle/>
          <a:p>
            <a:pPr algn="l">
              <a:lnSpc>
                <a:spcPts val="2058"/>
              </a:lnSpc>
            </a:pPr>
            <a:r>
              <a:rPr lang="en-US" sz="1225">
                <a:solidFill>
                  <a:srgbClr val="FFFFFF"/>
                </a:solidFill>
                <a:latin typeface="Inter"/>
                <a:ea typeface="Inter"/>
                <a:cs typeface="Inter"/>
                <a:sym typeface="Inter"/>
              </a:rPr>
              <a:t>Our skilled t</a:t>
            </a:r>
            <a:r>
              <a:rPr lang="en-US" sz="1225">
                <a:solidFill>
                  <a:srgbClr val="FFFFFF"/>
                </a:solidFill>
                <a:latin typeface="Inter"/>
                <a:ea typeface="Inter"/>
                <a:cs typeface="Inter"/>
                <a:sym typeface="Inter"/>
              </a:rPr>
              <a:t>echnicians provide fast, reliable repairs for computers and laptops, ensuring your devices run smoothly and minimize downtime.</a:t>
            </a:r>
          </a:p>
        </p:txBody>
      </p:sp>
      <p:sp>
        <p:nvSpPr>
          <p:cNvPr name="TextBox 28" id="28"/>
          <p:cNvSpPr txBox="true"/>
          <p:nvPr/>
        </p:nvSpPr>
        <p:spPr>
          <a:xfrm rot="0">
            <a:off x="9500435" y="2728365"/>
            <a:ext cx="3097696" cy="794736"/>
          </a:xfrm>
          <a:prstGeom prst="rect">
            <a:avLst/>
          </a:prstGeom>
        </p:spPr>
        <p:txBody>
          <a:bodyPr anchor="t" rtlCol="false" tIns="0" lIns="0" bIns="0" rIns="0">
            <a:spAutoFit/>
          </a:bodyPr>
          <a:lstStyle/>
          <a:p>
            <a:pPr algn="l">
              <a:lnSpc>
                <a:spcPts val="3233"/>
              </a:lnSpc>
            </a:pPr>
            <a:r>
              <a:rPr lang="en-US" b="true" sz="1924">
                <a:solidFill>
                  <a:srgbClr val="FFFFFF"/>
                </a:solidFill>
                <a:latin typeface="Inter Bold"/>
                <a:ea typeface="Inter Bold"/>
                <a:cs typeface="Inter Bold"/>
                <a:sym typeface="Inter Bold"/>
              </a:rPr>
              <a:t>C</a:t>
            </a:r>
            <a:r>
              <a:rPr lang="en-US" b="true" sz="1924">
                <a:solidFill>
                  <a:srgbClr val="FFFFFF"/>
                </a:solidFill>
                <a:latin typeface="Inter Bold"/>
                <a:ea typeface="Inter Bold"/>
                <a:cs typeface="Inter Bold"/>
                <a:sym typeface="Inter Bold"/>
              </a:rPr>
              <a:t>omputer &amp; Laptop Repairs</a:t>
            </a:r>
          </a:p>
        </p:txBody>
      </p:sp>
      <p:sp>
        <p:nvSpPr>
          <p:cNvPr name="Freeform 29" id="29"/>
          <p:cNvSpPr/>
          <p:nvPr/>
        </p:nvSpPr>
        <p:spPr>
          <a:xfrm flipH="false" flipV="false" rot="0">
            <a:off x="12470391" y="5249253"/>
            <a:ext cx="422689" cy="422689"/>
          </a:xfrm>
          <a:custGeom>
            <a:avLst/>
            <a:gdLst/>
            <a:ahLst/>
            <a:cxnLst/>
            <a:rect r="r" b="b" t="t" l="l"/>
            <a:pathLst>
              <a:path h="422689" w="422689">
                <a:moveTo>
                  <a:pt x="0" y="0"/>
                </a:moveTo>
                <a:lnTo>
                  <a:pt x="422689" y="0"/>
                </a:lnTo>
                <a:lnTo>
                  <a:pt x="422689" y="422689"/>
                </a:lnTo>
                <a:lnTo>
                  <a:pt x="0" y="4226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0" id="30"/>
          <p:cNvGrpSpPr/>
          <p:nvPr/>
        </p:nvGrpSpPr>
        <p:grpSpPr>
          <a:xfrm rot="0">
            <a:off x="12591821" y="5370683"/>
            <a:ext cx="179831" cy="179831"/>
            <a:chOff x="0" y="0"/>
            <a:chExt cx="274003" cy="274003"/>
          </a:xfrm>
        </p:grpSpPr>
        <p:sp>
          <p:nvSpPr>
            <p:cNvPr name="Freeform 31" id="31"/>
            <p:cNvSpPr/>
            <p:nvPr/>
          </p:nvSpPr>
          <p:spPr>
            <a:xfrm flipH="false" flipV="false" rot="0">
              <a:off x="0" y="0"/>
              <a:ext cx="274066" cy="273939"/>
            </a:xfrm>
            <a:custGeom>
              <a:avLst/>
              <a:gdLst/>
              <a:ahLst/>
              <a:cxnLst/>
              <a:rect r="r" b="b" t="t" l="l"/>
              <a:pathLst>
                <a:path h="273939" w="274066">
                  <a:moveTo>
                    <a:pt x="0" y="0"/>
                  </a:moveTo>
                  <a:lnTo>
                    <a:pt x="274066" y="0"/>
                  </a:lnTo>
                  <a:lnTo>
                    <a:pt x="274066" y="273939"/>
                  </a:lnTo>
                  <a:lnTo>
                    <a:pt x="0" y="273939"/>
                  </a:lnTo>
                  <a:lnTo>
                    <a:pt x="0" y="0"/>
                  </a:lnTo>
                  <a:close/>
                </a:path>
              </a:pathLst>
            </a:custGeom>
            <a:blipFill>
              <a:blip r:embed="rId11"/>
              <a:stretch>
                <a:fillRect l="0" t="0" r="23" b="-23"/>
              </a:stretch>
            </a:blipFill>
          </p:spPr>
        </p:sp>
      </p:grpSp>
      <p:sp>
        <p:nvSpPr>
          <p:cNvPr name="Freeform 32" id="32"/>
          <p:cNvSpPr/>
          <p:nvPr/>
        </p:nvSpPr>
        <p:spPr>
          <a:xfrm flipH="false" flipV="false" rot="0">
            <a:off x="5076479" y="2415592"/>
            <a:ext cx="4019279" cy="3444960"/>
          </a:xfrm>
          <a:custGeom>
            <a:avLst/>
            <a:gdLst/>
            <a:ahLst/>
            <a:cxnLst/>
            <a:rect r="r" b="b" t="t" l="l"/>
            <a:pathLst>
              <a:path h="3444960" w="4019279">
                <a:moveTo>
                  <a:pt x="0" y="0"/>
                </a:moveTo>
                <a:lnTo>
                  <a:pt x="4019279" y="0"/>
                </a:lnTo>
                <a:lnTo>
                  <a:pt x="4019279" y="3444960"/>
                </a:lnTo>
                <a:lnTo>
                  <a:pt x="0" y="3444960"/>
                </a:lnTo>
                <a:lnTo>
                  <a:pt x="0" y="0"/>
                </a:lnTo>
                <a:close/>
              </a:path>
            </a:pathLst>
          </a:custGeom>
          <a:blipFill>
            <a:blip r:embed="rId7">
              <a:extLst>
                <a:ext uri="{96DAC541-7B7A-43D3-8B79-37D633B846F1}">
                  <asvg:svgBlip xmlns:asvg="http://schemas.microsoft.com/office/drawing/2016/SVG/main" r:embed="rId8"/>
                </a:ext>
              </a:extLst>
            </a:blip>
            <a:stretch>
              <a:fillRect l="0" t="-397" r="0" b="-397"/>
            </a:stretch>
          </a:blipFill>
        </p:spPr>
      </p:sp>
      <p:sp>
        <p:nvSpPr>
          <p:cNvPr name="TextBox 33" id="33"/>
          <p:cNvSpPr txBox="true"/>
          <p:nvPr/>
        </p:nvSpPr>
        <p:spPr>
          <a:xfrm rot="0">
            <a:off x="5424007" y="3950957"/>
            <a:ext cx="3520449" cy="1025550"/>
          </a:xfrm>
          <a:prstGeom prst="rect">
            <a:avLst/>
          </a:prstGeom>
        </p:spPr>
        <p:txBody>
          <a:bodyPr anchor="t" rtlCol="false" tIns="0" lIns="0" bIns="0" rIns="0">
            <a:spAutoFit/>
          </a:bodyPr>
          <a:lstStyle/>
          <a:p>
            <a:pPr algn="l">
              <a:lnSpc>
                <a:spcPts val="2058"/>
              </a:lnSpc>
            </a:pPr>
            <a:r>
              <a:rPr lang="en-US" sz="1225">
                <a:solidFill>
                  <a:srgbClr val="292929"/>
                </a:solidFill>
                <a:latin typeface="Inter"/>
                <a:ea typeface="Inter"/>
                <a:cs typeface="Inter"/>
                <a:sym typeface="Inter"/>
              </a:rPr>
              <a:t>We d</a:t>
            </a:r>
            <a:r>
              <a:rPr lang="en-US" sz="1225">
                <a:solidFill>
                  <a:srgbClr val="292929"/>
                </a:solidFill>
                <a:latin typeface="Inter"/>
                <a:ea typeface="Inter"/>
                <a:cs typeface="Inter"/>
                <a:sym typeface="Inter"/>
              </a:rPr>
              <a:t>esign and develop responsive, visually appealing websites tailored to your brand, optimized for performance and easy management using WordPress.</a:t>
            </a:r>
          </a:p>
        </p:txBody>
      </p:sp>
      <p:sp>
        <p:nvSpPr>
          <p:cNvPr name="TextBox 34" id="34"/>
          <p:cNvSpPr txBox="true"/>
          <p:nvPr/>
        </p:nvSpPr>
        <p:spPr>
          <a:xfrm rot="0">
            <a:off x="5424007" y="2728365"/>
            <a:ext cx="3097696" cy="794736"/>
          </a:xfrm>
          <a:prstGeom prst="rect">
            <a:avLst/>
          </a:prstGeom>
        </p:spPr>
        <p:txBody>
          <a:bodyPr anchor="t" rtlCol="false" tIns="0" lIns="0" bIns="0" rIns="0">
            <a:spAutoFit/>
          </a:bodyPr>
          <a:lstStyle/>
          <a:p>
            <a:pPr algn="l">
              <a:lnSpc>
                <a:spcPts val="3233"/>
              </a:lnSpc>
            </a:pPr>
            <a:r>
              <a:rPr lang="en-US" b="true" sz="1924">
                <a:solidFill>
                  <a:srgbClr val="292929"/>
                </a:solidFill>
                <a:latin typeface="Inter Bold"/>
                <a:ea typeface="Inter Bold"/>
                <a:cs typeface="Inter Bold"/>
                <a:sym typeface="Inter Bold"/>
              </a:rPr>
              <a:t>W</a:t>
            </a:r>
            <a:r>
              <a:rPr lang="en-US" b="true" sz="1924">
                <a:solidFill>
                  <a:srgbClr val="292929"/>
                </a:solidFill>
                <a:latin typeface="Inter Bold"/>
                <a:ea typeface="Inter Bold"/>
                <a:cs typeface="Inter Bold"/>
                <a:sym typeface="Inter Bold"/>
              </a:rPr>
              <a:t>ebsite Design &amp; WordPress Development</a:t>
            </a:r>
          </a:p>
        </p:txBody>
      </p:sp>
      <p:sp>
        <p:nvSpPr>
          <p:cNvPr name="Freeform 35" id="35"/>
          <p:cNvSpPr/>
          <p:nvPr/>
        </p:nvSpPr>
        <p:spPr>
          <a:xfrm flipH="false" flipV="false" rot="0">
            <a:off x="8393963" y="5249253"/>
            <a:ext cx="422689" cy="422689"/>
          </a:xfrm>
          <a:custGeom>
            <a:avLst/>
            <a:gdLst/>
            <a:ahLst/>
            <a:cxnLst/>
            <a:rect r="r" b="b" t="t" l="l"/>
            <a:pathLst>
              <a:path h="422689" w="422689">
                <a:moveTo>
                  <a:pt x="0" y="0"/>
                </a:moveTo>
                <a:lnTo>
                  <a:pt x="422689" y="0"/>
                </a:lnTo>
                <a:lnTo>
                  <a:pt x="422689" y="422689"/>
                </a:lnTo>
                <a:lnTo>
                  <a:pt x="0" y="4226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6" id="36"/>
          <p:cNvGrpSpPr/>
          <p:nvPr/>
        </p:nvGrpSpPr>
        <p:grpSpPr>
          <a:xfrm rot="0">
            <a:off x="8515392" y="5370683"/>
            <a:ext cx="179831" cy="179831"/>
            <a:chOff x="0" y="0"/>
            <a:chExt cx="274003" cy="274003"/>
          </a:xfrm>
        </p:grpSpPr>
        <p:sp>
          <p:nvSpPr>
            <p:cNvPr name="Freeform 37" id="37"/>
            <p:cNvSpPr/>
            <p:nvPr/>
          </p:nvSpPr>
          <p:spPr>
            <a:xfrm flipH="false" flipV="false" rot="0">
              <a:off x="0" y="0"/>
              <a:ext cx="274066" cy="273939"/>
            </a:xfrm>
            <a:custGeom>
              <a:avLst/>
              <a:gdLst/>
              <a:ahLst/>
              <a:cxnLst/>
              <a:rect r="r" b="b" t="t" l="l"/>
              <a:pathLst>
                <a:path h="273939" w="274066">
                  <a:moveTo>
                    <a:pt x="0" y="0"/>
                  </a:moveTo>
                  <a:lnTo>
                    <a:pt x="274066" y="0"/>
                  </a:lnTo>
                  <a:lnTo>
                    <a:pt x="274066" y="273939"/>
                  </a:lnTo>
                  <a:lnTo>
                    <a:pt x="0" y="273939"/>
                  </a:lnTo>
                  <a:lnTo>
                    <a:pt x="0" y="0"/>
                  </a:lnTo>
                  <a:close/>
                </a:path>
              </a:pathLst>
            </a:custGeom>
            <a:blipFill>
              <a:blip r:embed="rId11"/>
              <a:stretch>
                <a:fillRect l="0" t="0" r="23" b="-23"/>
              </a:stretch>
            </a:blipFill>
          </p:spPr>
        </p:sp>
      </p:grpSp>
      <p:sp>
        <p:nvSpPr>
          <p:cNvPr name="Freeform 38" id="38"/>
          <p:cNvSpPr/>
          <p:nvPr/>
        </p:nvSpPr>
        <p:spPr>
          <a:xfrm flipH="false" flipV="false" rot="0">
            <a:off x="5076479" y="5860552"/>
            <a:ext cx="4019279" cy="3444960"/>
          </a:xfrm>
          <a:custGeom>
            <a:avLst/>
            <a:gdLst/>
            <a:ahLst/>
            <a:cxnLst/>
            <a:rect r="r" b="b" t="t" l="l"/>
            <a:pathLst>
              <a:path h="3444960" w="4019279">
                <a:moveTo>
                  <a:pt x="0" y="0"/>
                </a:moveTo>
                <a:lnTo>
                  <a:pt x="4019279" y="0"/>
                </a:lnTo>
                <a:lnTo>
                  <a:pt x="4019279" y="3444960"/>
                </a:lnTo>
                <a:lnTo>
                  <a:pt x="0" y="3444960"/>
                </a:lnTo>
                <a:lnTo>
                  <a:pt x="0" y="0"/>
                </a:lnTo>
                <a:close/>
              </a:path>
            </a:pathLst>
          </a:custGeom>
          <a:blipFill>
            <a:blip r:embed="rId12">
              <a:extLst>
                <a:ext uri="{96DAC541-7B7A-43D3-8B79-37D633B846F1}">
                  <asvg:svgBlip xmlns:asvg="http://schemas.microsoft.com/office/drawing/2016/SVG/main" r:embed="rId13"/>
                </a:ext>
              </a:extLst>
            </a:blip>
            <a:stretch>
              <a:fillRect l="0" t="-397" r="0" b="-397"/>
            </a:stretch>
          </a:blipFill>
        </p:spPr>
      </p:sp>
      <p:sp>
        <p:nvSpPr>
          <p:cNvPr name="TextBox 39" id="39"/>
          <p:cNvSpPr txBox="true"/>
          <p:nvPr/>
        </p:nvSpPr>
        <p:spPr>
          <a:xfrm rot="0">
            <a:off x="5424007" y="7395917"/>
            <a:ext cx="3520449" cy="767160"/>
          </a:xfrm>
          <a:prstGeom prst="rect">
            <a:avLst/>
          </a:prstGeom>
        </p:spPr>
        <p:txBody>
          <a:bodyPr anchor="t" rtlCol="false" tIns="0" lIns="0" bIns="0" rIns="0">
            <a:spAutoFit/>
          </a:bodyPr>
          <a:lstStyle/>
          <a:p>
            <a:pPr algn="l">
              <a:lnSpc>
                <a:spcPts val="2058"/>
              </a:lnSpc>
            </a:pPr>
            <a:r>
              <a:rPr lang="en-US" sz="1225">
                <a:solidFill>
                  <a:srgbClr val="FFFFFF"/>
                </a:solidFill>
                <a:latin typeface="Inter"/>
                <a:ea typeface="Inter"/>
                <a:cs typeface="Inter"/>
                <a:sym typeface="Inter"/>
              </a:rPr>
              <a:t>We </a:t>
            </a:r>
            <a:r>
              <a:rPr lang="en-US" sz="1225">
                <a:solidFill>
                  <a:srgbClr val="FFFFFF"/>
                </a:solidFill>
                <a:latin typeface="Inter"/>
                <a:ea typeface="Inter"/>
                <a:cs typeface="Inter"/>
                <a:sym typeface="Inter"/>
              </a:rPr>
              <a:t>offer expert resume writing and document formatting services to showcase your qualifications clearly and professionally.</a:t>
            </a:r>
          </a:p>
        </p:txBody>
      </p:sp>
      <p:sp>
        <p:nvSpPr>
          <p:cNvPr name="TextBox 40" id="40"/>
          <p:cNvSpPr txBox="true"/>
          <p:nvPr/>
        </p:nvSpPr>
        <p:spPr>
          <a:xfrm rot="0">
            <a:off x="5424007" y="6173325"/>
            <a:ext cx="3097696" cy="794736"/>
          </a:xfrm>
          <a:prstGeom prst="rect">
            <a:avLst/>
          </a:prstGeom>
        </p:spPr>
        <p:txBody>
          <a:bodyPr anchor="t" rtlCol="false" tIns="0" lIns="0" bIns="0" rIns="0">
            <a:spAutoFit/>
          </a:bodyPr>
          <a:lstStyle/>
          <a:p>
            <a:pPr algn="l">
              <a:lnSpc>
                <a:spcPts val="3233"/>
              </a:lnSpc>
            </a:pPr>
            <a:r>
              <a:rPr lang="en-US" b="true" sz="1924">
                <a:solidFill>
                  <a:srgbClr val="FFFFFF"/>
                </a:solidFill>
                <a:latin typeface="Inter Bold"/>
                <a:ea typeface="Inter Bold"/>
                <a:cs typeface="Inter Bold"/>
                <a:sym typeface="Inter Bold"/>
              </a:rPr>
              <a:t>Re</a:t>
            </a:r>
            <a:r>
              <a:rPr lang="en-US" b="true" sz="1924">
                <a:solidFill>
                  <a:srgbClr val="FFFFFF"/>
                </a:solidFill>
                <a:latin typeface="Inter Bold"/>
                <a:ea typeface="Inter Bold"/>
                <a:cs typeface="Inter Bold"/>
                <a:sym typeface="Inter Bold"/>
              </a:rPr>
              <a:t>sume Writing &amp; Document Formatting</a:t>
            </a:r>
          </a:p>
        </p:txBody>
      </p:sp>
      <p:sp>
        <p:nvSpPr>
          <p:cNvPr name="Freeform 41" id="41"/>
          <p:cNvSpPr/>
          <p:nvPr/>
        </p:nvSpPr>
        <p:spPr>
          <a:xfrm flipH="false" flipV="false" rot="0">
            <a:off x="8393963" y="8694213"/>
            <a:ext cx="422689" cy="422689"/>
          </a:xfrm>
          <a:custGeom>
            <a:avLst/>
            <a:gdLst/>
            <a:ahLst/>
            <a:cxnLst/>
            <a:rect r="r" b="b" t="t" l="l"/>
            <a:pathLst>
              <a:path h="422689" w="422689">
                <a:moveTo>
                  <a:pt x="0" y="0"/>
                </a:moveTo>
                <a:lnTo>
                  <a:pt x="422689" y="0"/>
                </a:lnTo>
                <a:lnTo>
                  <a:pt x="422689" y="422689"/>
                </a:lnTo>
                <a:lnTo>
                  <a:pt x="0" y="4226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2" id="42"/>
          <p:cNvGrpSpPr/>
          <p:nvPr/>
        </p:nvGrpSpPr>
        <p:grpSpPr>
          <a:xfrm rot="0">
            <a:off x="8515392" y="8815642"/>
            <a:ext cx="179831" cy="179831"/>
            <a:chOff x="0" y="0"/>
            <a:chExt cx="274003" cy="274003"/>
          </a:xfrm>
        </p:grpSpPr>
        <p:sp>
          <p:nvSpPr>
            <p:cNvPr name="Freeform 43" id="43"/>
            <p:cNvSpPr/>
            <p:nvPr/>
          </p:nvSpPr>
          <p:spPr>
            <a:xfrm flipH="false" flipV="false" rot="0">
              <a:off x="0" y="0"/>
              <a:ext cx="274066" cy="273939"/>
            </a:xfrm>
            <a:custGeom>
              <a:avLst/>
              <a:gdLst/>
              <a:ahLst/>
              <a:cxnLst/>
              <a:rect r="r" b="b" t="t" l="l"/>
              <a:pathLst>
                <a:path h="273939" w="274066">
                  <a:moveTo>
                    <a:pt x="0" y="0"/>
                  </a:moveTo>
                  <a:lnTo>
                    <a:pt x="274066" y="0"/>
                  </a:lnTo>
                  <a:lnTo>
                    <a:pt x="274066" y="273939"/>
                  </a:lnTo>
                  <a:lnTo>
                    <a:pt x="0" y="273939"/>
                  </a:lnTo>
                  <a:lnTo>
                    <a:pt x="0" y="0"/>
                  </a:lnTo>
                  <a:close/>
                </a:path>
              </a:pathLst>
            </a:custGeom>
            <a:blipFill>
              <a:blip r:embed="rId11"/>
              <a:stretch>
                <a:fillRect l="0" t="0" r="23" b="-23"/>
              </a:stretch>
            </a:blipFill>
          </p:spPr>
        </p:sp>
      </p:grpSp>
      <p:sp>
        <p:nvSpPr>
          <p:cNvPr name="Freeform 44" id="44"/>
          <p:cNvSpPr/>
          <p:nvPr/>
        </p:nvSpPr>
        <p:spPr>
          <a:xfrm flipH="false" flipV="false" rot="0">
            <a:off x="1000050" y="5860552"/>
            <a:ext cx="4019279" cy="3444960"/>
          </a:xfrm>
          <a:custGeom>
            <a:avLst/>
            <a:gdLst/>
            <a:ahLst/>
            <a:cxnLst/>
            <a:rect r="r" b="b" t="t" l="l"/>
            <a:pathLst>
              <a:path h="3444960" w="4019279">
                <a:moveTo>
                  <a:pt x="0" y="0"/>
                </a:moveTo>
                <a:lnTo>
                  <a:pt x="4019279" y="0"/>
                </a:lnTo>
                <a:lnTo>
                  <a:pt x="4019279" y="3444960"/>
                </a:lnTo>
                <a:lnTo>
                  <a:pt x="0" y="3444960"/>
                </a:lnTo>
                <a:lnTo>
                  <a:pt x="0" y="0"/>
                </a:lnTo>
                <a:close/>
              </a:path>
            </a:pathLst>
          </a:custGeom>
          <a:blipFill>
            <a:blip r:embed="rId7">
              <a:extLst>
                <a:ext uri="{96DAC541-7B7A-43D3-8B79-37D633B846F1}">
                  <asvg:svgBlip xmlns:asvg="http://schemas.microsoft.com/office/drawing/2016/SVG/main" r:embed="rId8"/>
                </a:ext>
              </a:extLst>
            </a:blip>
            <a:stretch>
              <a:fillRect l="0" t="-397" r="0" b="-397"/>
            </a:stretch>
          </a:blipFill>
        </p:spPr>
      </p:sp>
      <p:sp>
        <p:nvSpPr>
          <p:cNvPr name="TextBox 45" id="45"/>
          <p:cNvSpPr txBox="true"/>
          <p:nvPr/>
        </p:nvSpPr>
        <p:spPr>
          <a:xfrm rot="0">
            <a:off x="1347578" y="7395917"/>
            <a:ext cx="3520449" cy="1025550"/>
          </a:xfrm>
          <a:prstGeom prst="rect">
            <a:avLst/>
          </a:prstGeom>
        </p:spPr>
        <p:txBody>
          <a:bodyPr anchor="t" rtlCol="false" tIns="0" lIns="0" bIns="0" rIns="0">
            <a:spAutoFit/>
          </a:bodyPr>
          <a:lstStyle/>
          <a:p>
            <a:pPr algn="l">
              <a:lnSpc>
                <a:spcPts val="2058"/>
              </a:lnSpc>
            </a:pPr>
            <a:r>
              <a:rPr lang="en-US" sz="1225">
                <a:solidFill>
                  <a:srgbClr val="292929"/>
                </a:solidFill>
                <a:latin typeface="Inter"/>
                <a:ea typeface="Inter"/>
                <a:cs typeface="Inter"/>
                <a:sym typeface="Inter"/>
              </a:rPr>
              <a:t>Our</a:t>
            </a:r>
            <a:r>
              <a:rPr lang="en-US" sz="1225">
                <a:solidFill>
                  <a:srgbClr val="292929"/>
                </a:solidFill>
                <a:latin typeface="Inter"/>
                <a:ea typeface="Inter"/>
                <a:cs typeface="Inter"/>
                <a:sym typeface="Inter"/>
              </a:rPr>
              <a:t> creative team crafts compelling branding and graphic design solutions that help your business stand out and engage your target audience.</a:t>
            </a:r>
          </a:p>
        </p:txBody>
      </p:sp>
      <p:sp>
        <p:nvSpPr>
          <p:cNvPr name="TextBox 46" id="46"/>
          <p:cNvSpPr txBox="true"/>
          <p:nvPr/>
        </p:nvSpPr>
        <p:spPr>
          <a:xfrm rot="0">
            <a:off x="1347578" y="6173325"/>
            <a:ext cx="3097696" cy="794736"/>
          </a:xfrm>
          <a:prstGeom prst="rect">
            <a:avLst/>
          </a:prstGeom>
        </p:spPr>
        <p:txBody>
          <a:bodyPr anchor="t" rtlCol="false" tIns="0" lIns="0" bIns="0" rIns="0">
            <a:spAutoFit/>
          </a:bodyPr>
          <a:lstStyle/>
          <a:p>
            <a:pPr algn="l">
              <a:lnSpc>
                <a:spcPts val="3233"/>
              </a:lnSpc>
            </a:pPr>
            <a:r>
              <a:rPr lang="en-US" b="true" sz="1924">
                <a:solidFill>
                  <a:srgbClr val="292929"/>
                </a:solidFill>
                <a:latin typeface="Inter Bold"/>
                <a:ea typeface="Inter Bold"/>
                <a:cs typeface="Inter Bold"/>
                <a:sym typeface="Inter Bold"/>
              </a:rPr>
              <a:t>Graphic Des</a:t>
            </a:r>
            <a:r>
              <a:rPr lang="en-US" b="true" sz="1924">
                <a:solidFill>
                  <a:srgbClr val="292929"/>
                </a:solidFill>
                <a:latin typeface="Inter Bold"/>
                <a:ea typeface="Inter Bold"/>
                <a:cs typeface="Inter Bold"/>
                <a:sym typeface="Inter Bold"/>
              </a:rPr>
              <a:t>ign &amp; Branding</a:t>
            </a:r>
          </a:p>
        </p:txBody>
      </p:sp>
      <p:sp>
        <p:nvSpPr>
          <p:cNvPr name="Freeform 47" id="47"/>
          <p:cNvSpPr/>
          <p:nvPr/>
        </p:nvSpPr>
        <p:spPr>
          <a:xfrm flipH="false" flipV="false" rot="0">
            <a:off x="4317534" y="8694213"/>
            <a:ext cx="422689" cy="422689"/>
          </a:xfrm>
          <a:custGeom>
            <a:avLst/>
            <a:gdLst/>
            <a:ahLst/>
            <a:cxnLst/>
            <a:rect r="r" b="b" t="t" l="l"/>
            <a:pathLst>
              <a:path h="422689" w="422689">
                <a:moveTo>
                  <a:pt x="0" y="0"/>
                </a:moveTo>
                <a:lnTo>
                  <a:pt x="422689" y="0"/>
                </a:lnTo>
                <a:lnTo>
                  <a:pt x="422689" y="422689"/>
                </a:lnTo>
                <a:lnTo>
                  <a:pt x="0" y="4226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8" id="48"/>
          <p:cNvGrpSpPr/>
          <p:nvPr/>
        </p:nvGrpSpPr>
        <p:grpSpPr>
          <a:xfrm rot="0">
            <a:off x="4438963" y="8815642"/>
            <a:ext cx="179831" cy="179831"/>
            <a:chOff x="0" y="0"/>
            <a:chExt cx="274003" cy="274003"/>
          </a:xfrm>
        </p:grpSpPr>
        <p:sp>
          <p:nvSpPr>
            <p:cNvPr name="Freeform 49" id="49"/>
            <p:cNvSpPr/>
            <p:nvPr/>
          </p:nvSpPr>
          <p:spPr>
            <a:xfrm flipH="false" flipV="false" rot="0">
              <a:off x="0" y="0"/>
              <a:ext cx="274066" cy="273939"/>
            </a:xfrm>
            <a:custGeom>
              <a:avLst/>
              <a:gdLst/>
              <a:ahLst/>
              <a:cxnLst/>
              <a:rect r="r" b="b" t="t" l="l"/>
              <a:pathLst>
                <a:path h="273939" w="274066">
                  <a:moveTo>
                    <a:pt x="0" y="0"/>
                  </a:moveTo>
                  <a:lnTo>
                    <a:pt x="274066" y="0"/>
                  </a:lnTo>
                  <a:lnTo>
                    <a:pt x="274066" y="273939"/>
                  </a:lnTo>
                  <a:lnTo>
                    <a:pt x="0" y="273939"/>
                  </a:lnTo>
                  <a:lnTo>
                    <a:pt x="0" y="0"/>
                  </a:lnTo>
                  <a:close/>
                </a:path>
              </a:pathLst>
            </a:custGeom>
            <a:blipFill>
              <a:blip r:embed="rId11"/>
              <a:stretch>
                <a:fillRect l="0" t="0" r="23" b="-23"/>
              </a:stretch>
            </a:blipFill>
          </p:spPr>
        </p:sp>
      </p:grpSp>
      <p:sp>
        <p:nvSpPr>
          <p:cNvPr name="TextBox 50" id="50"/>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
        <p:nvSpPr>
          <p:cNvPr name="Freeform 51" id="51"/>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14"/>
            <a:stretch>
              <a:fillRect l="0" t="0" r="0" b="0"/>
            </a:stretch>
          </a:blipFill>
        </p:spPr>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grpSp>
        <p:nvGrpSpPr>
          <p:cNvPr name="Group 3" id="3"/>
          <p:cNvGrpSpPr/>
          <p:nvPr/>
        </p:nvGrpSpPr>
        <p:grpSpPr>
          <a:xfrm rot="0">
            <a:off x="9358586" y="1531877"/>
            <a:ext cx="8251811" cy="4686857"/>
            <a:chOff x="0" y="0"/>
            <a:chExt cx="9212945" cy="5232761"/>
          </a:xfrm>
        </p:grpSpPr>
        <p:sp>
          <p:nvSpPr>
            <p:cNvPr name="Freeform 4" id="4"/>
            <p:cNvSpPr/>
            <p:nvPr/>
          </p:nvSpPr>
          <p:spPr>
            <a:xfrm flipH="false" flipV="false" rot="0">
              <a:off x="0" y="0"/>
              <a:ext cx="9213014" cy="5232781"/>
            </a:xfrm>
            <a:custGeom>
              <a:avLst/>
              <a:gdLst/>
              <a:ahLst/>
              <a:cxnLst/>
              <a:rect r="r" b="b" t="t" l="l"/>
              <a:pathLst>
                <a:path h="5232781" w="9213014">
                  <a:moveTo>
                    <a:pt x="182742" y="0"/>
                  </a:moveTo>
                  <a:lnTo>
                    <a:pt x="9030269" y="0"/>
                  </a:lnTo>
                  <a:cubicBezTo>
                    <a:pt x="9131172" y="0"/>
                    <a:pt x="9213014" y="85598"/>
                    <a:pt x="9213014" y="191135"/>
                  </a:cubicBezTo>
                  <a:lnTo>
                    <a:pt x="9213014" y="5041646"/>
                  </a:lnTo>
                  <a:cubicBezTo>
                    <a:pt x="9213014" y="5147183"/>
                    <a:pt x="9131172" y="5232781"/>
                    <a:pt x="9030269" y="5232781"/>
                  </a:cubicBezTo>
                  <a:lnTo>
                    <a:pt x="182742" y="5232781"/>
                  </a:lnTo>
                  <a:cubicBezTo>
                    <a:pt x="81839" y="5232781"/>
                    <a:pt x="0" y="5147183"/>
                    <a:pt x="0" y="5041646"/>
                  </a:cubicBezTo>
                  <a:lnTo>
                    <a:pt x="0" y="191135"/>
                  </a:lnTo>
                  <a:cubicBezTo>
                    <a:pt x="0" y="85598"/>
                    <a:pt x="81839" y="0"/>
                    <a:pt x="182742" y="0"/>
                  </a:cubicBezTo>
                  <a:close/>
                </a:path>
              </a:pathLst>
            </a:custGeom>
            <a:blipFill>
              <a:blip r:embed="rId3"/>
              <a:stretch>
                <a:fillRect l="0" t="-18504" r="0" b="-18504"/>
              </a:stretch>
            </a:blipFill>
          </p:spPr>
        </p:sp>
      </p:grpSp>
      <p:sp>
        <p:nvSpPr>
          <p:cNvPr name="Freeform 5" id="5"/>
          <p:cNvSpPr/>
          <p:nvPr/>
        </p:nvSpPr>
        <p:spPr>
          <a:xfrm flipH="false" flipV="false" rot="0">
            <a:off x="10891996" y="6430339"/>
            <a:ext cx="2516004" cy="2941892"/>
          </a:xfrm>
          <a:custGeom>
            <a:avLst/>
            <a:gdLst/>
            <a:ahLst/>
            <a:cxnLst/>
            <a:rect r="r" b="b" t="t" l="l"/>
            <a:pathLst>
              <a:path h="2941892" w="2516004">
                <a:moveTo>
                  <a:pt x="0" y="0"/>
                </a:moveTo>
                <a:lnTo>
                  <a:pt x="2516004" y="0"/>
                </a:lnTo>
                <a:lnTo>
                  <a:pt x="2516004" y="2941892"/>
                </a:lnTo>
                <a:lnTo>
                  <a:pt x="0" y="29418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3818557" y="6430339"/>
            <a:ext cx="3791836" cy="2941892"/>
            <a:chOff x="0" y="0"/>
            <a:chExt cx="5512863" cy="4277149"/>
          </a:xfrm>
        </p:grpSpPr>
        <p:sp>
          <p:nvSpPr>
            <p:cNvPr name="Freeform 7" id="7"/>
            <p:cNvSpPr/>
            <p:nvPr/>
          </p:nvSpPr>
          <p:spPr>
            <a:xfrm flipH="false" flipV="false" rot="0">
              <a:off x="0" y="0"/>
              <a:ext cx="5512816" cy="4277106"/>
            </a:xfrm>
            <a:custGeom>
              <a:avLst/>
              <a:gdLst/>
              <a:ahLst/>
              <a:cxnLst/>
              <a:rect r="r" b="b" t="t" l="l"/>
              <a:pathLst>
                <a:path h="4277106" w="5512816">
                  <a:moveTo>
                    <a:pt x="338836" y="0"/>
                  </a:moveTo>
                  <a:lnTo>
                    <a:pt x="5173980" y="0"/>
                  </a:lnTo>
                  <a:cubicBezTo>
                    <a:pt x="5263896" y="0"/>
                    <a:pt x="5350002" y="35687"/>
                    <a:pt x="5413629" y="99187"/>
                  </a:cubicBezTo>
                  <a:cubicBezTo>
                    <a:pt x="5477256" y="162687"/>
                    <a:pt x="5512816" y="248920"/>
                    <a:pt x="5512816" y="338836"/>
                  </a:cubicBezTo>
                  <a:lnTo>
                    <a:pt x="5512816" y="3938270"/>
                  </a:lnTo>
                  <a:cubicBezTo>
                    <a:pt x="5512816" y="4028186"/>
                    <a:pt x="5477129" y="4114292"/>
                    <a:pt x="5413629" y="4177919"/>
                  </a:cubicBezTo>
                  <a:cubicBezTo>
                    <a:pt x="5350129" y="4241546"/>
                    <a:pt x="5263896" y="4277106"/>
                    <a:pt x="5173980" y="4277106"/>
                  </a:cubicBezTo>
                  <a:lnTo>
                    <a:pt x="338836" y="4277106"/>
                  </a:lnTo>
                  <a:cubicBezTo>
                    <a:pt x="248920" y="4277106"/>
                    <a:pt x="162814" y="4241419"/>
                    <a:pt x="99187" y="4177919"/>
                  </a:cubicBezTo>
                  <a:cubicBezTo>
                    <a:pt x="35560" y="4114419"/>
                    <a:pt x="0" y="4028186"/>
                    <a:pt x="0" y="3938270"/>
                  </a:cubicBezTo>
                  <a:lnTo>
                    <a:pt x="0" y="338836"/>
                  </a:lnTo>
                  <a:cubicBezTo>
                    <a:pt x="0" y="248920"/>
                    <a:pt x="35687" y="162814"/>
                    <a:pt x="99187" y="99187"/>
                  </a:cubicBezTo>
                  <a:cubicBezTo>
                    <a:pt x="162687" y="35560"/>
                    <a:pt x="248920" y="0"/>
                    <a:pt x="338836" y="0"/>
                  </a:cubicBezTo>
                  <a:close/>
                </a:path>
              </a:pathLst>
            </a:custGeom>
            <a:blipFill>
              <a:blip r:embed="rId6"/>
              <a:stretch>
                <a:fillRect l="-19272" t="0" r="-19272" b="0"/>
              </a:stretch>
            </a:blipFill>
          </p:spPr>
        </p:sp>
      </p:grpSp>
      <p:grpSp>
        <p:nvGrpSpPr>
          <p:cNvPr name="Group 8" id="8"/>
          <p:cNvGrpSpPr/>
          <p:nvPr/>
        </p:nvGrpSpPr>
        <p:grpSpPr>
          <a:xfrm rot="0">
            <a:off x="1001972" y="8108878"/>
            <a:ext cx="577972" cy="577972"/>
            <a:chOff x="0" y="0"/>
            <a:chExt cx="770630" cy="770629"/>
          </a:xfrm>
        </p:grpSpPr>
        <p:sp>
          <p:nvSpPr>
            <p:cNvPr name="Freeform 9" id="9"/>
            <p:cNvSpPr/>
            <p:nvPr/>
          </p:nvSpPr>
          <p:spPr>
            <a:xfrm flipH="false" flipV="false" rot="0">
              <a:off x="0" y="0"/>
              <a:ext cx="770636" cy="770636"/>
            </a:xfrm>
            <a:custGeom>
              <a:avLst/>
              <a:gdLst/>
              <a:ahLst/>
              <a:cxnLst/>
              <a:rect r="r" b="b" t="t" l="l"/>
              <a:pathLst>
                <a:path h="770636" w="770636">
                  <a:moveTo>
                    <a:pt x="0" y="0"/>
                  </a:moveTo>
                  <a:lnTo>
                    <a:pt x="770636" y="0"/>
                  </a:lnTo>
                  <a:lnTo>
                    <a:pt x="770636" y="770636"/>
                  </a:lnTo>
                  <a:lnTo>
                    <a:pt x="0" y="770636"/>
                  </a:lnTo>
                  <a:lnTo>
                    <a:pt x="0" y="0"/>
                  </a:lnTo>
                  <a:close/>
                </a:path>
              </a:pathLst>
            </a:custGeom>
            <a:blipFill>
              <a:blip r:embed="rId7"/>
              <a:stretch>
                <a:fillRect l="0" t="0" r="0" b="0"/>
              </a:stretch>
            </a:blipFill>
          </p:spPr>
        </p:sp>
      </p:grpSp>
      <p:sp>
        <p:nvSpPr>
          <p:cNvPr name="Freeform 10" id="10"/>
          <p:cNvSpPr/>
          <p:nvPr/>
        </p:nvSpPr>
        <p:spPr>
          <a:xfrm flipH="false" flipV="false" rot="0">
            <a:off x="10700688" y="4347363"/>
            <a:ext cx="1818437" cy="856000"/>
          </a:xfrm>
          <a:custGeom>
            <a:avLst/>
            <a:gdLst/>
            <a:ahLst/>
            <a:cxnLst/>
            <a:rect r="r" b="b" t="t" l="l"/>
            <a:pathLst>
              <a:path h="856000" w="1818437">
                <a:moveTo>
                  <a:pt x="0" y="0"/>
                </a:moveTo>
                <a:lnTo>
                  <a:pt x="1818437" y="0"/>
                </a:lnTo>
                <a:lnTo>
                  <a:pt x="1818437" y="856000"/>
                </a:lnTo>
                <a:lnTo>
                  <a:pt x="0" y="8560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0891996" y="4584684"/>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2" id="12"/>
          <p:cNvGrpSpPr/>
          <p:nvPr/>
        </p:nvGrpSpPr>
        <p:grpSpPr>
          <a:xfrm rot="0">
            <a:off x="11030759" y="4723448"/>
            <a:ext cx="205502" cy="205502"/>
            <a:chOff x="0" y="0"/>
            <a:chExt cx="274003" cy="274003"/>
          </a:xfrm>
        </p:grpSpPr>
        <p:sp>
          <p:nvSpPr>
            <p:cNvPr name="Freeform 13" id="13"/>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12"/>
              <a:stretch>
                <a:fillRect l="0" t="0" r="23" b="23"/>
              </a:stretch>
            </a:blipFill>
          </p:spPr>
        </p:sp>
      </p:grpSp>
      <p:grpSp>
        <p:nvGrpSpPr>
          <p:cNvPr name="Group 14" id="14"/>
          <p:cNvGrpSpPr/>
          <p:nvPr/>
        </p:nvGrpSpPr>
        <p:grpSpPr>
          <a:xfrm rot="-5400000">
            <a:off x="12396877" y="8479212"/>
            <a:ext cx="849116" cy="426277"/>
            <a:chOff x="0" y="0"/>
            <a:chExt cx="1234511" cy="619755"/>
          </a:xfrm>
        </p:grpSpPr>
        <p:sp>
          <p:nvSpPr>
            <p:cNvPr name="Freeform 15" id="15"/>
            <p:cNvSpPr/>
            <p:nvPr/>
          </p:nvSpPr>
          <p:spPr>
            <a:xfrm flipH="false" flipV="false" rot="0">
              <a:off x="0" y="0"/>
              <a:ext cx="1234567" cy="619760"/>
            </a:xfrm>
            <a:custGeom>
              <a:avLst/>
              <a:gdLst/>
              <a:ahLst/>
              <a:cxnLst/>
              <a:rect r="r" b="b" t="t" l="l"/>
              <a:pathLst>
                <a:path h="619760" w="1234567">
                  <a:moveTo>
                    <a:pt x="0" y="0"/>
                  </a:moveTo>
                  <a:lnTo>
                    <a:pt x="1234567" y="0"/>
                  </a:lnTo>
                  <a:lnTo>
                    <a:pt x="1234567" y="619760"/>
                  </a:lnTo>
                  <a:lnTo>
                    <a:pt x="0" y="619760"/>
                  </a:lnTo>
                  <a:lnTo>
                    <a:pt x="0" y="0"/>
                  </a:lnTo>
                  <a:close/>
                </a:path>
              </a:pathLst>
            </a:custGeom>
            <a:blipFill>
              <a:blip r:embed="rId13"/>
              <a:stretch>
                <a:fillRect l="0" t="-33" r="4" b="-32"/>
              </a:stretch>
            </a:blipFill>
          </p:spPr>
        </p:sp>
      </p:grpSp>
      <p:grpSp>
        <p:nvGrpSpPr>
          <p:cNvPr name="Group 16" id="16"/>
          <p:cNvGrpSpPr/>
          <p:nvPr/>
        </p:nvGrpSpPr>
        <p:grpSpPr>
          <a:xfrm rot="5400000">
            <a:off x="12608297" y="7841516"/>
            <a:ext cx="426277" cy="426277"/>
            <a:chOff x="0" y="0"/>
            <a:chExt cx="619755" cy="619755"/>
          </a:xfrm>
        </p:grpSpPr>
        <p:sp>
          <p:nvSpPr>
            <p:cNvPr name="Freeform 17" id="17"/>
            <p:cNvSpPr/>
            <p:nvPr/>
          </p:nvSpPr>
          <p:spPr>
            <a:xfrm flipH="false" flipV="false" rot="0">
              <a:off x="0" y="0"/>
              <a:ext cx="619760" cy="619760"/>
            </a:xfrm>
            <a:custGeom>
              <a:avLst/>
              <a:gdLst/>
              <a:ahLst/>
              <a:cxnLst/>
              <a:rect r="r" b="b" t="t" l="l"/>
              <a:pathLst>
                <a:path h="619760" w="619760">
                  <a:moveTo>
                    <a:pt x="0" y="0"/>
                  </a:moveTo>
                  <a:lnTo>
                    <a:pt x="619760" y="0"/>
                  </a:lnTo>
                  <a:lnTo>
                    <a:pt x="619760" y="619760"/>
                  </a:lnTo>
                  <a:lnTo>
                    <a:pt x="0" y="619760"/>
                  </a:lnTo>
                  <a:lnTo>
                    <a:pt x="0" y="0"/>
                  </a:lnTo>
                  <a:close/>
                </a:path>
              </a:pathLst>
            </a:custGeom>
            <a:blipFill>
              <a:blip r:embed="rId14"/>
              <a:stretch>
                <a:fillRect l="0" t="0" r="0" b="0"/>
              </a:stretch>
            </a:blipFill>
          </p:spPr>
        </p:sp>
      </p:grpSp>
      <p:sp>
        <p:nvSpPr>
          <p:cNvPr name="AutoShape 18" id="18"/>
          <p:cNvSpPr/>
          <p:nvPr/>
        </p:nvSpPr>
        <p:spPr>
          <a:xfrm>
            <a:off x="11356154" y="7893383"/>
            <a:ext cx="931257" cy="34941"/>
          </a:xfrm>
          <a:prstGeom prst="line">
            <a:avLst/>
          </a:prstGeom>
          <a:ln cap="rnd" w="28575">
            <a:solidFill>
              <a:srgbClr val="FFFFFF"/>
            </a:solidFill>
            <a:prstDash val="solid"/>
            <a:headEnd type="none" len="sm" w="sm"/>
            <a:tailEnd type="none" len="sm" w="sm"/>
          </a:ln>
        </p:spPr>
      </p:sp>
      <p:sp>
        <p:nvSpPr>
          <p:cNvPr name="TextBox 19" id="19"/>
          <p:cNvSpPr txBox="true"/>
          <p:nvPr/>
        </p:nvSpPr>
        <p:spPr>
          <a:xfrm rot="0">
            <a:off x="668659" y="1651144"/>
            <a:ext cx="9309600" cy="2899200"/>
          </a:xfrm>
          <a:prstGeom prst="rect">
            <a:avLst/>
          </a:prstGeom>
        </p:spPr>
        <p:txBody>
          <a:bodyPr anchor="t" rtlCol="false" tIns="0" lIns="0" bIns="0" rIns="0">
            <a:spAutoFit/>
          </a:bodyPr>
          <a:lstStyle/>
          <a:p>
            <a:pPr algn="l">
              <a:lnSpc>
                <a:spcPts val="11454"/>
              </a:lnSpc>
            </a:pPr>
            <a:r>
              <a:rPr lang="en-US" b="true" sz="8300">
                <a:solidFill>
                  <a:srgbClr val="FFFFFF"/>
                </a:solidFill>
                <a:latin typeface="Inter Bold"/>
                <a:ea typeface="Inter Bold"/>
                <a:cs typeface="Inter Bold"/>
                <a:sym typeface="Inter Bold"/>
              </a:rPr>
              <a:t>PRODUCT</a:t>
            </a:r>
          </a:p>
          <a:p>
            <a:pPr algn="l">
              <a:lnSpc>
                <a:spcPts val="11454"/>
              </a:lnSpc>
            </a:pPr>
            <a:r>
              <a:rPr lang="en-US" b="true" sz="8300">
                <a:solidFill>
                  <a:srgbClr val="FFFFFF"/>
                </a:solidFill>
                <a:latin typeface="Inter Bold"/>
                <a:ea typeface="Inter Bold"/>
                <a:cs typeface="Inter Bold"/>
                <a:sym typeface="Inter Bold"/>
              </a:rPr>
              <a:t>PORTFOLIO</a:t>
            </a:r>
          </a:p>
        </p:txBody>
      </p:sp>
      <p:sp>
        <p:nvSpPr>
          <p:cNvPr name="TextBox 20" id="20"/>
          <p:cNvSpPr txBox="true"/>
          <p:nvPr/>
        </p:nvSpPr>
        <p:spPr>
          <a:xfrm rot="0">
            <a:off x="677607" y="6133009"/>
            <a:ext cx="7144453" cy="2260473"/>
          </a:xfrm>
          <a:prstGeom prst="rect">
            <a:avLst/>
          </a:prstGeom>
        </p:spPr>
        <p:txBody>
          <a:bodyPr anchor="t" rtlCol="false" tIns="0" lIns="0" bIns="0" rIns="0">
            <a:spAutoFit/>
          </a:bodyPr>
          <a:lstStyle/>
          <a:p>
            <a:pPr algn="l" marL="394017" indent="-197008" lvl="1">
              <a:lnSpc>
                <a:spcPts val="3065"/>
              </a:lnSpc>
              <a:buFont typeface="Arial"/>
              <a:buChar char="•"/>
            </a:pPr>
            <a:r>
              <a:rPr lang="en-US" sz="1824">
                <a:solidFill>
                  <a:srgbClr val="FFFFFF"/>
                </a:solidFill>
                <a:latin typeface="Inter"/>
                <a:ea typeface="Inter"/>
                <a:cs typeface="Inter"/>
                <a:sym typeface="Inter"/>
              </a:rPr>
              <a:t>Pe</a:t>
            </a:r>
            <a:r>
              <a:rPr lang="en-US" sz="1824">
                <a:solidFill>
                  <a:srgbClr val="FFFFFF"/>
                </a:solidFill>
                <a:latin typeface="Inter"/>
                <a:ea typeface="Inter"/>
                <a:cs typeface="Inter"/>
                <a:sym typeface="Inter"/>
              </a:rPr>
              <a:t>rsonal, business, and e-commerce websites</a:t>
            </a:r>
          </a:p>
          <a:p>
            <a:pPr algn="l" marL="394017" indent="-197008" lvl="1">
              <a:lnSpc>
                <a:spcPts val="3065"/>
              </a:lnSpc>
              <a:buFont typeface="Arial"/>
              <a:buChar char="•"/>
            </a:pPr>
            <a:r>
              <a:rPr lang="en-US" sz="1824">
                <a:solidFill>
                  <a:srgbClr val="FFFFFF"/>
                </a:solidFill>
                <a:latin typeface="Inter"/>
                <a:ea typeface="Inter"/>
                <a:cs typeface="Inter"/>
                <a:sym typeface="Inter"/>
              </a:rPr>
              <a:t>Social media and print branding kits</a:t>
            </a:r>
          </a:p>
          <a:p>
            <a:pPr algn="l" marL="394017" indent="-197008" lvl="1">
              <a:lnSpc>
                <a:spcPts val="3065"/>
              </a:lnSpc>
              <a:buFont typeface="Arial"/>
              <a:buChar char="•"/>
            </a:pPr>
            <a:r>
              <a:rPr lang="en-US" sz="1824">
                <a:solidFill>
                  <a:srgbClr val="FFFFFF"/>
                </a:solidFill>
                <a:latin typeface="Inter"/>
                <a:ea typeface="Inter"/>
                <a:cs typeface="Inter"/>
                <a:sym typeface="Inter"/>
              </a:rPr>
              <a:t>Screen reader–optimized digital resources</a:t>
            </a:r>
          </a:p>
          <a:p>
            <a:pPr algn="l" marL="394017" indent="-197008" lvl="1">
              <a:lnSpc>
                <a:spcPts val="3065"/>
              </a:lnSpc>
              <a:buFont typeface="Arial"/>
              <a:buChar char="•"/>
            </a:pPr>
            <a:r>
              <a:rPr lang="en-US" sz="1824">
                <a:solidFill>
                  <a:srgbClr val="FFFFFF"/>
                </a:solidFill>
                <a:latin typeface="Inter"/>
                <a:ea typeface="Inter"/>
                <a:cs typeface="Inter"/>
                <a:sym typeface="Inter"/>
              </a:rPr>
              <a:t>Customized ICT training programs</a:t>
            </a:r>
          </a:p>
          <a:p>
            <a:pPr algn="l" marL="394017" indent="-197008" lvl="1">
              <a:lnSpc>
                <a:spcPts val="3065"/>
              </a:lnSpc>
              <a:buFont typeface="Arial"/>
              <a:buChar char="•"/>
            </a:pPr>
            <a:r>
              <a:rPr lang="en-US" sz="1824">
                <a:solidFill>
                  <a:srgbClr val="FFFFFF"/>
                </a:solidFill>
                <a:latin typeface="Inter"/>
                <a:ea typeface="Inter"/>
                <a:cs typeface="Inter"/>
                <a:sym typeface="Inter"/>
              </a:rPr>
              <a:t>Data security and recovery packages</a:t>
            </a:r>
          </a:p>
          <a:p>
            <a:pPr algn="l">
              <a:lnSpc>
                <a:spcPts val="3066"/>
              </a:lnSpc>
            </a:pPr>
          </a:p>
        </p:txBody>
      </p:sp>
      <p:sp>
        <p:nvSpPr>
          <p:cNvPr name="TextBox 21" id="21"/>
          <p:cNvSpPr txBox="true"/>
          <p:nvPr/>
        </p:nvSpPr>
        <p:spPr>
          <a:xfrm rot="0">
            <a:off x="677607" y="4962938"/>
            <a:ext cx="6750600" cy="872035"/>
          </a:xfrm>
          <a:prstGeom prst="rect">
            <a:avLst/>
          </a:prstGeom>
        </p:spPr>
        <p:txBody>
          <a:bodyPr anchor="t" rtlCol="false" tIns="0" lIns="0" bIns="0" rIns="0">
            <a:spAutoFit/>
          </a:bodyPr>
          <a:lstStyle/>
          <a:p>
            <a:pPr algn="l">
              <a:lnSpc>
                <a:spcPts val="3528"/>
              </a:lnSpc>
            </a:pPr>
            <a:r>
              <a:rPr lang="en-US" b="true" sz="2100">
                <a:solidFill>
                  <a:srgbClr val="FFFFFF"/>
                </a:solidFill>
                <a:latin typeface="Inter Bold"/>
                <a:ea typeface="Inter Bold"/>
                <a:cs typeface="Inter Bold"/>
                <a:sym typeface="Inter Bold"/>
              </a:rPr>
              <a:t>Our</a:t>
            </a:r>
            <a:r>
              <a:rPr lang="en-US" b="true" sz="2100">
                <a:solidFill>
                  <a:srgbClr val="FFFFFF"/>
                </a:solidFill>
                <a:latin typeface="Inter Bold"/>
                <a:ea typeface="Inter Bold"/>
                <a:cs typeface="Inter Bold"/>
                <a:sym typeface="Inter Bold"/>
              </a:rPr>
              <a:t> offerings are tailored to businesses, NGOs, and individuals seeking reliable tech solutions:</a:t>
            </a:r>
          </a:p>
        </p:txBody>
      </p:sp>
      <p:sp>
        <p:nvSpPr>
          <p:cNvPr name="TextBox 22" id="22"/>
          <p:cNvSpPr txBox="true"/>
          <p:nvPr/>
        </p:nvSpPr>
        <p:spPr>
          <a:xfrm rot="0">
            <a:off x="677607" y="9518121"/>
            <a:ext cx="419288" cy="274320"/>
          </a:xfrm>
          <a:prstGeom prst="rect">
            <a:avLst/>
          </a:prstGeom>
        </p:spPr>
        <p:txBody>
          <a:bodyPr anchor="t" rtlCol="false" tIns="0" lIns="0" bIns="0" rIns="0">
            <a:spAutoFit/>
          </a:bodyPr>
          <a:lstStyle/>
          <a:p>
            <a:pPr algn="just">
              <a:lnSpc>
                <a:spcPts val="2014"/>
              </a:lnSpc>
            </a:pPr>
            <a:r>
              <a:rPr lang="en-US" sz="1200">
                <a:solidFill>
                  <a:srgbClr val="FFFFFF"/>
                </a:solidFill>
                <a:latin typeface="Inter Light"/>
                <a:ea typeface="Inter Light"/>
                <a:cs typeface="Inter Light"/>
                <a:sym typeface="Inter Light"/>
              </a:rPr>
              <a:t>10</a:t>
            </a:r>
          </a:p>
        </p:txBody>
      </p:sp>
      <p:sp>
        <p:nvSpPr>
          <p:cNvPr name="TextBox 23" id="23"/>
          <p:cNvSpPr txBox="true"/>
          <p:nvPr/>
        </p:nvSpPr>
        <p:spPr>
          <a:xfrm rot="0">
            <a:off x="11364922" y="8689380"/>
            <a:ext cx="948480" cy="393088"/>
          </a:xfrm>
          <a:prstGeom prst="rect">
            <a:avLst/>
          </a:prstGeom>
        </p:spPr>
        <p:txBody>
          <a:bodyPr anchor="t" rtlCol="false" tIns="0" lIns="0" bIns="0" rIns="0">
            <a:spAutoFit/>
          </a:bodyPr>
          <a:lstStyle/>
          <a:p>
            <a:pPr algn="l">
              <a:lnSpc>
                <a:spcPts val="3346"/>
              </a:lnSpc>
            </a:pPr>
            <a:r>
              <a:rPr lang="en-US" b="true" sz="1991">
                <a:solidFill>
                  <a:srgbClr val="FFFFFF"/>
                </a:solidFill>
                <a:latin typeface="Inter Bold"/>
                <a:ea typeface="Inter Bold"/>
                <a:cs typeface="Inter Bold"/>
                <a:sym typeface="Inter Bold"/>
              </a:rPr>
              <a:t>2024</a:t>
            </a:r>
          </a:p>
        </p:txBody>
      </p:sp>
      <p:sp>
        <p:nvSpPr>
          <p:cNvPr name="TextBox 24" id="24"/>
          <p:cNvSpPr txBox="true"/>
          <p:nvPr/>
        </p:nvSpPr>
        <p:spPr>
          <a:xfrm rot="0">
            <a:off x="11364922" y="8145507"/>
            <a:ext cx="1026288" cy="530844"/>
          </a:xfrm>
          <a:prstGeom prst="rect">
            <a:avLst/>
          </a:prstGeom>
        </p:spPr>
        <p:txBody>
          <a:bodyPr anchor="t" rtlCol="false" tIns="0" lIns="0" bIns="0" rIns="0">
            <a:spAutoFit/>
          </a:bodyPr>
          <a:lstStyle/>
          <a:p>
            <a:pPr algn="l">
              <a:lnSpc>
                <a:spcPts val="2230"/>
              </a:lnSpc>
            </a:pPr>
            <a:r>
              <a:rPr lang="en-US" sz="1327">
                <a:solidFill>
                  <a:srgbClr val="FFFFFF"/>
                </a:solidFill>
                <a:latin typeface="Inter Light"/>
                <a:ea typeface="Inter Light"/>
                <a:cs typeface="Inter Light"/>
                <a:sym typeface="Inter Light"/>
              </a:rPr>
              <a:t>Established</a:t>
            </a:r>
          </a:p>
          <a:p>
            <a:pPr algn="l">
              <a:lnSpc>
                <a:spcPts val="2230"/>
              </a:lnSpc>
            </a:pPr>
            <a:r>
              <a:rPr lang="en-US" sz="1327">
                <a:solidFill>
                  <a:srgbClr val="FFFFFF"/>
                </a:solidFill>
                <a:latin typeface="Inter Light"/>
                <a:ea typeface="Inter Light"/>
                <a:cs typeface="Inter Light"/>
                <a:sym typeface="Inter Light"/>
              </a:rPr>
              <a:t>Since</a:t>
            </a:r>
          </a:p>
        </p:txBody>
      </p:sp>
      <p:sp>
        <p:nvSpPr>
          <p:cNvPr name="TextBox 25" id="25"/>
          <p:cNvSpPr txBox="true"/>
          <p:nvPr/>
        </p:nvSpPr>
        <p:spPr>
          <a:xfrm rot="0">
            <a:off x="1228783" y="590519"/>
            <a:ext cx="2618545"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TextBox 26" id="26"/>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
        <p:nvSpPr>
          <p:cNvPr name="TextBox 27" id="27"/>
          <p:cNvSpPr txBox="true"/>
          <p:nvPr/>
        </p:nvSpPr>
        <p:spPr>
          <a:xfrm rot="0">
            <a:off x="11364922" y="6624593"/>
            <a:ext cx="1695182" cy="1037160"/>
          </a:xfrm>
          <a:prstGeom prst="rect">
            <a:avLst/>
          </a:prstGeom>
        </p:spPr>
        <p:txBody>
          <a:bodyPr anchor="t" rtlCol="false" tIns="0" lIns="0" bIns="0" rIns="0">
            <a:spAutoFit/>
          </a:bodyPr>
          <a:lstStyle/>
          <a:p>
            <a:pPr algn="l">
              <a:lnSpc>
                <a:spcPts val="2801"/>
              </a:lnSpc>
            </a:pPr>
            <a:r>
              <a:rPr lang="en-US" sz="1945">
                <a:solidFill>
                  <a:srgbClr val="FFFFFF"/>
                </a:solidFill>
                <a:latin typeface="Ultra"/>
                <a:ea typeface="Ultra"/>
                <a:cs typeface="Ultra"/>
                <a:sym typeface="Ultra"/>
              </a:rPr>
              <a:t>INNOVATE. DE</a:t>
            </a:r>
            <a:r>
              <a:rPr lang="en-US" sz="1945">
                <a:solidFill>
                  <a:srgbClr val="FFFFFF"/>
                </a:solidFill>
                <a:latin typeface="Ultra"/>
                <a:ea typeface="Ultra"/>
                <a:cs typeface="Ultra"/>
                <a:sym typeface="Ultra"/>
              </a:rPr>
              <a:t>SIGN. EMPOWER</a:t>
            </a:r>
          </a:p>
        </p:txBody>
      </p:sp>
      <p:sp>
        <p:nvSpPr>
          <p:cNvPr name="Freeform 28" id="28"/>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15"/>
            <a:stretch>
              <a:fillRect l="0" t="0" r="0" b="0"/>
            </a:stretch>
          </a:blipFill>
        </p:spPr>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Freeform 3" id="3"/>
          <p:cNvSpPr/>
          <p:nvPr/>
        </p:nvSpPr>
        <p:spPr>
          <a:xfrm flipH="false" flipV="false" rot="0">
            <a:off x="11364135" y="1367302"/>
            <a:ext cx="4532272" cy="9238101"/>
          </a:xfrm>
          <a:custGeom>
            <a:avLst/>
            <a:gdLst/>
            <a:ahLst/>
            <a:cxnLst/>
            <a:rect r="r" b="b" t="t" l="l"/>
            <a:pathLst>
              <a:path h="9238101" w="4532272">
                <a:moveTo>
                  <a:pt x="0" y="0"/>
                </a:moveTo>
                <a:lnTo>
                  <a:pt x="4532272" y="0"/>
                </a:lnTo>
                <a:lnTo>
                  <a:pt x="4532272" y="9238101"/>
                </a:lnTo>
                <a:lnTo>
                  <a:pt x="0" y="92381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1973120" y="5671024"/>
            <a:ext cx="2900245" cy="38100"/>
          </a:xfrm>
          <a:prstGeom prst="line">
            <a:avLst/>
          </a:prstGeom>
          <a:ln cap="rnd" w="28575">
            <a:solidFill>
              <a:srgbClr val="292929"/>
            </a:solidFill>
            <a:prstDash val="solid"/>
            <a:headEnd type="none" len="sm" w="sm"/>
            <a:tailEnd type="none" len="sm" w="sm"/>
          </a:ln>
        </p:spPr>
      </p:sp>
      <p:sp>
        <p:nvSpPr>
          <p:cNvPr name="Freeform 5" id="5"/>
          <p:cNvSpPr/>
          <p:nvPr/>
        </p:nvSpPr>
        <p:spPr>
          <a:xfrm flipH="false" flipV="false" rot="0">
            <a:off x="677607" y="6263825"/>
            <a:ext cx="8647214" cy="2447664"/>
          </a:xfrm>
          <a:custGeom>
            <a:avLst/>
            <a:gdLst/>
            <a:ahLst/>
            <a:cxnLst/>
            <a:rect r="r" b="b" t="t" l="l"/>
            <a:pathLst>
              <a:path h="2447664" w="8647214">
                <a:moveTo>
                  <a:pt x="0" y="0"/>
                </a:moveTo>
                <a:lnTo>
                  <a:pt x="8647214" y="0"/>
                </a:lnTo>
                <a:lnTo>
                  <a:pt x="8647214" y="2447664"/>
                </a:lnTo>
                <a:lnTo>
                  <a:pt x="0" y="24476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858676" y="6536425"/>
            <a:ext cx="3995799" cy="2010960"/>
            <a:chOff x="0" y="0"/>
            <a:chExt cx="5327732" cy="2681280"/>
          </a:xfrm>
        </p:grpSpPr>
        <p:sp>
          <p:nvSpPr>
            <p:cNvPr name="Freeform 7" id="7"/>
            <p:cNvSpPr/>
            <p:nvPr/>
          </p:nvSpPr>
          <p:spPr>
            <a:xfrm flipH="false" flipV="false" rot="0">
              <a:off x="0" y="0"/>
              <a:ext cx="5327650" cy="2681351"/>
            </a:xfrm>
            <a:custGeom>
              <a:avLst/>
              <a:gdLst/>
              <a:ahLst/>
              <a:cxnLst/>
              <a:rect r="r" b="b" t="t" l="l"/>
              <a:pathLst>
                <a:path h="2681351" w="5327650">
                  <a:moveTo>
                    <a:pt x="336804" y="0"/>
                  </a:moveTo>
                  <a:lnTo>
                    <a:pt x="4990846" y="0"/>
                  </a:lnTo>
                  <a:cubicBezTo>
                    <a:pt x="5176901" y="0"/>
                    <a:pt x="5327650" y="150876"/>
                    <a:pt x="5327650" y="336804"/>
                  </a:cubicBezTo>
                  <a:lnTo>
                    <a:pt x="5327650" y="2344420"/>
                  </a:lnTo>
                  <a:cubicBezTo>
                    <a:pt x="5327650" y="2433701"/>
                    <a:pt x="5292217" y="2519426"/>
                    <a:pt x="5228971" y="2582672"/>
                  </a:cubicBezTo>
                  <a:cubicBezTo>
                    <a:pt x="5165725" y="2645918"/>
                    <a:pt x="5080127" y="2681351"/>
                    <a:pt x="4990719" y="2681351"/>
                  </a:cubicBezTo>
                  <a:lnTo>
                    <a:pt x="336804" y="2681351"/>
                  </a:lnTo>
                  <a:cubicBezTo>
                    <a:pt x="150876" y="2681224"/>
                    <a:pt x="0" y="2530475"/>
                    <a:pt x="0" y="2344420"/>
                  </a:cubicBezTo>
                  <a:lnTo>
                    <a:pt x="0" y="336804"/>
                  </a:lnTo>
                  <a:cubicBezTo>
                    <a:pt x="0" y="150876"/>
                    <a:pt x="150876" y="0"/>
                    <a:pt x="336804" y="0"/>
                  </a:cubicBezTo>
                  <a:close/>
                </a:path>
              </a:pathLst>
            </a:custGeom>
            <a:blipFill>
              <a:blip r:embed="rId7"/>
              <a:stretch>
                <a:fillRect l="0" t="-16110" r="0" b="-16110"/>
              </a:stretch>
            </a:blipFill>
          </p:spPr>
        </p:sp>
      </p:grpSp>
      <p:sp>
        <p:nvSpPr>
          <p:cNvPr name="Freeform 8" id="8"/>
          <p:cNvSpPr/>
          <p:nvPr/>
        </p:nvSpPr>
        <p:spPr>
          <a:xfrm flipH="false" flipV="false" rot="0">
            <a:off x="14766817" y="2324003"/>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4905581" y="2462766"/>
            <a:ext cx="205502" cy="205502"/>
            <a:chOff x="0" y="0"/>
            <a:chExt cx="274003" cy="274003"/>
          </a:xfrm>
        </p:grpSpPr>
        <p:sp>
          <p:nvSpPr>
            <p:cNvPr name="Freeform 10" id="10"/>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10"/>
              <a:stretch>
                <a:fillRect l="0" t="0" r="23" b="23"/>
              </a:stretch>
            </a:blipFill>
          </p:spPr>
        </p:sp>
      </p:grpSp>
      <p:sp>
        <p:nvSpPr>
          <p:cNvPr name="Freeform 11" id="11"/>
          <p:cNvSpPr/>
          <p:nvPr/>
        </p:nvSpPr>
        <p:spPr>
          <a:xfrm flipH="false" flipV="false" rot="0">
            <a:off x="14766817" y="6294910"/>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p:nvPr/>
        </p:nvGrpSpPr>
        <p:grpSpPr>
          <a:xfrm rot="0">
            <a:off x="14905581" y="6433674"/>
            <a:ext cx="205502" cy="205502"/>
            <a:chOff x="0" y="0"/>
            <a:chExt cx="274003" cy="274003"/>
          </a:xfrm>
        </p:grpSpPr>
        <p:sp>
          <p:nvSpPr>
            <p:cNvPr name="Freeform 13" id="13"/>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10"/>
              <a:stretch>
                <a:fillRect l="0" t="0" r="23" b="23"/>
              </a:stretch>
            </a:blipFill>
          </p:spPr>
        </p:sp>
      </p:grpSp>
      <p:sp>
        <p:nvSpPr>
          <p:cNvPr name="TextBox 14" id="14"/>
          <p:cNvSpPr txBox="true"/>
          <p:nvPr/>
        </p:nvSpPr>
        <p:spPr>
          <a:xfrm rot="0">
            <a:off x="11992170" y="3367917"/>
            <a:ext cx="2421015" cy="737997"/>
          </a:xfrm>
          <a:prstGeom prst="rect">
            <a:avLst/>
          </a:prstGeom>
        </p:spPr>
        <p:txBody>
          <a:bodyPr anchor="t" rtlCol="false" tIns="0" lIns="0" bIns="0" rIns="0">
            <a:spAutoFit/>
          </a:bodyPr>
          <a:lstStyle/>
          <a:p>
            <a:pPr algn="l">
              <a:lnSpc>
                <a:spcPts val="3024"/>
              </a:lnSpc>
            </a:pPr>
            <a:r>
              <a:rPr lang="en-US" b="true" sz="1800">
                <a:solidFill>
                  <a:srgbClr val="292929"/>
                </a:solidFill>
                <a:latin typeface="Inter Bold"/>
                <a:ea typeface="Inter Bold"/>
                <a:cs typeface="Inter Bold"/>
                <a:sym typeface="Inter Bold"/>
              </a:rPr>
              <a:t>Comp</a:t>
            </a:r>
            <a:r>
              <a:rPr lang="en-US" b="true" sz="1800">
                <a:solidFill>
                  <a:srgbClr val="292929"/>
                </a:solidFill>
                <a:latin typeface="Inter Bold"/>
                <a:ea typeface="Inter Bold"/>
                <a:cs typeface="Inter Bold"/>
                <a:sym typeface="Inter Bold"/>
              </a:rPr>
              <a:t>any Foundation Established</a:t>
            </a:r>
          </a:p>
        </p:txBody>
      </p:sp>
      <p:sp>
        <p:nvSpPr>
          <p:cNvPr name="TextBox 15" id="15"/>
          <p:cNvSpPr txBox="true"/>
          <p:nvPr/>
        </p:nvSpPr>
        <p:spPr>
          <a:xfrm rot="0">
            <a:off x="11992170" y="4176285"/>
            <a:ext cx="3257676" cy="1162431"/>
          </a:xfrm>
          <a:prstGeom prst="rect">
            <a:avLst/>
          </a:prstGeom>
        </p:spPr>
        <p:txBody>
          <a:bodyPr anchor="t" rtlCol="false" tIns="0" lIns="0" bIns="0" rIns="0">
            <a:spAutoFit/>
          </a:bodyPr>
          <a:lstStyle/>
          <a:p>
            <a:pPr algn="l">
              <a:lnSpc>
                <a:spcPts val="2351"/>
              </a:lnSpc>
            </a:pPr>
            <a:r>
              <a:rPr lang="en-US" sz="1399">
                <a:solidFill>
                  <a:srgbClr val="292929"/>
                </a:solidFill>
                <a:latin typeface="Inter"/>
                <a:ea typeface="Inter"/>
                <a:cs typeface="Inter"/>
                <a:sym typeface="Inter"/>
              </a:rPr>
              <a:t>In 2024, Ot</a:t>
            </a:r>
            <a:r>
              <a:rPr lang="en-US" sz="1399">
                <a:solidFill>
                  <a:srgbClr val="292929"/>
                </a:solidFill>
                <a:latin typeface="Inter"/>
                <a:ea typeface="Inter"/>
                <a:cs typeface="Inter"/>
                <a:sym typeface="Inter"/>
              </a:rPr>
              <a:t>rava Technologies officially launched and completed all necessary registrations with PACRA and ZRA to operate legally in Zambia.</a:t>
            </a:r>
          </a:p>
        </p:txBody>
      </p:sp>
      <p:sp>
        <p:nvSpPr>
          <p:cNvPr name="TextBox 16" id="16"/>
          <p:cNvSpPr txBox="true"/>
          <p:nvPr/>
        </p:nvSpPr>
        <p:spPr>
          <a:xfrm rot="0">
            <a:off x="11992170" y="2390678"/>
            <a:ext cx="2510880" cy="554205"/>
          </a:xfrm>
          <a:prstGeom prst="rect">
            <a:avLst/>
          </a:prstGeom>
        </p:spPr>
        <p:txBody>
          <a:bodyPr anchor="t" rtlCol="false" tIns="0" lIns="0" bIns="0" rIns="0">
            <a:spAutoFit/>
          </a:bodyPr>
          <a:lstStyle/>
          <a:p>
            <a:pPr algn="l">
              <a:lnSpc>
                <a:spcPts val="4349"/>
              </a:lnSpc>
            </a:pPr>
            <a:r>
              <a:rPr lang="en-US" b="true" sz="3699">
                <a:solidFill>
                  <a:srgbClr val="292929"/>
                </a:solidFill>
                <a:latin typeface="Inter Bold"/>
                <a:ea typeface="Inter Bold"/>
                <a:cs typeface="Inter Bold"/>
                <a:sym typeface="Inter Bold"/>
              </a:rPr>
              <a:t>2024</a:t>
            </a:r>
          </a:p>
        </p:txBody>
      </p:sp>
      <p:sp>
        <p:nvSpPr>
          <p:cNvPr name="TextBox 17" id="17"/>
          <p:cNvSpPr txBox="true"/>
          <p:nvPr/>
        </p:nvSpPr>
        <p:spPr>
          <a:xfrm rot="0">
            <a:off x="11992170" y="7391280"/>
            <a:ext cx="3016162" cy="356997"/>
          </a:xfrm>
          <a:prstGeom prst="rect">
            <a:avLst/>
          </a:prstGeom>
        </p:spPr>
        <p:txBody>
          <a:bodyPr anchor="t" rtlCol="false" tIns="0" lIns="0" bIns="0" rIns="0">
            <a:spAutoFit/>
          </a:bodyPr>
          <a:lstStyle/>
          <a:p>
            <a:pPr algn="l">
              <a:lnSpc>
                <a:spcPts val="3024"/>
              </a:lnSpc>
            </a:pPr>
            <a:r>
              <a:rPr lang="en-US" b="true" sz="1800">
                <a:solidFill>
                  <a:srgbClr val="292929"/>
                </a:solidFill>
                <a:latin typeface="Inter Bold"/>
                <a:ea typeface="Inter Bold"/>
                <a:cs typeface="Inter Bold"/>
                <a:sym typeface="Inter Bold"/>
              </a:rPr>
              <a:t>Cl</a:t>
            </a:r>
            <a:r>
              <a:rPr lang="en-US" b="true" sz="1800">
                <a:solidFill>
                  <a:srgbClr val="292929"/>
                </a:solidFill>
                <a:latin typeface="Inter Bold"/>
                <a:ea typeface="Inter Bold"/>
                <a:cs typeface="Inter Bold"/>
                <a:sym typeface="Inter Bold"/>
              </a:rPr>
              <a:t>ient Base Growth</a:t>
            </a:r>
          </a:p>
        </p:txBody>
      </p:sp>
      <p:sp>
        <p:nvSpPr>
          <p:cNvPr name="TextBox 18" id="18"/>
          <p:cNvSpPr txBox="true"/>
          <p:nvPr/>
        </p:nvSpPr>
        <p:spPr>
          <a:xfrm rot="0">
            <a:off x="11992170" y="7859437"/>
            <a:ext cx="3118913" cy="1752981"/>
          </a:xfrm>
          <a:prstGeom prst="rect">
            <a:avLst/>
          </a:prstGeom>
        </p:spPr>
        <p:txBody>
          <a:bodyPr anchor="t" rtlCol="false" tIns="0" lIns="0" bIns="0" rIns="0">
            <a:spAutoFit/>
          </a:bodyPr>
          <a:lstStyle/>
          <a:p>
            <a:pPr algn="l">
              <a:lnSpc>
                <a:spcPts val="2351"/>
              </a:lnSpc>
            </a:pPr>
            <a:r>
              <a:rPr lang="en-US" sz="1399">
                <a:solidFill>
                  <a:srgbClr val="292929"/>
                </a:solidFill>
                <a:latin typeface="Inter"/>
                <a:ea typeface="Inter"/>
                <a:cs typeface="Inter"/>
                <a:sym typeface="Inter"/>
              </a:rPr>
              <a:t>By 2025, we successfully served over 100 clients locally and internationally, including projects for clients in South Africa, while expanding our presence to the Copperbelt region beyond Lusaka.</a:t>
            </a:r>
          </a:p>
        </p:txBody>
      </p:sp>
      <p:sp>
        <p:nvSpPr>
          <p:cNvPr name="TextBox 19" id="19"/>
          <p:cNvSpPr txBox="true"/>
          <p:nvPr/>
        </p:nvSpPr>
        <p:spPr>
          <a:xfrm rot="0">
            <a:off x="11992170" y="6361585"/>
            <a:ext cx="2421015" cy="554205"/>
          </a:xfrm>
          <a:prstGeom prst="rect">
            <a:avLst/>
          </a:prstGeom>
        </p:spPr>
        <p:txBody>
          <a:bodyPr anchor="t" rtlCol="false" tIns="0" lIns="0" bIns="0" rIns="0">
            <a:spAutoFit/>
          </a:bodyPr>
          <a:lstStyle/>
          <a:p>
            <a:pPr algn="l">
              <a:lnSpc>
                <a:spcPts val="4349"/>
              </a:lnSpc>
            </a:pPr>
            <a:r>
              <a:rPr lang="en-US" b="true" sz="3699">
                <a:solidFill>
                  <a:srgbClr val="292929"/>
                </a:solidFill>
                <a:latin typeface="Inter Bold"/>
                <a:ea typeface="Inter Bold"/>
                <a:cs typeface="Inter Bold"/>
                <a:sym typeface="Inter Bold"/>
              </a:rPr>
              <a:t>2025</a:t>
            </a:r>
          </a:p>
        </p:txBody>
      </p:sp>
      <p:sp>
        <p:nvSpPr>
          <p:cNvPr name="TextBox 20" id="20"/>
          <p:cNvSpPr txBox="true"/>
          <p:nvPr/>
        </p:nvSpPr>
        <p:spPr>
          <a:xfrm rot="0">
            <a:off x="677607" y="2209703"/>
            <a:ext cx="9042000" cy="2899200"/>
          </a:xfrm>
          <a:prstGeom prst="rect">
            <a:avLst/>
          </a:prstGeom>
        </p:spPr>
        <p:txBody>
          <a:bodyPr anchor="t" rtlCol="false" tIns="0" lIns="0" bIns="0" rIns="0">
            <a:spAutoFit/>
          </a:bodyPr>
          <a:lstStyle/>
          <a:p>
            <a:pPr algn="l">
              <a:lnSpc>
                <a:spcPts val="11454"/>
              </a:lnSpc>
            </a:pPr>
            <a:r>
              <a:rPr lang="en-US" b="true" sz="8300">
                <a:solidFill>
                  <a:srgbClr val="FFFFFF"/>
                </a:solidFill>
                <a:latin typeface="Inter Bold"/>
                <a:ea typeface="Inter Bold"/>
                <a:cs typeface="Inter Bold"/>
                <a:sym typeface="Inter Bold"/>
              </a:rPr>
              <a:t>DEVELOPMENT</a:t>
            </a:r>
          </a:p>
          <a:p>
            <a:pPr algn="l">
              <a:lnSpc>
                <a:spcPts val="11454"/>
              </a:lnSpc>
            </a:pPr>
            <a:r>
              <a:rPr lang="en-US" b="true" sz="8300">
                <a:solidFill>
                  <a:srgbClr val="FFFFFF"/>
                </a:solidFill>
                <a:latin typeface="Inter Bold"/>
                <a:ea typeface="Inter Bold"/>
                <a:cs typeface="Inter Bold"/>
                <a:sym typeface="Inter Bold"/>
              </a:rPr>
              <a:t>TIMELINE</a:t>
            </a:r>
          </a:p>
        </p:txBody>
      </p:sp>
      <p:grpSp>
        <p:nvGrpSpPr>
          <p:cNvPr name="Group 21" id="21"/>
          <p:cNvGrpSpPr/>
          <p:nvPr/>
        </p:nvGrpSpPr>
        <p:grpSpPr>
          <a:xfrm rot="-5400000">
            <a:off x="8128381" y="7541905"/>
            <a:ext cx="974724" cy="489335"/>
            <a:chOff x="0" y="0"/>
            <a:chExt cx="1299632" cy="652447"/>
          </a:xfrm>
        </p:grpSpPr>
        <p:sp>
          <p:nvSpPr>
            <p:cNvPr name="Freeform 22" id="22"/>
            <p:cNvSpPr/>
            <p:nvPr/>
          </p:nvSpPr>
          <p:spPr>
            <a:xfrm flipH="false" flipV="false" rot="0">
              <a:off x="0" y="0"/>
              <a:ext cx="1299591" cy="652399"/>
            </a:xfrm>
            <a:custGeom>
              <a:avLst/>
              <a:gdLst/>
              <a:ahLst/>
              <a:cxnLst/>
              <a:rect r="r" b="b" t="t" l="l"/>
              <a:pathLst>
                <a:path h="652399" w="1299591">
                  <a:moveTo>
                    <a:pt x="0" y="0"/>
                  </a:moveTo>
                  <a:lnTo>
                    <a:pt x="1299591" y="0"/>
                  </a:lnTo>
                  <a:lnTo>
                    <a:pt x="1299591" y="652399"/>
                  </a:lnTo>
                  <a:lnTo>
                    <a:pt x="0" y="652399"/>
                  </a:lnTo>
                  <a:lnTo>
                    <a:pt x="0" y="0"/>
                  </a:lnTo>
                  <a:close/>
                </a:path>
              </a:pathLst>
            </a:custGeom>
            <a:blipFill>
              <a:blip r:embed="rId11"/>
              <a:stretch>
                <a:fillRect l="0" t="-33" r="-3" b="-41"/>
              </a:stretch>
            </a:blipFill>
          </p:spPr>
        </p:sp>
      </p:grpSp>
      <p:grpSp>
        <p:nvGrpSpPr>
          <p:cNvPr name="Group 23" id="23"/>
          <p:cNvGrpSpPr/>
          <p:nvPr/>
        </p:nvGrpSpPr>
        <p:grpSpPr>
          <a:xfrm rot="5400000">
            <a:off x="8371075" y="6809875"/>
            <a:ext cx="489335" cy="489335"/>
            <a:chOff x="0" y="0"/>
            <a:chExt cx="652447" cy="652447"/>
          </a:xfrm>
        </p:grpSpPr>
        <p:sp>
          <p:nvSpPr>
            <p:cNvPr name="Freeform 24" id="24"/>
            <p:cNvSpPr/>
            <p:nvPr/>
          </p:nvSpPr>
          <p:spPr>
            <a:xfrm flipH="false" flipV="false" rot="0">
              <a:off x="0" y="0"/>
              <a:ext cx="652399" cy="652399"/>
            </a:xfrm>
            <a:custGeom>
              <a:avLst/>
              <a:gdLst/>
              <a:ahLst/>
              <a:cxnLst/>
              <a:rect r="r" b="b" t="t" l="l"/>
              <a:pathLst>
                <a:path h="652399" w="652399">
                  <a:moveTo>
                    <a:pt x="0" y="0"/>
                  </a:moveTo>
                  <a:lnTo>
                    <a:pt x="652399" y="0"/>
                  </a:lnTo>
                  <a:lnTo>
                    <a:pt x="652399" y="652399"/>
                  </a:lnTo>
                  <a:lnTo>
                    <a:pt x="0" y="652399"/>
                  </a:lnTo>
                  <a:lnTo>
                    <a:pt x="0" y="0"/>
                  </a:lnTo>
                  <a:close/>
                </a:path>
              </a:pathLst>
            </a:custGeom>
            <a:blipFill>
              <a:blip r:embed="rId12"/>
              <a:stretch>
                <a:fillRect l="0" t="0" r="-7" b="-7"/>
              </a:stretch>
            </a:blipFill>
          </p:spPr>
        </p:sp>
      </p:grpSp>
      <p:sp>
        <p:nvSpPr>
          <p:cNvPr name="Freeform 25" id="25"/>
          <p:cNvSpPr/>
          <p:nvPr/>
        </p:nvSpPr>
        <p:spPr>
          <a:xfrm flipH="false" flipV="false" rot="0">
            <a:off x="16637289" y="1475798"/>
            <a:ext cx="3238580" cy="6187364"/>
          </a:xfrm>
          <a:custGeom>
            <a:avLst/>
            <a:gdLst/>
            <a:ahLst/>
            <a:cxnLst/>
            <a:rect r="r" b="b" t="t" l="l"/>
            <a:pathLst>
              <a:path h="6187364" w="3238580">
                <a:moveTo>
                  <a:pt x="0" y="0"/>
                </a:moveTo>
                <a:lnTo>
                  <a:pt x="3238580" y="0"/>
                </a:lnTo>
                <a:lnTo>
                  <a:pt x="3238580" y="6187364"/>
                </a:lnTo>
                <a:lnTo>
                  <a:pt x="0" y="618736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6" id="26"/>
          <p:cNvSpPr/>
          <p:nvPr/>
        </p:nvSpPr>
        <p:spPr>
          <a:xfrm flipH="false" flipV="false" rot="0">
            <a:off x="16637289" y="8553696"/>
            <a:ext cx="2537172" cy="2051644"/>
          </a:xfrm>
          <a:custGeom>
            <a:avLst/>
            <a:gdLst/>
            <a:ahLst/>
            <a:cxnLst/>
            <a:rect r="r" b="b" t="t" l="l"/>
            <a:pathLst>
              <a:path h="2051644" w="2537172">
                <a:moveTo>
                  <a:pt x="0" y="0"/>
                </a:moveTo>
                <a:lnTo>
                  <a:pt x="2537172" y="0"/>
                </a:lnTo>
                <a:lnTo>
                  <a:pt x="2537172" y="2051644"/>
                </a:lnTo>
                <a:lnTo>
                  <a:pt x="0" y="205164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7" id="27"/>
          <p:cNvSpPr txBox="true"/>
          <p:nvPr/>
        </p:nvSpPr>
        <p:spPr>
          <a:xfrm rot="0">
            <a:off x="677607" y="9518121"/>
            <a:ext cx="419288" cy="274320"/>
          </a:xfrm>
          <a:prstGeom prst="rect">
            <a:avLst/>
          </a:prstGeom>
        </p:spPr>
        <p:txBody>
          <a:bodyPr anchor="t" rtlCol="false" tIns="0" lIns="0" bIns="0" rIns="0">
            <a:spAutoFit/>
          </a:bodyPr>
          <a:lstStyle/>
          <a:p>
            <a:pPr algn="just">
              <a:lnSpc>
                <a:spcPts val="2014"/>
              </a:lnSpc>
            </a:pPr>
            <a:r>
              <a:rPr lang="en-US" sz="1200">
                <a:solidFill>
                  <a:srgbClr val="FFFFFF"/>
                </a:solidFill>
                <a:latin typeface="Inter Light"/>
                <a:ea typeface="Inter Light"/>
                <a:cs typeface="Inter Light"/>
                <a:sym typeface="Inter Light"/>
              </a:rPr>
              <a:t>11</a:t>
            </a:r>
          </a:p>
        </p:txBody>
      </p:sp>
      <p:sp>
        <p:nvSpPr>
          <p:cNvPr name="TextBox 28" id="28"/>
          <p:cNvSpPr txBox="true"/>
          <p:nvPr/>
        </p:nvSpPr>
        <p:spPr>
          <a:xfrm rot="0">
            <a:off x="1228783" y="590519"/>
            <a:ext cx="2743969"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TextBox 29" id="29"/>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
        <p:nvSpPr>
          <p:cNvPr name="TextBox 30" id="30"/>
          <p:cNvSpPr txBox="true"/>
          <p:nvPr/>
        </p:nvSpPr>
        <p:spPr>
          <a:xfrm rot="0">
            <a:off x="5805413" y="6743200"/>
            <a:ext cx="2309234" cy="1414653"/>
          </a:xfrm>
          <a:prstGeom prst="rect">
            <a:avLst/>
          </a:prstGeom>
        </p:spPr>
        <p:txBody>
          <a:bodyPr anchor="t" rtlCol="false" tIns="0" lIns="0" bIns="0" rIns="0">
            <a:spAutoFit/>
          </a:bodyPr>
          <a:lstStyle/>
          <a:p>
            <a:pPr algn="l">
              <a:lnSpc>
                <a:spcPts val="3815"/>
              </a:lnSpc>
            </a:pPr>
            <a:r>
              <a:rPr lang="en-US" sz="2649">
                <a:solidFill>
                  <a:srgbClr val="FFFFFF"/>
                </a:solidFill>
                <a:latin typeface="Ultra"/>
                <a:ea typeface="Ultra"/>
                <a:cs typeface="Ultra"/>
                <a:sym typeface="Ultra"/>
              </a:rPr>
              <a:t>INNOVATE. DE</a:t>
            </a:r>
            <a:r>
              <a:rPr lang="en-US" sz="2649">
                <a:solidFill>
                  <a:srgbClr val="FFFFFF"/>
                </a:solidFill>
                <a:latin typeface="Ultra"/>
                <a:ea typeface="Ultra"/>
                <a:cs typeface="Ultra"/>
                <a:sym typeface="Ultra"/>
              </a:rPr>
              <a:t>SIGN. EMPOWER</a:t>
            </a:r>
          </a:p>
        </p:txBody>
      </p:sp>
      <p:sp>
        <p:nvSpPr>
          <p:cNvPr name="Freeform 31" id="31"/>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17"/>
            <a:stretch>
              <a:fillRect l="0" t="0" r="0" b="0"/>
            </a:stretch>
          </a:blipFill>
        </p:spPr>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Freeform 3" id="3"/>
          <p:cNvSpPr/>
          <p:nvPr/>
        </p:nvSpPr>
        <p:spPr>
          <a:xfrm flipH="false" flipV="false" rot="0">
            <a:off x="11364135" y="-726647"/>
            <a:ext cx="4532272" cy="9804651"/>
          </a:xfrm>
          <a:custGeom>
            <a:avLst/>
            <a:gdLst/>
            <a:ahLst/>
            <a:cxnLst/>
            <a:rect r="r" b="b" t="t" l="l"/>
            <a:pathLst>
              <a:path h="9804651" w="4532272">
                <a:moveTo>
                  <a:pt x="0" y="0"/>
                </a:moveTo>
                <a:lnTo>
                  <a:pt x="4532272" y="0"/>
                </a:lnTo>
                <a:lnTo>
                  <a:pt x="4532272" y="9804651"/>
                </a:lnTo>
                <a:lnTo>
                  <a:pt x="0" y="98046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1977882" y="5636788"/>
            <a:ext cx="2890720" cy="28575"/>
          </a:xfrm>
          <a:prstGeom prst="line">
            <a:avLst/>
          </a:prstGeom>
          <a:ln cap="rnd" w="19050">
            <a:solidFill>
              <a:srgbClr val="292929"/>
            </a:solidFill>
            <a:prstDash val="solid"/>
            <a:headEnd type="none" len="sm" w="sm"/>
            <a:tailEnd type="none" len="sm" w="sm"/>
          </a:ln>
        </p:spPr>
      </p:sp>
      <p:sp>
        <p:nvSpPr>
          <p:cNvPr name="Freeform 5" id="5"/>
          <p:cNvSpPr/>
          <p:nvPr/>
        </p:nvSpPr>
        <p:spPr>
          <a:xfrm flipH="false" flipV="false" rot="0">
            <a:off x="14766817" y="1694135"/>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4905581" y="1832899"/>
            <a:ext cx="205502" cy="205502"/>
            <a:chOff x="0" y="0"/>
            <a:chExt cx="274003" cy="274003"/>
          </a:xfrm>
        </p:grpSpPr>
        <p:sp>
          <p:nvSpPr>
            <p:cNvPr name="Freeform 7" id="7"/>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7"/>
              <a:stretch>
                <a:fillRect l="0" t="0" r="23" b="23"/>
              </a:stretch>
            </a:blipFill>
          </p:spPr>
        </p:sp>
      </p:grpSp>
      <p:sp>
        <p:nvSpPr>
          <p:cNvPr name="Freeform 8" id="8"/>
          <p:cNvSpPr/>
          <p:nvPr/>
        </p:nvSpPr>
        <p:spPr>
          <a:xfrm flipH="false" flipV="false" rot="0">
            <a:off x="14766817" y="5836813"/>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4905581" y="5969618"/>
            <a:ext cx="205502" cy="205502"/>
            <a:chOff x="0" y="0"/>
            <a:chExt cx="274003" cy="274003"/>
          </a:xfrm>
        </p:grpSpPr>
        <p:sp>
          <p:nvSpPr>
            <p:cNvPr name="Freeform 10" id="10"/>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7"/>
              <a:stretch>
                <a:fillRect l="0" t="0" r="23" b="23"/>
              </a:stretch>
            </a:blipFill>
          </p:spPr>
        </p:sp>
      </p:grpSp>
      <p:sp>
        <p:nvSpPr>
          <p:cNvPr name="Freeform 11" id="11"/>
          <p:cNvSpPr/>
          <p:nvPr/>
        </p:nvSpPr>
        <p:spPr>
          <a:xfrm flipH="false" flipV="false" rot="0">
            <a:off x="16764738" y="2766753"/>
            <a:ext cx="3155020" cy="6187364"/>
          </a:xfrm>
          <a:custGeom>
            <a:avLst/>
            <a:gdLst/>
            <a:ahLst/>
            <a:cxnLst/>
            <a:rect r="r" b="b" t="t" l="l"/>
            <a:pathLst>
              <a:path h="6187364" w="3155020">
                <a:moveTo>
                  <a:pt x="0" y="0"/>
                </a:moveTo>
                <a:lnTo>
                  <a:pt x="3155020" y="0"/>
                </a:lnTo>
                <a:lnTo>
                  <a:pt x="3155020" y="6187364"/>
                </a:lnTo>
                <a:lnTo>
                  <a:pt x="0" y="61873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6764738" y="-491640"/>
            <a:ext cx="2564191" cy="2367858"/>
          </a:xfrm>
          <a:custGeom>
            <a:avLst/>
            <a:gdLst/>
            <a:ahLst/>
            <a:cxnLst/>
            <a:rect r="r" b="b" t="t" l="l"/>
            <a:pathLst>
              <a:path h="2367858" w="2564191">
                <a:moveTo>
                  <a:pt x="0" y="0"/>
                </a:moveTo>
                <a:lnTo>
                  <a:pt x="2564192" y="0"/>
                </a:lnTo>
                <a:lnTo>
                  <a:pt x="2564192" y="2367858"/>
                </a:lnTo>
                <a:lnTo>
                  <a:pt x="0" y="23678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12"/>
            <a:stretch>
              <a:fillRect l="0" t="0" r="0" b="0"/>
            </a:stretch>
          </a:blipFill>
        </p:spPr>
      </p:sp>
      <p:grpSp>
        <p:nvGrpSpPr>
          <p:cNvPr name="Group 14" id="14"/>
          <p:cNvGrpSpPr/>
          <p:nvPr/>
        </p:nvGrpSpPr>
        <p:grpSpPr>
          <a:xfrm rot="0">
            <a:off x="3684279" y="4497375"/>
            <a:ext cx="6813081" cy="4608219"/>
            <a:chOff x="0" y="0"/>
            <a:chExt cx="1055525" cy="713934"/>
          </a:xfrm>
        </p:grpSpPr>
        <p:sp>
          <p:nvSpPr>
            <p:cNvPr name="Freeform 15" id="15"/>
            <p:cNvSpPr/>
            <p:nvPr/>
          </p:nvSpPr>
          <p:spPr>
            <a:xfrm flipH="false" flipV="false" rot="0">
              <a:off x="0" y="0"/>
              <a:ext cx="1055525" cy="713934"/>
            </a:xfrm>
            <a:custGeom>
              <a:avLst/>
              <a:gdLst/>
              <a:ahLst/>
              <a:cxnLst/>
              <a:rect r="r" b="b" t="t" l="l"/>
              <a:pathLst>
                <a:path h="713934" w="1055525">
                  <a:moveTo>
                    <a:pt x="26136" y="0"/>
                  </a:moveTo>
                  <a:lnTo>
                    <a:pt x="1029389" y="0"/>
                  </a:lnTo>
                  <a:cubicBezTo>
                    <a:pt x="1036321" y="0"/>
                    <a:pt x="1042968" y="2754"/>
                    <a:pt x="1047870" y="7655"/>
                  </a:cubicBezTo>
                  <a:cubicBezTo>
                    <a:pt x="1052771" y="12556"/>
                    <a:pt x="1055525" y="19204"/>
                    <a:pt x="1055525" y="26136"/>
                  </a:cubicBezTo>
                  <a:lnTo>
                    <a:pt x="1055525" y="687798"/>
                  </a:lnTo>
                  <a:cubicBezTo>
                    <a:pt x="1055525" y="694730"/>
                    <a:pt x="1052771" y="701377"/>
                    <a:pt x="1047870" y="706279"/>
                  </a:cubicBezTo>
                  <a:cubicBezTo>
                    <a:pt x="1042968" y="711180"/>
                    <a:pt x="1036321" y="713934"/>
                    <a:pt x="1029389" y="713934"/>
                  </a:cubicBezTo>
                  <a:lnTo>
                    <a:pt x="26136" y="713934"/>
                  </a:lnTo>
                  <a:cubicBezTo>
                    <a:pt x="11701" y="713934"/>
                    <a:pt x="0" y="702232"/>
                    <a:pt x="0" y="687798"/>
                  </a:cubicBezTo>
                  <a:lnTo>
                    <a:pt x="0" y="26136"/>
                  </a:lnTo>
                  <a:cubicBezTo>
                    <a:pt x="0" y="19204"/>
                    <a:pt x="2754" y="12556"/>
                    <a:pt x="7655" y="7655"/>
                  </a:cubicBezTo>
                  <a:cubicBezTo>
                    <a:pt x="12556" y="2754"/>
                    <a:pt x="19204" y="0"/>
                    <a:pt x="26136" y="0"/>
                  </a:cubicBezTo>
                  <a:close/>
                </a:path>
              </a:pathLst>
            </a:custGeom>
            <a:blipFill>
              <a:blip r:embed="rId13"/>
              <a:stretch>
                <a:fillRect l="-3894" t="0" r="-3894" b="0"/>
              </a:stretch>
            </a:blipFill>
          </p:spPr>
        </p:sp>
      </p:grpSp>
      <p:sp>
        <p:nvSpPr>
          <p:cNvPr name="TextBox 16" id="16"/>
          <p:cNvSpPr txBox="true"/>
          <p:nvPr/>
        </p:nvSpPr>
        <p:spPr>
          <a:xfrm rot="0">
            <a:off x="677607" y="1534588"/>
            <a:ext cx="9493800" cy="4368900"/>
          </a:xfrm>
          <a:prstGeom prst="rect">
            <a:avLst/>
          </a:prstGeom>
        </p:spPr>
        <p:txBody>
          <a:bodyPr anchor="t" rtlCol="false" tIns="0" lIns="0" bIns="0" rIns="0">
            <a:spAutoFit/>
          </a:bodyPr>
          <a:lstStyle/>
          <a:p>
            <a:pPr algn="l">
              <a:lnSpc>
                <a:spcPts val="11456"/>
              </a:lnSpc>
            </a:pPr>
            <a:r>
              <a:rPr lang="en-US" b="true" sz="8300">
                <a:solidFill>
                  <a:srgbClr val="FFFFFF"/>
                </a:solidFill>
                <a:latin typeface="Inter Bold"/>
                <a:ea typeface="Inter Bold"/>
                <a:cs typeface="Inter Bold"/>
                <a:sym typeface="Inter Bold"/>
              </a:rPr>
              <a:t>DEVELOPMENT</a:t>
            </a:r>
          </a:p>
          <a:p>
            <a:pPr algn="l">
              <a:lnSpc>
                <a:spcPts val="11456"/>
              </a:lnSpc>
            </a:pPr>
            <a:r>
              <a:rPr lang="en-US" b="true" sz="8300">
                <a:solidFill>
                  <a:srgbClr val="FFFFFF"/>
                </a:solidFill>
                <a:latin typeface="Inter Bold"/>
                <a:ea typeface="Inter Bold"/>
                <a:cs typeface="Inter Bold"/>
                <a:sym typeface="Inter Bold"/>
              </a:rPr>
              <a:t>TIMELINE</a:t>
            </a:r>
          </a:p>
          <a:p>
            <a:pPr algn="l">
              <a:lnSpc>
                <a:spcPts val="1932"/>
              </a:lnSpc>
            </a:pPr>
          </a:p>
        </p:txBody>
      </p:sp>
      <p:sp>
        <p:nvSpPr>
          <p:cNvPr name="TextBox 17" id="17"/>
          <p:cNvSpPr txBox="true"/>
          <p:nvPr/>
        </p:nvSpPr>
        <p:spPr>
          <a:xfrm rot="0">
            <a:off x="11992170" y="2728846"/>
            <a:ext cx="2219400" cy="737997"/>
          </a:xfrm>
          <a:prstGeom prst="rect">
            <a:avLst/>
          </a:prstGeom>
        </p:spPr>
        <p:txBody>
          <a:bodyPr anchor="t" rtlCol="false" tIns="0" lIns="0" bIns="0" rIns="0">
            <a:spAutoFit/>
          </a:bodyPr>
          <a:lstStyle/>
          <a:p>
            <a:pPr algn="l">
              <a:lnSpc>
                <a:spcPts val="3024"/>
              </a:lnSpc>
            </a:pPr>
            <a:r>
              <a:rPr lang="en-US" b="true" sz="1800">
                <a:solidFill>
                  <a:srgbClr val="292929"/>
                </a:solidFill>
                <a:latin typeface="Inter Bold"/>
                <a:ea typeface="Inter Bold"/>
                <a:cs typeface="Inter Bold"/>
                <a:sym typeface="Inter Bold"/>
              </a:rPr>
              <a:t>B</a:t>
            </a:r>
            <a:r>
              <a:rPr lang="en-US" b="true" sz="1800">
                <a:solidFill>
                  <a:srgbClr val="292929"/>
                </a:solidFill>
                <a:latin typeface="Inter Bold"/>
                <a:ea typeface="Inter Bold"/>
                <a:cs typeface="Inter Bold"/>
                <a:sym typeface="Inter Bold"/>
              </a:rPr>
              <a:t>randing Services Launch</a:t>
            </a:r>
          </a:p>
        </p:txBody>
      </p:sp>
      <p:sp>
        <p:nvSpPr>
          <p:cNvPr name="TextBox 18" id="18"/>
          <p:cNvSpPr txBox="true"/>
          <p:nvPr/>
        </p:nvSpPr>
        <p:spPr>
          <a:xfrm rot="0">
            <a:off x="11992170" y="3559958"/>
            <a:ext cx="3257676" cy="1752981"/>
          </a:xfrm>
          <a:prstGeom prst="rect">
            <a:avLst/>
          </a:prstGeom>
        </p:spPr>
        <p:txBody>
          <a:bodyPr anchor="t" rtlCol="false" tIns="0" lIns="0" bIns="0" rIns="0">
            <a:spAutoFit/>
          </a:bodyPr>
          <a:lstStyle/>
          <a:p>
            <a:pPr algn="l">
              <a:lnSpc>
                <a:spcPts val="2352"/>
              </a:lnSpc>
            </a:pPr>
            <a:r>
              <a:rPr lang="en-US" sz="1400">
                <a:solidFill>
                  <a:srgbClr val="292929"/>
                </a:solidFill>
                <a:latin typeface="Inter"/>
                <a:ea typeface="Inter"/>
                <a:cs typeface="Inter"/>
                <a:sym typeface="Inter"/>
              </a:rPr>
              <a:t>Branding &amp; UI/UX Expansion</a:t>
            </a:r>
          </a:p>
          <a:p>
            <a:pPr algn="l">
              <a:lnSpc>
                <a:spcPts val="2351"/>
              </a:lnSpc>
            </a:pPr>
            <a:r>
              <a:rPr lang="en-US" sz="1399">
                <a:solidFill>
                  <a:srgbClr val="292929"/>
                </a:solidFill>
                <a:latin typeface="Inter"/>
                <a:ea typeface="Inter"/>
                <a:cs typeface="Inter"/>
                <a:sym typeface="Inter"/>
              </a:rPr>
              <a:t> </a:t>
            </a:r>
            <a:r>
              <a:rPr lang="en-US" sz="1399">
                <a:solidFill>
                  <a:srgbClr val="292929"/>
                </a:solidFill>
                <a:latin typeface="Inter"/>
                <a:ea typeface="Inter"/>
                <a:cs typeface="Inter"/>
                <a:sym typeface="Inter"/>
              </a:rPr>
              <a:t>In 2026, we contin</a:t>
            </a:r>
            <a:r>
              <a:rPr lang="en-US" sz="1399">
                <a:solidFill>
                  <a:srgbClr val="292929"/>
                </a:solidFill>
                <a:latin typeface="Inter"/>
                <a:ea typeface="Inter"/>
                <a:cs typeface="Inter"/>
                <a:sym typeface="Inter"/>
              </a:rPr>
              <a:t>ued delivering expert branding services across Zambia, while expanding our offerings to include innovative UI/UX app design for modern digital experiences.</a:t>
            </a:r>
          </a:p>
        </p:txBody>
      </p:sp>
      <p:sp>
        <p:nvSpPr>
          <p:cNvPr name="TextBox 19" id="19"/>
          <p:cNvSpPr txBox="true"/>
          <p:nvPr/>
        </p:nvSpPr>
        <p:spPr>
          <a:xfrm rot="0">
            <a:off x="11992170" y="1808755"/>
            <a:ext cx="2510880" cy="554205"/>
          </a:xfrm>
          <a:prstGeom prst="rect">
            <a:avLst/>
          </a:prstGeom>
        </p:spPr>
        <p:txBody>
          <a:bodyPr anchor="t" rtlCol="false" tIns="0" lIns="0" bIns="0" rIns="0">
            <a:spAutoFit/>
          </a:bodyPr>
          <a:lstStyle/>
          <a:p>
            <a:pPr algn="l">
              <a:lnSpc>
                <a:spcPts val="4349"/>
              </a:lnSpc>
            </a:pPr>
            <a:r>
              <a:rPr lang="en-US" b="true" sz="3699">
                <a:solidFill>
                  <a:srgbClr val="292929"/>
                </a:solidFill>
                <a:latin typeface="Inter Bold"/>
                <a:ea typeface="Inter Bold"/>
                <a:cs typeface="Inter Bold"/>
                <a:sym typeface="Inter Bold"/>
              </a:rPr>
              <a:t>2026</a:t>
            </a:r>
          </a:p>
        </p:txBody>
      </p:sp>
      <p:sp>
        <p:nvSpPr>
          <p:cNvPr name="TextBox 20" id="20"/>
          <p:cNvSpPr txBox="true"/>
          <p:nvPr/>
        </p:nvSpPr>
        <p:spPr>
          <a:xfrm rot="0">
            <a:off x="11992170" y="6715759"/>
            <a:ext cx="3016162" cy="356997"/>
          </a:xfrm>
          <a:prstGeom prst="rect">
            <a:avLst/>
          </a:prstGeom>
        </p:spPr>
        <p:txBody>
          <a:bodyPr anchor="t" rtlCol="false" tIns="0" lIns="0" bIns="0" rIns="0">
            <a:spAutoFit/>
          </a:bodyPr>
          <a:lstStyle/>
          <a:p>
            <a:pPr algn="l">
              <a:lnSpc>
                <a:spcPts val="3024"/>
              </a:lnSpc>
            </a:pPr>
            <a:r>
              <a:rPr lang="en-US" b="true" sz="1800">
                <a:solidFill>
                  <a:srgbClr val="292929"/>
                </a:solidFill>
                <a:latin typeface="Inter Bold"/>
                <a:ea typeface="Inter Bold"/>
                <a:cs typeface="Inter Bold"/>
                <a:sym typeface="Inter Bold"/>
              </a:rPr>
              <a:t>Assisti</a:t>
            </a:r>
            <a:r>
              <a:rPr lang="en-US" b="true" sz="1800">
                <a:solidFill>
                  <a:srgbClr val="292929"/>
                </a:solidFill>
                <a:latin typeface="Inter Bold"/>
                <a:ea typeface="Inter Bold"/>
                <a:cs typeface="Inter Bold"/>
                <a:sym typeface="Inter Bold"/>
              </a:rPr>
              <a:t>ve Tech Expansion</a:t>
            </a:r>
          </a:p>
        </p:txBody>
      </p:sp>
      <p:sp>
        <p:nvSpPr>
          <p:cNvPr name="TextBox 21" id="21"/>
          <p:cNvSpPr txBox="true"/>
          <p:nvPr/>
        </p:nvSpPr>
        <p:spPr>
          <a:xfrm rot="0">
            <a:off x="11992170" y="7156974"/>
            <a:ext cx="3257676" cy="1457706"/>
          </a:xfrm>
          <a:prstGeom prst="rect">
            <a:avLst/>
          </a:prstGeom>
        </p:spPr>
        <p:txBody>
          <a:bodyPr anchor="t" rtlCol="false" tIns="0" lIns="0" bIns="0" rIns="0">
            <a:spAutoFit/>
          </a:bodyPr>
          <a:lstStyle/>
          <a:p>
            <a:pPr algn="l">
              <a:lnSpc>
                <a:spcPts val="2351"/>
              </a:lnSpc>
            </a:pPr>
            <a:r>
              <a:rPr lang="en-US" sz="1399">
                <a:solidFill>
                  <a:srgbClr val="292929"/>
                </a:solidFill>
                <a:latin typeface="Inter"/>
                <a:ea typeface="Inter"/>
                <a:cs typeface="Inter"/>
                <a:sym typeface="Inter"/>
              </a:rPr>
              <a:t>By 2027, we scaled our assistive technology programs to reach visually impaired individuals nationwide, increasing digital accessibility and inclusion.</a:t>
            </a:r>
          </a:p>
        </p:txBody>
      </p:sp>
      <p:sp>
        <p:nvSpPr>
          <p:cNvPr name="TextBox 22" id="22"/>
          <p:cNvSpPr txBox="true"/>
          <p:nvPr/>
        </p:nvSpPr>
        <p:spPr>
          <a:xfrm rot="0">
            <a:off x="11992170" y="5903488"/>
            <a:ext cx="2421015" cy="493903"/>
          </a:xfrm>
          <a:prstGeom prst="rect">
            <a:avLst/>
          </a:prstGeom>
        </p:spPr>
        <p:txBody>
          <a:bodyPr anchor="t" rtlCol="false" tIns="0" lIns="0" bIns="0" rIns="0">
            <a:spAutoFit/>
          </a:bodyPr>
          <a:lstStyle/>
          <a:p>
            <a:pPr algn="l">
              <a:lnSpc>
                <a:spcPts val="4349"/>
              </a:lnSpc>
            </a:pPr>
            <a:r>
              <a:rPr lang="en-US" b="true" sz="3699">
                <a:solidFill>
                  <a:srgbClr val="292929"/>
                </a:solidFill>
                <a:latin typeface="Inter Bold"/>
                <a:ea typeface="Inter Bold"/>
                <a:cs typeface="Inter Bold"/>
                <a:sym typeface="Inter Bold"/>
              </a:rPr>
              <a:t>2035</a:t>
            </a:r>
          </a:p>
        </p:txBody>
      </p:sp>
      <p:sp>
        <p:nvSpPr>
          <p:cNvPr name="TextBox 23" id="23"/>
          <p:cNvSpPr txBox="true"/>
          <p:nvPr/>
        </p:nvSpPr>
        <p:spPr>
          <a:xfrm rot="0">
            <a:off x="677607" y="9518121"/>
            <a:ext cx="419288" cy="274320"/>
          </a:xfrm>
          <a:prstGeom prst="rect">
            <a:avLst/>
          </a:prstGeom>
        </p:spPr>
        <p:txBody>
          <a:bodyPr anchor="t" rtlCol="false" tIns="0" lIns="0" bIns="0" rIns="0">
            <a:spAutoFit/>
          </a:bodyPr>
          <a:lstStyle/>
          <a:p>
            <a:pPr algn="just">
              <a:lnSpc>
                <a:spcPts val="2014"/>
              </a:lnSpc>
            </a:pPr>
            <a:r>
              <a:rPr lang="en-US" sz="1200">
                <a:solidFill>
                  <a:srgbClr val="FFFFFF"/>
                </a:solidFill>
                <a:latin typeface="Inter Light"/>
                <a:ea typeface="Inter Light"/>
                <a:cs typeface="Inter Light"/>
                <a:sym typeface="Inter Light"/>
              </a:rPr>
              <a:t>12</a:t>
            </a:r>
          </a:p>
        </p:txBody>
      </p:sp>
      <p:sp>
        <p:nvSpPr>
          <p:cNvPr name="TextBox 24" id="24"/>
          <p:cNvSpPr txBox="true"/>
          <p:nvPr/>
        </p:nvSpPr>
        <p:spPr>
          <a:xfrm rot="0">
            <a:off x="1228783" y="590519"/>
            <a:ext cx="2457714"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Freeform 3" id="3"/>
          <p:cNvSpPr/>
          <p:nvPr/>
        </p:nvSpPr>
        <p:spPr>
          <a:xfrm flipH="false" flipV="false" rot="0">
            <a:off x="677603" y="7056188"/>
            <a:ext cx="3589770" cy="1815037"/>
          </a:xfrm>
          <a:custGeom>
            <a:avLst/>
            <a:gdLst/>
            <a:ahLst/>
            <a:cxnLst/>
            <a:rect r="r" b="b" t="t" l="l"/>
            <a:pathLst>
              <a:path h="1815037" w="3589770">
                <a:moveTo>
                  <a:pt x="0" y="0"/>
                </a:moveTo>
                <a:lnTo>
                  <a:pt x="3589770" y="0"/>
                </a:lnTo>
                <a:lnTo>
                  <a:pt x="3589770" y="1815037"/>
                </a:lnTo>
                <a:lnTo>
                  <a:pt x="0" y="18150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636164" y="7056188"/>
            <a:ext cx="3589770" cy="1815037"/>
          </a:xfrm>
          <a:custGeom>
            <a:avLst/>
            <a:gdLst/>
            <a:ahLst/>
            <a:cxnLst/>
            <a:rect r="r" b="b" t="t" l="l"/>
            <a:pathLst>
              <a:path h="1815037" w="3589770">
                <a:moveTo>
                  <a:pt x="0" y="0"/>
                </a:moveTo>
                <a:lnTo>
                  <a:pt x="3589770" y="0"/>
                </a:lnTo>
                <a:lnTo>
                  <a:pt x="3589770" y="1815037"/>
                </a:lnTo>
                <a:lnTo>
                  <a:pt x="0" y="18150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597409" y="7056188"/>
            <a:ext cx="3589770" cy="1815037"/>
          </a:xfrm>
          <a:custGeom>
            <a:avLst/>
            <a:gdLst/>
            <a:ahLst/>
            <a:cxnLst/>
            <a:rect r="r" b="b" t="t" l="l"/>
            <a:pathLst>
              <a:path h="1815037" w="3589770">
                <a:moveTo>
                  <a:pt x="0" y="0"/>
                </a:moveTo>
                <a:lnTo>
                  <a:pt x="3589770" y="0"/>
                </a:lnTo>
                <a:lnTo>
                  <a:pt x="3589770" y="1815037"/>
                </a:lnTo>
                <a:lnTo>
                  <a:pt x="0" y="18150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3487843" y="7436480"/>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7" id="7"/>
          <p:cNvGrpSpPr/>
          <p:nvPr/>
        </p:nvGrpSpPr>
        <p:grpSpPr>
          <a:xfrm rot="0">
            <a:off x="3626606" y="7575243"/>
            <a:ext cx="205502" cy="205502"/>
            <a:chOff x="0" y="0"/>
            <a:chExt cx="274003" cy="274003"/>
          </a:xfrm>
        </p:grpSpPr>
        <p:sp>
          <p:nvSpPr>
            <p:cNvPr name="Freeform 8" id="8"/>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11"/>
              <a:stretch>
                <a:fillRect l="0" t="0" r="23" b="23"/>
              </a:stretch>
            </a:blipFill>
          </p:spPr>
        </p:sp>
      </p:grpSp>
      <p:sp>
        <p:nvSpPr>
          <p:cNvPr name="Freeform 9" id="9"/>
          <p:cNvSpPr/>
          <p:nvPr/>
        </p:nvSpPr>
        <p:spPr>
          <a:xfrm flipH="false" flipV="false" rot="0">
            <a:off x="7466084" y="7436480"/>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0" id="10"/>
          <p:cNvGrpSpPr/>
          <p:nvPr/>
        </p:nvGrpSpPr>
        <p:grpSpPr>
          <a:xfrm rot="0">
            <a:off x="7604847" y="7575243"/>
            <a:ext cx="205502" cy="205502"/>
            <a:chOff x="0" y="0"/>
            <a:chExt cx="274003" cy="274003"/>
          </a:xfrm>
        </p:grpSpPr>
        <p:sp>
          <p:nvSpPr>
            <p:cNvPr name="Freeform 11" id="11"/>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11"/>
              <a:stretch>
                <a:fillRect l="0" t="0" r="23" b="23"/>
              </a:stretch>
            </a:blipFill>
          </p:spPr>
        </p:sp>
      </p:grpSp>
      <p:sp>
        <p:nvSpPr>
          <p:cNvPr name="Freeform 12" id="12"/>
          <p:cNvSpPr/>
          <p:nvPr/>
        </p:nvSpPr>
        <p:spPr>
          <a:xfrm flipH="false" flipV="false" rot="0">
            <a:off x="11555856" y="7436480"/>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11694619" y="7575243"/>
            <a:ext cx="205502" cy="205502"/>
            <a:chOff x="0" y="0"/>
            <a:chExt cx="274003" cy="274003"/>
          </a:xfrm>
        </p:grpSpPr>
        <p:sp>
          <p:nvSpPr>
            <p:cNvPr name="Freeform 14" id="14"/>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16"/>
              <a:stretch>
                <a:fillRect l="0" t="0" r="23" b="23"/>
              </a:stretch>
            </a:blipFill>
          </p:spPr>
        </p:sp>
      </p:grpSp>
      <p:sp>
        <p:nvSpPr>
          <p:cNvPr name="Freeform 15" id="15"/>
          <p:cNvSpPr/>
          <p:nvPr/>
        </p:nvSpPr>
        <p:spPr>
          <a:xfrm flipH="false" flipV="false" rot="0">
            <a:off x="17637444" y="1941472"/>
            <a:ext cx="1589323" cy="6786882"/>
          </a:xfrm>
          <a:custGeom>
            <a:avLst/>
            <a:gdLst/>
            <a:ahLst/>
            <a:cxnLst/>
            <a:rect r="r" b="b" t="t" l="l"/>
            <a:pathLst>
              <a:path h="6786882" w="1589323">
                <a:moveTo>
                  <a:pt x="0" y="0"/>
                </a:moveTo>
                <a:lnTo>
                  <a:pt x="1589323" y="0"/>
                </a:lnTo>
                <a:lnTo>
                  <a:pt x="1589323" y="6786882"/>
                </a:lnTo>
                <a:lnTo>
                  <a:pt x="0" y="678688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6" id="16"/>
          <p:cNvGrpSpPr/>
          <p:nvPr/>
        </p:nvGrpSpPr>
        <p:grpSpPr>
          <a:xfrm rot="-10800000">
            <a:off x="15379503" y="7284272"/>
            <a:ext cx="1467365" cy="1467365"/>
            <a:chOff x="0" y="0"/>
            <a:chExt cx="1956487" cy="1956487"/>
          </a:xfrm>
        </p:grpSpPr>
        <p:sp>
          <p:nvSpPr>
            <p:cNvPr name="Freeform 17" id="17"/>
            <p:cNvSpPr/>
            <p:nvPr/>
          </p:nvSpPr>
          <p:spPr>
            <a:xfrm flipH="false" flipV="false" rot="0">
              <a:off x="0" y="0"/>
              <a:ext cx="1956435" cy="1956435"/>
            </a:xfrm>
            <a:custGeom>
              <a:avLst/>
              <a:gdLst/>
              <a:ahLst/>
              <a:cxnLst/>
              <a:rect r="r" b="b" t="t" l="l"/>
              <a:pathLst>
                <a:path h="1956435" w="1956435">
                  <a:moveTo>
                    <a:pt x="0" y="0"/>
                  </a:moveTo>
                  <a:lnTo>
                    <a:pt x="1956435" y="0"/>
                  </a:lnTo>
                  <a:lnTo>
                    <a:pt x="1956435" y="1956435"/>
                  </a:lnTo>
                  <a:lnTo>
                    <a:pt x="0" y="1956435"/>
                  </a:lnTo>
                  <a:lnTo>
                    <a:pt x="0" y="0"/>
                  </a:lnTo>
                  <a:close/>
                </a:path>
              </a:pathLst>
            </a:custGeom>
            <a:blipFill>
              <a:blip r:embed="rId19"/>
              <a:stretch>
                <a:fillRect l="0" t="0" r="-2" b="-2"/>
              </a:stretch>
            </a:blipFill>
          </p:spPr>
        </p:sp>
      </p:grpSp>
      <p:grpSp>
        <p:nvGrpSpPr>
          <p:cNvPr name="Group 18" id="18"/>
          <p:cNvGrpSpPr/>
          <p:nvPr/>
        </p:nvGrpSpPr>
        <p:grpSpPr>
          <a:xfrm rot="5400000">
            <a:off x="14284446" y="7647324"/>
            <a:ext cx="1458109" cy="732006"/>
            <a:chOff x="0" y="0"/>
            <a:chExt cx="1944145" cy="976008"/>
          </a:xfrm>
        </p:grpSpPr>
        <p:sp>
          <p:nvSpPr>
            <p:cNvPr name="Freeform 19" id="19"/>
            <p:cNvSpPr/>
            <p:nvPr/>
          </p:nvSpPr>
          <p:spPr>
            <a:xfrm flipH="false" flipV="false" rot="0">
              <a:off x="0" y="0"/>
              <a:ext cx="1944116" cy="975995"/>
            </a:xfrm>
            <a:custGeom>
              <a:avLst/>
              <a:gdLst/>
              <a:ahLst/>
              <a:cxnLst/>
              <a:rect r="r" b="b" t="t" l="l"/>
              <a:pathLst>
                <a:path h="975995" w="1944116">
                  <a:moveTo>
                    <a:pt x="0" y="0"/>
                  </a:moveTo>
                  <a:lnTo>
                    <a:pt x="1944116" y="0"/>
                  </a:lnTo>
                  <a:lnTo>
                    <a:pt x="1944116" y="975995"/>
                  </a:lnTo>
                  <a:lnTo>
                    <a:pt x="0" y="975995"/>
                  </a:lnTo>
                  <a:lnTo>
                    <a:pt x="0" y="0"/>
                  </a:lnTo>
                  <a:close/>
                </a:path>
              </a:pathLst>
            </a:custGeom>
            <a:blipFill>
              <a:blip r:embed="rId20"/>
              <a:stretch>
                <a:fillRect l="0" t="-33" r="-1" b="-35"/>
              </a:stretch>
            </a:blipFill>
          </p:spPr>
        </p:sp>
      </p:grpSp>
      <p:sp>
        <p:nvSpPr>
          <p:cNvPr name="TextBox 20" id="20"/>
          <p:cNvSpPr txBox="true"/>
          <p:nvPr/>
        </p:nvSpPr>
        <p:spPr>
          <a:xfrm rot="0">
            <a:off x="677603" y="2025380"/>
            <a:ext cx="7548300" cy="1430100"/>
          </a:xfrm>
          <a:prstGeom prst="rect">
            <a:avLst/>
          </a:prstGeom>
        </p:spPr>
        <p:txBody>
          <a:bodyPr anchor="t" rtlCol="false" tIns="0" lIns="0" bIns="0" rIns="0">
            <a:spAutoFit/>
          </a:bodyPr>
          <a:lstStyle/>
          <a:p>
            <a:pPr algn="l">
              <a:lnSpc>
                <a:spcPts val="11453"/>
              </a:lnSpc>
            </a:pPr>
            <a:r>
              <a:rPr lang="en-US" b="true" sz="8300">
                <a:solidFill>
                  <a:srgbClr val="FFFFFF"/>
                </a:solidFill>
                <a:latin typeface="Inter Bold"/>
                <a:ea typeface="Inter Bold"/>
                <a:cs typeface="Inter Bold"/>
                <a:sym typeface="Inter Bold"/>
              </a:rPr>
              <a:t>MARKET</a:t>
            </a:r>
            <a:r>
              <a:rPr lang="en-US" sz="8300">
                <a:solidFill>
                  <a:srgbClr val="000000"/>
                </a:solidFill>
                <a:latin typeface="Inter"/>
                <a:ea typeface="Inter"/>
                <a:cs typeface="Inter"/>
                <a:sym typeface="Inter"/>
              </a:rPr>
              <a:t> </a:t>
            </a:r>
            <a:r>
              <a:rPr lang="en-US" b="true" sz="8300">
                <a:solidFill>
                  <a:srgbClr val="FFFFFF"/>
                </a:solidFill>
                <a:latin typeface="Inter Bold"/>
                <a:ea typeface="Inter Bold"/>
                <a:cs typeface="Inter Bold"/>
                <a:sym typeface="Inter Bold"/>
              </a:rPr>
              <a:t>SIZE</a:t>
            </a:r>
          </a:p>
        </p:txBody>
      </p:sp>
      <p:grpSp>
        <p:nvGrpSpPr>
          <p:cNvPr name="Group 21" id="21"/>
          <p:cNvGrpSpPr/>
          <p:nvPr/>
        </p:nvGrpSpPr>
        <p:grpSpPr>
          <a:xfrm rot="0">
            <a:off x="8597409" y="1918717"/>
            <a:ext cx="8249460" cy="4093795"/>
            <a:chOff x="0" y="0"/>
            <a:chExt cx="10999280" cy="5458393"/>
          </a:xfrm>
        </p:grpSpPr>
        <p:sp>
          <p:nvSpPr>
            <p:cNvPr name="Freeform 22" id="22"/>
            <p:cNvSpPr/>
            <p:nvPr/>
          </p:nvSpPr>
          <p:spPr>
            <a:xfrm flipH="false" flipV="false" rot="0">
              <a:off x="0" y="0"/>
              <a:ext cx="10999343" cy="5458333"/>
            </a:xfrm>
            <a:custGeom>
              <a:avLst/>
              <a:gdLst/>
              <a:ahLst/>
              <a:cxnLst/>
              <a:rect r="r" b="b" t="t" l="l"/>
              <a:pathLst>
                <a:path h="5458333" w="10999343">
                  <a:moveTo>
                    <a:pt x="0" y="0"/>
                  </a:moveTo>
                  <a:lnTo>
                    <a:pt x="10999343" y="0"/>
                  </a:lnTo>
                  <a:lnTo>
                    <a:pt x="10999343" y="5458333"/>
                  </a:lnTo>
                  <a:lnTo>
                    <a:pt x="0" y="5458333"/>
                  </a:lnTo>
                  <a:lnTo>
                    <a:pt x="0" y="0"/>
                  </a:lnTo>
                  <a:close/>
                </a:path>
              </a:pathLst>
            </a:custGeom>
            <a:blipFill>
              <a:blip r:embed="rId21"/>
              <a:stretch>
                <a:fillRect l="-91" t="0" r="-91" b="-1"/>
              </a:stretch>
            </a:blipFill>
          </p:spPr>
        </p:sp>
      </p:grpSp>
      <p:grpSp>
        <p:nvGrpSpPr>
          <p:cNvPr name="Group 23" id="23"/>
          <p:cNvGrpSpPr/>
          <p:nvPr/>
        </p:nvGrpSpPr>
        <p:grpSpPr>
          <a:xfrm rot="0">
            <a:off x="13053747" y="4552916"/>
            <a:ext cx="158213" cy="242938"/>
            <a:chOff x="0" y="0"/>
            <a:chExt cx="210951" cy="323917"/>
          </a:xfrm>
        </p:grpSpPr>
        <p:sp>
          <p:nvSpPr>
            <p:cNvPr name="Freeform 24" id="24"/>
            <p:cNvSpPr/>
            <p:nvPr/>
          </p:nvSpPr>
          <p:spPr>
            <a:xfrm flipH="false" flipV="false" rot="0">
              <a:off x="0" y="0"/>
              <a:ext cx="210947" cy="323977"/>
            </a:xfrm>
            <a:custGeom>
              <a:avLst/>
              <a:gdLst/>
              <a:ahLst/>
              <a:cxnLst/>
              <a:rect r="r" b="b" t="t" l="l"/>
              <a:pathLst>
                <a:path h="323977" w="210947">
                  <a:moveTo>
                    <a:pt x="0" y="0"/>
                  </a:moveTo>
                  <a:lnTo>
                    <a:pt x="210947" y="0"/>
                  </a:lnTo>
                  <a:lnTo>
                    <a:pt x="210947" y="323977"/>
                  </a:lnTo>
                  <a:lnTo>
                    <a:pt x="0" y="323977"/>
                  </a:lnTo>
                  <a:lnTo>
                    <a:pt x="0" y="0"/>
                  </a:lnTo>
                  <a:close/>
                </a:path>
              </a:pathLst>
            </a:custGeom>
            <a:blipFill>
              <a:blip r:embed="rId22"/>
              <a:stretch>
                <a:fillRect l="-39" t="0" r="-41" b="18"/>
              </a:stretch>
            </a:blipFill>
          </p:spPr>
        </p:sp>
      </p:grpSp>
      <p:grpSp>
        <p:nvGrpSpPr>
          <p:cNvPr name="Group 25" id="25"/>
          <p:cNvGrpSpPr/>
          <p:nvPr/>
        </p:nvGrpSpPr>
        <p:grpSpPr>
          <a:xfrm rot="0">
            <a:off x="10884977" y="4431447"/>
            <a:ext cx="158213" cy="242938"/>
            <a:chOff x="0" y="0"/>
            <a:chExt cx="210951" cy="323917"/>
          </a:xfrm>
        </p:grpSpPr>
        <p:sp>
          <p:nvSpPr>
            <p:cNvPr name="Freeform 26" id="26"/>
            <p:cNvSpPr/>
            <p:nvPr/>
          </p:nvSpPr>
          <p:spPr>
            <a:xfrm flipH="false" flipV="false" rot="0">
              <a:off x="0" y="0"/>
              <a:ext cx="210947" cy="323977"/>
            </a:xfrm>
            <a:custGeom>
              <a:avLst/>
              <a:gdLst/>
              <a:ahLst/>
              <a:cxnLst/>
              <a:rect r="r" b="b" t="t" l="l"/>
              <a:pathLst>
                <a:path h="323977" w="210947">
                  <a:moveTo>
                    <a:pt x="0" y="0"/>
                  </a:moveTo>
                  <a:lnTo>
                    <a:pt x="210947" y="0"/>
                  </a:lnTo>
                  <a:lnTo>
                    <a:pt x="210947" y="323977"/>
                  </a:lnTo>
                  <a:lnTo>
                    <a:pt x="0" y="323977"/>
                  </a:lnTo>
                  <a:lnTo>
                    <a:pt x="0" y="0"/>
                  </a:lnTo>
                  <a:close/>
                </a:path>
              </a:pathLst>
            </a:custGeom>
            <a:blipFill>
              <a:blip r:embed="rId22"/>
              <a:stretch>
                <a:fillRect l="-39" t="0" r="-41" b="18"/>
              </a:stretch>
            </a:blipFill>
          </p:spPr>
        </p:sp>
      </p:grpSp>
      <p:grpSp>
        <p:nvGrpSpPr>
          <p:cNvPr name="Group 27" id="27"/>
          <p:cNvGrpSpPr/>
          <p:nvPr/>
        </p:nvGrpSpPr>
        <p:grpSpPr>
          <a:xfrm rot="0">
            <a:off x="9436163" y="2940200"/>
            <a:ext cx="158213" cy="242938"/>
            <a:chOff x="0" y="0"/>
            <a:chExt cx="210951" cy="323917"/>
          </a:xfrm>
        </p:grpSpPr>
        <p:sp>
          <p:nvSpPr>
            <p:cNvPr name="Freeform 28" id="28"/>
            <p:cNvSpPr/>
            <p:nvPr/>
          </p:nvSpPr>
          <p:spPr>
            <a:xfrm flipH="false" flipV="false" rot="0">
              <a:off x="0" y="0"/>
              <a:ext cx="210947" cy="323977"/>
            </a:xfrm>
            <a:custGeom>
              <a:avLst/>
              <a:gdLst/>
              <a:ahLst/>
              <a:cxnLst/>
              <a:rect r="r" b="b" t="t" l="l"/>
              <a:pathLst>
                <a:path h="323977" w="210947">
                  <a:moveTo>
                    <a:pt x="0" y="0"/>
                  </a:moveTo>
                  <a:lnTo>
                    <a:pt x="210947" y="0"/>
                  </a:lnTo>
                  <a:lnTo>
                    <a:pt x="210947" y="323977"/>
                  </a:lnTo>
                  <a:lnTo>
                    <a:pt x="0" y="323977"/>
                  </a:lnTo>
                  <a:lnTo>
                    <a:pt x="0" y="0"/>
                  </a:lnTo>
                  <a:close/>
                </a:path>
              </a:pathLst>
            </a:custGeom>
            <a:blipFill>
              <a:blip r:embed="rId22"/>
              <a:stretch>
                <a:fillRect l="-39" t="0" r="-41" b="18"/>
              </a:stretch>
            </a:blipFill>
          </p:spPr>
        </p:sp>
      </p:grpSp>
      <p:grpSp>
        <p:nvGrpSpPr>
          <p:cNvPr name="Group 29" id="29"/>
          <p:cNvGrpSpPr/>
          <p:nvPr/>
        </p:nvGrpSpPr>
        <p:grpSpPr>
          <a:xfrm rot="0">
            <a:off x="10089132" y="2575793"/>
            <a:ext cx="158213" cy="242938"/>
            <a:chOff x="0" y="0"/>
            <a:chExt cx="210951" cy="323917"/>
          </a:xfrm>
        </p:grpSpPr>
        <p:sp>
          <p:nvSpPr>
            <p:cNvPr name="Freeform 30" id="30"/>
            <p:cNvSpPr/>
            <p:nvPr/>
          </p:nvSpPr>
          <p:spPr>
            <a:xfrm flipH="false" flipV="false" rot="0">
              <a:off x="0" y="0"/>
              <a:ext cx="210947" cy="323977"/>
            </a:xfrm>
            <a:custGeom>
              <a:avLst/>
              <a:gdLst/>
              <a:ahLst/>
              <a:cxnLst/>
              <a:rect r="r" b="b" t="t" l="l"/>
              <a:pathLst>
                <a:path h="323977" w="210947">
                  <a:moveTo>
                    <a:pt x="0" y="0"/>
                  </a:moveTo>
                  <a:lnTo>
                    <a:pt x="210947" y="0"/>
                  </a:lnTo>
                  <a:lnTo>
                    <a:pt x="210947" y="323977"/>
                  </a:lnTo>
                  <a:lnTo>
                    <a:pt x="0" y="323977"/>
                  </a:lnTo>
                  <a:lnTo>
                    <a:pt x="0" y="0"/>
                  </a:lnTo>
                  <a:close/>
                </a:path>
              </a:pathLst>
            </a:custGeom>
            <a:blipFill>
              <a:blip r:embed="rId22"/>
              <a:stretch>
                <a:fillRect l="-39" t="0" r="-41" b="18"/>
              </a:stretch>
            </a:blipFill>
          </p:spPr>
        </p:sp>
      </p:grpSp>
      <p:grpSp>
        <p:nvGrpSpPr>
          <p:cNvPr name="Group 31" id="31"/>
          <p:cNvGrpSpPr/>
          <p:nvPr/>
        </p:nvGrpSpPr>
        <p:grpSpPr>
          <a:xfrm rot="0">
            <a:off x="12974640" y="4970505"/>
            <a:ext cx="158213" cy="242938"/>
            <a:chOff x="0" y="0"/>
            <a:chExt cx="210951" cy="323917"/>
          </a:xfrm>
        </p:grpSpPr>
        <p:sp>
          <p:nvSpPr>
            <p:cNvPr name="Freeform 32" id="32"/>
            <p:cNvSpPr/>
            <p:nvPr/>
          </p:nvSpPr>
          <p:spPr>
            <a:xfrm flipH="false" flipV="false" rot="0">
              <a:off x="0" y="0"/>
              <a:ext cx="210947" cy="323977"/>
            </a:xfrm>
            <a:custGeom>
              <a:avLst/>
              <a:gdLst/>
              <a:ahLst/>
              <a:cxnLst/>
              <a:rect r="r" b="b" t="t" l="l"/>
              <a:pathLst>
                <a:path h="323977" w="210947">
                  <a:moveTo>
                    <a:pt x="0" y="0"/>
                  </a:moveTo>
                  <a:lnTo>
                    <a:pt x="210947" y="0"/>
                  </a:lnTo>
                  <a:lnTo>
                    <a:pt x="210947" y="323977"/>
                  </a:lnTo>
                  <a:lnTo>
                    <a:pt x="0" y="323977"/>
                  </a:lnTo>
                  <a:lnTo>
                    <a:pt x="0" y="0"/>
                  </a:lnTo>
                  <a:close/>
                </a:path>
              </a:pathLst>
            </a:custGeom>
            <a:blipFill>
              <a:blip r:embed="rId22"/>
              <a:stretch>
                <a:fillRect l="-39" t="0" r="-41" b="18"/>
              </a:stretch>
            </a:blipFill>
          </p:spPr>
        </p:sp>
      </p:grpSp>
      <p:grpSp>
        <p:nvGrpSpPr>
          <p:cNvPr name="Group 33" id="33"/>
          <p:cNvGrpSpPr/>
          <p:nvPr/>
        </p:nvGrpSpPr>
        <p:grpSpPr>
          <a:xfrm rot="0">
            <a:off x="13053747" y="3539874"/>
            <a:ext cx="158213" cy="242938"/>
            <a:chOff x="0" y="0"/>
            <a:chExt cx="210951" cy="323917"/>
          </a:xfrm>
        </p:grpSpPr>
        <p:sp>
          <p:nvSpPr>
            <p:cNvPr name="Freeform 34" id="34"/>
            <p:cNvSpPr/>
            <p:nvPr/>
          </p:nvSpPr>
          <p:spPr>
            <a:xfrm flipH="false" flipV="false" rot="0">
              <a:off x="0" y="0"/>
              <a:ext cx="210947" cy="323977"/>
            </a:xfrm>
            <a:custGeom>
              <a:avLst/>
              <a:gdLst/>
              <a:ahLst/>
              <a:cxnLst/>
              <a:rect r="r" b="b" t="t" l="l"/>
              <a:pathLst>
                <a:path h="323977" w="210947">
                  <a:moveTo>
                    <a:pt x="0" y="0"/>
                  </a:moveTo>
                  <a:lnTo>
                    <a:pt x="210947" y="0"/>
                  </a:lnTo>
                  <a:lnTo>
                    <a:pt x="210947" y="323977"/>
                  </a:lnTo>
                  <a:lnTo>
                    <a:pt x="0" y="323977"/>
                  </a:lnTo>
                  <a:lnTo>
                    <a:pt x="0" y="0"/>
                  </a:lnTo>
                  <a:close/>
                </a:path>
              </a:pathLst>
            </a:custGeom>
            <a:blipFill>
              <a:blip r:embed="rId22"/>
              <a:stretch>
                <a:fillRect l="-39" t="0" r="-41" b="18"/>
              </a:stretch>
            </a:blipFill>
          </p:spPr>
        </p:sp>
      </p:grpSp>
      <p:grpSp>
        <p:nvGrpSpPr>
          <p:cNvPr name="Group 35" id="35"/>
          <p:cNvGrpSpPr/>
          <p:nvPr/>
        </p:nvGrpSpPr>
        <p:grpSpPr>
          <a:xfrm rot="0">
            <a:off x="12257359" y="3539874"/>
            <a:ext cx="158213" cy="242938"/>
            <a:chOff x="0" y="0"/>
            <a:chExt cx="210951" cy="323917"/>
          </a:xfrm>
        </p:grpSpPr>
        <p:sp>
          <p:nvSpPr>
            <p:cNvPr name="Freeform 36" id="36"/>
            <p:cNvSpPr/>
            <p:nvPr/>
          </p:nvSpPr>
          <p:spPr>
            <a:xfrm flipH="false" flipV="false" rot="0">
              <a:off x="0" y="0"/>
              <a:ext cx="210947" cy="323977"/>
            </a:xfrm>
            <a:custGeom>
              <a:avLst/>
              <a:gdLst/>
              <a:ahLst/>
              <a:cxnLst/>
              <a:rect r="r" b="b" t="t" l="l"/>
              <a:pathLst>
                <a:path h="323977" w="210947">
                  <a:moveTo>
                    <a:pt x="0" y="0"/>
                  </a:moveTo>
                  <a:lnTo>
                    <a:pt x="210947" y="0"/>
                  </a:lnTo>
                  <a:lnTo>
                    <a:pt x="210947" y="323977"/>
                  </a:lnTo>
                  <a:lnTo>
                    <a:pt x="0" y="323977"/>
                  </a:lnTo>
                  <a:lnTo>
                    <a:pt x="0" y="0"/>
                  </a:lnTo>
                  <a:close/>
                </a:path>
              </a:pathLst>
            </a:custGeom>
            <a:blipFill>
              <a:blip r:embed="rId22"/>
              <a:stretch>
                <a:fillRect l="-39" t="0" r="-41" b="18"/>
              </a:stretch>
            </a:blipFill>
          </p:spPr>
        </p:sp>
      </p:grpSp>
      <p:grpSp>
        <p:nvGrpSpPr>
          <p:cNvPr name="Group 37" id="37"/>
          <p:cNvGrpSpPr/>
          <p:nvPr/>
        </p:nvGrpSpPr>
        <p:grpSpPr>
          <a:xfrm rot="0">
            <a:off x="15171713" y="2695161"/>
            <a:ext cx="158213" cy="242938"/>
            <a:chOff x="0" y="0"/>
            <a:chExt cx="210951" cy="323917"/>
          </a:xfrm>
        </p:grpSpPr>
        <p:sp>
          <p:nvSpPr>
            <p:cNvPr name="Freeform 38" id="38"/>
            <p:cNvSpPr/>
            <p:nvPr/>
          </p:nvSpPr>
          <p:spPr>
            <a:xfrm flipH="false" flipV="false" rot="0">
              <a:off x="0" y="0"/>
              <a:ext cx="210947" cy="323977"/>
            </a:xfrm>
            <a:custGeom>
              <a:avLst/>
              <a:gdLst/>
              <a:ahLst/>
              <a:cxnLst/>
              <a:rect r="r" b="b" t="t" l="l"/>
              <a:pathLst>
                <a:path h="323977" w="210947">
                  <a:moveTo>
                    <a:pt x="0" y="0"/>
                  </a:moveTo>
                  <a:lnTo>
                    <a:pt x="210947" y="0"/>
                  </a:lnTo>
                  <a:lnTo>
                    <a:pt x="210947" y="323977"/>
                  </a:lnTo>
                  <a:lnTo>
                    <a:pt x="0" y="323977"/>
                  </a:lnTo>
                  <a:lnTo>
                    <a:pt x="0" y="0"/>
                  </a:lnTo>
                  <a:close/>
                </a:path>
              </a:pathLst>
            </a:custGeom>
            <a:blipFill>
              <a:blip r:embed="rId22"/>
              <a:stretch>
                <a:fillRect l="-39" t="0" r="-41" b="18"/>
              </a:stretch>
            </a:blipFill>
          </p:spPr>
        </p:sp>
      </p:grpSp>
      <p:grpSp>
        <p:nvGrpSpPr>
          <p:cNvPr name="Group 39" id="39"/>
          <p:cNvGrpSpPr/>
          <p:nvPr/>
        </p:nvGrpSpPr>
        <p:grpSpPr>
          <a:xfrm rot="0">
            <a:off x="15013500" y="3578786"/>
            <a:ext cx="158213" cy="242938"/>
            <a:chOff x="0" y="0"/>
            <a:chExt cx="210951" cy="323917"/>
          </a:xfrm>
        </p:grpSpPr>
        <p:sp>
          <p:nvSpPr>
            <p:cNvPr name="Freeform 40" id="40"/>
            <p:cNvSpPr/>
            <p:nvPr/>
          </p:nvSpPr>
          <p:spPr>
            <a:xfrm flipH="false" flipV="false" rot="0">
              <a:off x="0" y="0"/>
              <a:ext cx="210947" cy="323977"/>
            </a:xfrm>
            <a:custGeom>
              <a:avLst/>
              <a:gdLst/>
              <a:ahLst/>
              <a:cxnLst/>
              <a:rect r="r" b="b" t="t" l="l"/>
              <a:pathLst>
                <a:path h="323977" w="210947">
                  <a:moveTo>
                    <a:pt x="0" y="0"/>
                  </a:moveTo>
                  <a:lnTo>
                    <a:pt x="210947" y="0"/>
                  </a:lnTo>
                  <a:lnTo>
                    <a:pt x="210947" y="323977"/>
                  </a:lnTo>
                  <a:lnTo>
                    <a:pt x="0" y="323977"/>
                  </a:lnTo>
                  <a:lnTo>
                    <a:pt x="0" y="0"/>
                  </a:lnTo>
                  <a:close/>
                </a:path>
              </a:pathLst>
            </a:custGeom>
            <a:blipFill>
              <a:blip r:embed="rId22"/>
              <a:stretch>
                <a:fillRect l="-39" t="0" r="-41" b="18"/>
              </a:stretch>
            </a:blipFill>
          </p:spPr>
        </p:sp>
      </p:grpSp>
      <p:grpSp>
        <p:nvGrpSpPr>
          <p:cNvPr name="Group 41" id="41"/>
          <p:cNvGrpSpPr/>
          <p:nvPr/>
        </p:nvGrpSpPr>
        <p:grpSpPr>
          <a:xfrm rot="0">
            <a:off x="13596429" y="3539874"/>
            <a:ext cx="158213" cy="242938"/>
            <a:chOff x="0" y="0"/>
            <a:chExt cx="210951" cy="323917"/>
          </a:xfrm>
        </p:grpSpPr>
        <p:sp>
          <p:nvSpPr>
            <p:cNvPr name="Freeform 42" id="42"/>
            <p:cNvSpPr/>
            <p:nvPr/>
          </p:nvSpPr>
          <p:spPr>
            <a:xfrm flipH="false" flipV="false" rot="0">
              <a:off x="0" y="0"/>
              <a:ext cx="210947" cy="323977"/>
            </a:xfrm>
            <a:custGeom>
              <a:avLst/>
              <a:gdLst/>
              <a:ahLst/>
              <a:cxnLst/>
              <a:rect r="r" b="b" t="t" l="l"/>
              <a:pathLst>
                <a:path h="323977" w="210947">
                  <a:moveTo>
                    <a:pt x="0" y="0"/>
                  </a:moveTo>
                  <a:lnTo>
                    <a:pt x="210947" y="0"/>
                  </a:lnTo>
                  <a:lnTo>
                    <a:pt x="210947" y="323977"/>
                  </a:lnTo>
                  <a:lnTo>
                    <a:pt x="0" y="323977"/>
                  </a:lnTo>
                  <a:lnTo>
                    <a:pt x="0" y="0"/>
                  </a:lnTo>
                  <a:close/>
                </a:path>
              </a:pathLst>
            </a:custGeom>
            <a:blipFill>
              <a:blip r:embed="rId22"/>
              <a:stretch>
                <a:fillRect l="-39" t="0" r="-41" b="18"/>
              </a:stretch>
            </a:blipFill>
          </p:spPr>
        </p:sp>
      </p:grpSp>
      <p:grpSp>
        <p:nvGrpSpPr>
          <p:cNvPr name="Group 43" id="43"/>
          <p:cNvGrpSpPr/>
          <p:nvPr/>
        </p:nvGrpSpPr>
        <p:grpSpPr>
          <a:xfrm rot="0">
            <a:off x="15689052" y="4900562"/>
            <a:ext cx="158213" cy="242938"/>
            <a:chOff x="0" y="0"/>
            <a:chExt cx="210951" cy="323917"/>
          </a:xfrm>
        </p:grpSpPr>
        <p:sp>
          <p:nvSpPr>
            <p:cNvPr name="Freeform 44" id="44"/>
            <p:cNvSpPr/>
            <p:nvPr/>
          </p:nvSpPr>
          <p:spPr>
            <a:xfrm flipH="false" flipV="false" rot="0">
              <a:off x="0" y="0"/>
              <a:ext cx="210947" cy="323977"/>
            </a:xfrm>
            <a:custGeom>
              <a:avLst/>
              <a:gdLst/>
              <a:ahLst/>
              <a:cxnLst/>
              <a:rect r="r" b="b" t="t" l="l"/>
              <a:pathLst>
                <a:path h="323977" w="210947">
                  <a:moveTo>
                    <a:pt x="0" y="0"/>
                  </a:moveTo>
                  <a:lnTo>
                    <a:pt x="210947" y="0"/>
                  </a:lnTo>
                  <a:lnTo>
                    <a:pt x="210947" y="323977"/>
                  </a:lnTo>
                  <a:lnTo>
                    <a:pt x="0" y="323977"/>
                  </a:lnTo>
                  <a:lnTo>
                    <a:pt x="0" y="0"/>
                  </a:lnTo>
                  <a:close/>
                </a:path>
              </a:pathLst>
            </a:custGeom>
            <a:blipFill>
              <a:blip r:embed="rId22"/>
              <a:stretch>
                <a:fillRect l="-39" t="0" r="-41" b="18"/>
              </a:stretch>
            </a:blipFill>
          </p:spPr>
        </p:sp>
      </p:grpSp>
      <p:sp>
        <p:nvSpPr>
          <p:cNvPr name="TextBox 45" id="45"/>
          <p:cNvSpPr txBox="true"/>
          <p:nvPr/>
        </p:nvSpPr>
        <p:spPr>
          <a:xfrm rot="0">
            <a:off x="677600" y="3641888"/>
            <a:ext cx="7800900" cy="2261997"/>
          </a:xfrm>
          <a:prstGeom prst="rect">
            <a:avLst/>
          </a:prstGeom>
        </p:spPr>
        <p:txBody>
          <a:bodyPr anchor="t" rtlCol="false" tIns="0" lIns="0" bIns="0" rIns="0">
            <a:spAutoFit/>
          </a:bodyPr>
          <a:lstStyle/>
          <a:p>
            <a:pPr algn="l">
              <a:lnSpc>
                <a:spcPts val="3024"/>
              </a:lnSpc>
            </a:pPr>
            <a:r>
              <a:rPr lang="en-US" sz="1800">
                <a:solidFill>
                  <a:srgbClr val="FFFFFF"/>
                </a:solidFill>
                <a:latin typeface="Inter"/>
                <a:ea typeface="Inter"/>
                <a:cs typeface="Inter"/>
                <a:sym typeface="Inter"/>
              </a:rPr>
              <a:t>Z</a:t>
            </a:r>
            <a:r>
              <a:rPr lang="en-US" sz="1800">
                <a:solidFill>
                  <a:srgbClr val="FFFFFF"/>
                </a:solidFill>
                <a:latin typeface="Inter"/>
                <a:ea typeface="Inter"/>
                <a:cs typeface="Inter"/>
                <a:sym typeface="Inter"/>
              </a:rPr>
              <a:t>ambia’s ICT sector is rapidly expanding, fueled by growing digital transformation needs across businesses, institutions, and individuals. As an online startup with no geographic boundaries, Otrava Technologies is uniquely positioned to tap into both local and international markets, leveraging technology to deliver scalable services beyond Zambia’s borders.</a:t>
            </a:r>
          </a:p>
        </p:txBody>
      </p:sp>
      <p:sp>
        <p:nvSpPr>
          <p:cNvPr name="TextBox 46" id="46"/>
          <p:cNvSpPr txBox="true"/>
          <p:nvPr/>
        </p:nvSpPr>
        <p:spPr>
          <a:xfrm rot="0">
            <a:off x="957022" y="7753904"/>
            <a:ext cx="2031900" cy="424434"/>
          </a:xfrm>
          <a:prstGeom prst="rect">
            <a:avLst/>
          </a:prstGeom>
        </p:spPr>
        <p:txBody>
          <a:bodyPr anchor="t" rtlCol="false" tIns="0" lIns="0" bIns="0" rIns="0">
            <a:spAutoFit/>
          </a:bodyPr>
          <a:lstStyle/>
          <a:p>
            <a:pPr algn="l">
              <a:lnSpc>
                <a:spcPts val="3528"/>
              </a:lnSpc>
            </a:pPr>
            <a:r>
              <a:rPr lang="en-US" b="true" sz="2100">
                <a:solidFill>
                  <a:srgbClr val="FFFFFF"/>
                </a:solidFill>
                <a:latin typeface="Inter Bold"/>
                <a:ea typeface="Inter Bold"/>
                <a:cs typeface="Inter Bold"/>
                <a:sym typeface="Inter Bold"/>
              </a:rPr>
              <a:t>ZMW 2</a:t>
            </a:r>
            <a:r>
              <a:rPr lang="en-US" b="true" sz="2100">
                <a:solidFill>
                  <a:srgbClr val="FFFFFF"/>
                </a:solidFill>
                <a:latin typeface="Inter Bold"/>
                <a:ea typeface="Inter Bold"/>
                <a:cs typeface="Inter Bold"/>
                <a:sym typeface="Inter Bold"/>
              </a:rPr>
              <a:t> Billion</a:t>
            </a:r>
          </a:p>
        </p:txBody>
      </p:sp>
      <p:sp>
        <p:nvSpPr>
          <p:cNvPr name="TextBox 47" id="47"/>
          <p:cNvSpPr txBox="true"/>
          <p:nvPr/>
        </p:nvSpPr>
        <p:spPr>
          <a:xfrm rot="0">
            <a:off x="957026" y="8287000"/>
            <a:ext cx="2300400" cy="282075"/>
          </a:xfrm>
          <a:prstGeom prst="rect">
            <a:avLst/>
          </a:prstGeom>
        </p:spPr>
        <p:txBody>
          <a:bodyPr anchor="t" rtlCol="false" tIns="0" lIns="0" bIns="0" rIns="0">
            <a:spAutoFit/>
          </a:bodyPr>
          <a:lstStyle/>
          <a:p>
            <a:pPr algn="l">
              <a:lnSpc>
                <a:spcPts val="2350"/>
              </a:lnSpc>
            </a:pPr>
            <a:r>
              <a:rPr lang="en-US" b="true" sz="1399">
                <a:solidFill>
                  <a:srgbClr val="FFFFFF"/>
                </a:solidFill>
                <a:latin typeface="Inter Medium"/>
                <a:ea typeface="Inter Medium"/>
                <a:cs typeface="Inter Medium"/>
                <a:sym typeface="Inter Medium"/>
              </a:rPr>
              <a:t>Total Available Market </a:t>
            </a:r>
          </a:p>
        </p:txBody>
      </p:sp>
      <p:sp>
        <p:nvSpPr>
          <p:cNvPr name="TextBox 48" id="48"/>
          <p:cNvSpPr txBox="true"/>
          <p:nvPr/>
        </p:nvSpPr>
        <p:spPr>
          <a:xfrm rot="0">
            <a:off x="957022" y="7341230"/>
            <a:ext cx="938847" cy="409782"/>
          </a:xfrm>
          <a:prstGeom prst="rect">
            <a:avLst/>
          </a:prstGeom>
        </p:spPr>
        <p:txBody>
          <a:bodyPr anchor="t" rtlCol="false" tIns="0" lIns="0" bIns="0" rIns="0">
            <a:spAutoFit/>
          </a:bodyPr>
          <a:lstStyle/>
          <a:p>
            <a:pPr algn="l">
              <a:lnSpc>
                <a:spcPts val="3135"/>
              </a:lnSpc>
            </a:pPr>
            <a:r>
              <a:rPr lang="en-US" b="true" sz="1866">
                <a:solidFill>
                  <a:srgbClr val="FFFFFF"/>
                </a:solidFill>
                <a:latin typeface="Inter Medium"/>
                <a:ea typeface="Inter Medium"/>
                <a:cs typeface="Inter Medium"/>
                <a:sym typeface="Inter Medium"/>
              </a:rPr>
              <a:t>TAM</a:t>
            </a:r>
          </a:p>
        </p:txBody>
      </p:sp>
      <p:sp>
        <p:nvSpPr>
          <p:cNvPr name="TextBox 49" id="49"/>
          <p:cNvSpPr txBox="true"/>
          <p:nvPr/>
        </p:nvSpPr>
        <p:spPr>
          <a:xfrm rot="0">
            <a:off x="8892882" y="7753904"/>
            <a:ext cx="2392500" cy="424434"/>
          </a:xfrm>
          <a:prstGeom prst="rect">
            <a:avLst/>
          </a:prstGeom>
        </p:spPr>
        <p:txBody>
          <a:bodyPr anchor="t" rtlCol="false" tIns="0" lIns="0" bIns="0" rIns="0">
            <a:spAutoFit/>
          </a:bodyPr>
          <a:lstStyle/>
          <a:p>
            <a:pPr algn="l">
              <a:lnSpc>
                <a:spcPts val="3528"/>
              </a:lnSpc>
            </a:pPr>
            <a:r>
              <a:rPr lang="en-US" b="true" sz="2100">
                <a:solidFill>
                  <a:srgbClr val="292929"/>
                </a:solidFill>
                <a:latin typeface="Inter Bold"/>
                <a:ea typeface="Inter Bold"/>
                <a:cs typeface="Inter Bold"/>
                <a:sym typeface="Inter Bold"/>
              </a:rPr>
              <a:t>ZMW </a:t>
            </a:r>
            <a:r>
              <a:rPr lang="en-US" b="true" sz="2100">
                <a:solidFill>
                  <a:srgbClr val="292929"/>
                </a:solidFill>
                <a:latin typeface="Inter Bold"/>
                <a:ea typeface="Inter Bold"/>
                <a:cs typeface="Inter Bold"/>
                <a:sym typeface="Inter Bold"/>
              </a:rPr>
              <a:t>100 Million</a:t>
            </a:r>
          </a:p>
        </p:txBody>
      </p:sp>
      <p:sp>
        <p:nvSpPr>
          <p:cNvPr name="TextBox 50" id="50"/>
          <p:cNvSpPr txBox="true"/>
          <p:nvPr/>
        </p:nvSpPr>
        <p:spPr>
          <a:xfrm rot="0">
            <a:off x="8892874" y="8300650"/>
            <a:ext cx="2765100" cy="282075"/>
          </a:xfrm>
          <a:prstGeom prst="rect">
            <a:avLst/>
          </a:prstGeom>
        </p:spPr>
        <p:txBody>
          <a:bodyPr anchor="t" rtlCol="false" tIns="0" lIns="0" bIns="0" rIns="0">
            <a:spAutoFit/>
          </a:bodyPr>
          <a:lstStyle/>
          <a:p>
            <a:pPr algn="l">
              <a:lnSpc>
                <a:spcPts val="2350"/>
              </a:lnSpc>
            </a:pPr>
            <a:r>
              <a:rPr lang="en-US" b="true" sz="1399">
                <a:solidFill>
                  <a:srgbClr val="292929"/>
                </a:solidFill>
                <a:latin typeface="Inter Medium"/>
                <a:ea typeface="Inter Medium"/>
                <a:cs typeface="Inter Medium"/>
                <a:sym typeface="Inter Medium"/>
              </a:rPr>
              <a:t>Serviceable Obtainable Market </a:t>
            </a:r>
          </a:p>
        </p:txBody>
      </p:sp>
      <p:sp>
        <p:nvSpPr>
          <p:cNvPr name="TextBox 51" id="51"/>
          <p:cNvSpPr txBox="true"/>
          <p:nvPr/>
        </p:nvSpPr>
        <p:spPr>
          <a:xfrm rot="0">
            <a:off x="8892882" y="7354863"/>
            <a:ext cx="860989" cy="409782"/>
          </a:xfrm>
          <a:prstGeom prst="rect">
            <a:avLst/>
          </a:prstGeom>
        </p:spPr>
        <p:txBody>
          <a:bodyPr anchor="t" rtlCol="false" tIns="0" lIns="0" bIns="0" rIns="0">
            <a:spAutoFit/>
          </a:bodyPr>
          <a:lstStyle/>
          <a:p>
            <a:pPr algn="l">
              <a:lnSpc>
                <a:spcPts val="3135"/>
              </a:lnSpc>
            </a:pPr>
            <a:r>
              <a:rPr lang="en-US" b="true" sz="1866">
                <a:solidFill>
                  <a:srgbClr val="292929"/>
                </a:solidFill>
                <a:latin typeface="Inter Medium"/>
                <a:ea typeface="Inter Medium"/>
                <a:cs typeface="Inter Medium"/>
                <a:sym typeface="Inter Medium"/>
              </a:rPr>
              <a:t>SOM</a:t>
            </a:r>
          </a:p>
        </p:txBody>
      </p:sp>
      <p:sp>
        <p:nvSpPr>
          <p:cNvPr name="TextBox 52" id="52"/>
          <p:cNvSpPr txBox="true"/>
          <p:nvPr/>
        </p:nvSpPr>
        <p:spPr>
          <a:xfrm rot="0">
            <a:off x="4913272" y="7753904"/>
            <a:ext cx="2552812" cy="424434"/>
          </a:xfrm>
          <a:prstGeom prst="rect">
            <a:avLst/>
          </a:prstGeom>
        </p:spPr>
        <p:txBody>
          <a:bodyPr anchor="t" rtlCol="false" tIns="0" lIns="0" bIns="0" rIns="0">
            <a:spAutoFit/>
          </a:bodyPr>
          <a:lstStyle/>
          <a:p>
            <a:pPr algn="l">
              <a:lnSpc>
                <a:spcPts val="3528"/>
              </a:lnSpc>
            </a:pPr>
            <a:r>
              <a:rPr lang="en-US" b="true" sz="2100">
                <a:solidFill>
                  <a:srgbClr val="292929"/>
                </a:solidFill>
                <a:latin typeface="Inter Bold"/>
                <a:ea typeface="Inter Bold"/>
                <a:cs typeface="Inter Bold"/>
                <a:sym typeface="Inter Bold"/>
              </a:rPr>
              <a:t>ZMW 300</a:t>
            </a:r>
            <a:r>
              <a:rPr lang="en-US" b="true" sz="2100">
                <a:solidFill>
                  <a:srgbClr val="292929"/>
                </a:solidFill>
                <a:latin typeface="Inter Bold"/>
                <a:ea typeface="Inter Bold"/>
                <a:cs typeface="Inter Bold"/>
                <a:sym typeface="Inter Bold"/>
              </a:rPr>
              <a:t> Million</a:t>
            </a:r>
          </a:p>
        </p:txBody>
      </p:sp>
      <p:sp>
        <p:nvSpPr>
          <p:cNvPr name="TextBox 53" id="53"/>
          <p:cNvSpPr txBox="true"/>
          <p:nvPr/>
        </p:nvSpPr>
        <p:spPr>
          <a:xfrm rot="0">
            <a:off x="4913272" y="8287009"/>
            <a:ext cx="2634300" cy="282075"/>
          </a:xfrm>
          <a:prstGeom prst="rect">
            <a:avLst/>
          </a:prstGeom>
        </p:spPr>
        <p:txBody>
          <a:bodyPr anchor="t" rtlCol="false" tIns="0" lIns="0" bIns="0" rIns="0">
            <a:spAutoFit/>
          </a:bodyPr>
          <a:lstStyle/>
          <a:p>
            <a:pPr algn="l">
              <a:lnSpc>
                <a:spcPts val="2350"/>
              </a:lnSpc>
            </a:pPr>
            <a:r>
              <a:rPr lang="en-US" b="true" sz="1399">
                <a:solidFill>
                  <a:srgbClr val="292929"/>
                </a:solidFill>
                <a:latin typeface="Inter Medium"/>
                <a:ea typeface="Inter Medium"/>
                <a:cs typeface="Inter Medium"/>
                <a:sym typeface="Inter Medium"/>
              </a:rPr>
              <a:t>Serviceable Available Market </a:t>
            </a:r>
          </a:p>
        </p:txBody>
      </p:sp>
      <p:sp>
        <p:nvSpPr>
          <p:cNvPr name="TextBox 54" id="54"/>
          <p:cNvSpPr txBox="true"/>
          <p:nvPr/>
        </p:nvSpPr>
        <p:spPr>
          <a:xfrm rot="0">
            <a:off x="4913272" y="7341230"/>
            <a:ext cx="844655" cy="409782"/>
          </a:xfrm>
          <a:prstGeom prst="rect">
            <a:avLst/>
          </a:prstGeom>
        </p:spPr>
        <p:txBody>
          <a:bodyPr anchor="t" rtlCol="false" tIns="0" lIns="0" bIns="0" rIns="0">
            <a:spAutoFit/>
          </a:bodyPr>
          <a:lstStyle/>
          <a:p>
            <a:pPr algn="l">
              <a:lnSpc>
                <a:spcPts val="3135"/>
              </a:lnSpc>
            </a:pPr>
            <a:r>
              <a:rPr lang="en-US" b="true" sz="1866">
                <a:solidFill>
                  <a:srgbClr val="292929"/>
                </a:solidFill>
                <a:latin typeface="Inter Medium"/>
                <a:ea typeface="Inter Medium"/>
                <a:cs typeface="Inter Medium"/>
                <a:sym typeface="Inter Medium"/>
              </a:rPr>
              <a:t>SAM</a:t>
            </a:r>
          </a:p>
        </p:txBody>
      </p:sp>
      <p:sp>
        <p:nvSpPr>
          <p:cNvPr name="TextBox 55" id="55"/>
          <p:cNvSpPr txBox="true"/>
          <p:nvPr/>
        </p:nvSpPr>
        <p:spPr>
          <a:xfrm rot="0">
            <a:off x="677607" y="9470496"/>
            <a:ext cx="419288" cy="321945"/>
          </a:xfrm>
          <a:prstGeom prst="rect">
            <a:avLst/>
          </a:prstGeom>
        </p:spPr>
        <p:txBody>
          <a:bodyPr anchor="t" rtlCol="false" tIns="0" lIns="0" bIns="0" rIns="0">
            <a:spAutoFit/>
          </a:bodyPr>
          <a:lstStyle/>
          <a:p>
            <a:pPr algn="just">
              <a:lnSpc>
                <a:spcPts val="2014"/>
              </a:lnSpc>
            </a:pPr>
            <a:r>
              <a:rPr lang="en-US" sz="1200">
                <a:solidFill>
                  <a:srgbClr val="FFFFFF"/>
                </a:solidFill>
                <a:latin typeface="Arial MT Pro"/>
                <a:ea typeface="Arial MT Pro"/>
                <a:cs typeface="Arial MT Pro"/>
                <a:sym typeface="Arial MT Pro"/>
              </a:rPr>
              <a:t>13</a:t>
            </a:r>
          </a:p>
        </p:txBody>
      </p:sp>
      <p:sp>
        <p:nvSpPr>
          <p:cNvPr name="TextBox 56" id="56"/>
          <p:cNvSpPr txBox="true"/>
          <p:nvPr/>
        </p:nvSpPr>
        <p:spPr>
          <a:xfrm rot="0">
            <a:off x="1228783" y="590519"/>
            <a:ext cx="2259060"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TextBox 57" id="57"/>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
        <p:nvSpPr>
          <p:cNvPr name="Freeform 58" id="58"/>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23"/>
            <a:stretch>
              <a:fillRect l="0" t="0" r="0" b="0"/>
            </a:stretch>
          </a:blipFill>
        </p:spPr>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Freeform 3" id="3"/>
          <p:cNvSpPr/>
          <p:nvPr/>
        </p:nvSpPr>
        <p:spPr>
          <a:xfrm flipH="false" flipV="false" rot="0">
            <a:off x="677607" y="4996641"/>
            <a:ext cx="5057062" cy="3934810"/>
          </a:xfrm>
          <a:custGeom>
            <a:avLst/>
            <a:gdLst/>
            <a:ahLst/>
            <a:cxnLst/>
            <a:rect r="r" b="b" t="t" l="l"/>
            <a:pathLst>
              <a:path h="3934810" w="5057062">
                <a:moveTo>
                  <a:pt x="0" y="0"/>
                </a:moveTo>
                <a:lnTo>
                  <a:pt x="5057062" y="0"/>
                </a:lnTo>
                <a:lnTo>
                  <a:pt x="5057062" y="3934810"/>
                </a:lnTo>
                <a:lnTo>
                  <a:pt x="0" y="39348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287119" y="4996641"/>
            <a:ext cx="5045681" cy="3934810"/>
          </a:xfrm>
          <a:custGeom>
            <a:avLst/>
            <a:gdLst/>
            <a:ahLst/>
            <a:cxnLst/>
            <a:rect r="r" b="b" t="t" l="l"/>
            <a:pathLst>
              <a:path h="3934810" w="5045681">
                <a:moveTo>
                  <a:pt x="0" y="0"/>
                </a:moveTo>
                <a:lnTo>
                  <a:pt x="5045681" y="0"/>
                </a:lnTo>
                <a:lnTo>
                  <a:pt x="5045681" y="3934810"/>
                </a:lnTo>
                <a:lnTo>
                  <a:pt x="0" y="39348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4909549" y="5467965"/>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5048312" y="5606729"/>
            <a:ext cx="205502" cy="205502"/>
            <a:chOff x="0" y="0"/>
            <a:chExt cx="274003" cy="274003"/>
          </a:xfrm>
        </p:grpSpPr>
        <p:sp>
          <p:nvSpPr>
            <p:cNvPr name="Freeform 7" id="7"/>
            <p:cNvSpPr/>
            <p:nvPr/>
          </p:nvSpPr>
          <p:spPr>
            <a:xfrm flipH="false" flipV="false" rot="0">
              <a:off x="0" y="0"/>
              <a:ext cx="274066" cy="273939"/>
            </a:xfrm>
            <a:custGeom>
              <a:avLst/>
              <a:gdLst/>
              <a:ahLst/>
              <a:cxnLst/>
              <a:rect r="r" b="b" t="t" l="l"/>
              <a:pathLst>
                <a:path h="273939" w="274066">
                  <a:moveTo>
                    <a:pt x="0" y="0"/>
                  </a:moveTo>
                  <a:lnTo>
                    <a:pt x="274066" y="0"/>
                  </a:lnTo>
                  <a:lnTo>
                    <a:pt x="274066" y="273939"/>
                  </a:lnTo>
                  <a:lnTo>
                    <a:pt x="0" y="273939"/>
                  </a:lnTo>
                  <a:lnTo>
                    <a:pt x="0" y="0"/>
                  </a:lnTo>
                  <a:close/>
                </a:path>
              </a:pathLst>
            </a:custGeom>
            <a:blipFill>
              <a:blip r:embed="rId9"/>
              <a:stretch>
                <a:fillRect l="0" t="0" r="23" b="-23"/>
              </a:stretch>
            </a:blipFill>
          </p:spPr>
        </p:sp>
      </p:grpSp>
      <p:sp>
        <p:nvSpPr>
          <p:cNvPr name="Freeform 8" id="8"/>
          <p:cNvSpPr/>
          <p:nvPr/>
        </p:nvSpPr>
        <p:spPr>
          <a:xfrm flipH="false" flipV="false" rot="0">
            <a:off x="10538367" y="5467965"/>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9" id="9"/>
          <p:cNvGrpSpPr/>
          <p:nvPr/>
        </p:nvGrpSpPr>
        <p:grpSpPr>
          <a:xfrm rot="0">
            <a:off x="10677130" y="5606729"/>
            <a:ext cx="205502" cy="205502"/>
            <a:chOff x="0" y="0"/>
            <a:chExt cx="274003" cy="274003"/>
          </a:xfrm>
        </p:grpSpPr>
        <p:sp>
          <p:nvSpPr>
            <p:cNvPr name="Freeform 10" id="10"/>
            <p:cNvSpPr/>
            <p:nvPr/>
          </p:nvSpPr>
          <p:spPr>
            <a:xfrm flipH="false" flipV="false" rot="0">
              <a:off x="0" y="0"/>
              <a:ext cx="274066" cy="273939"/>
            </a:xfrm>
            <a:custGeom>
              <a:avLst/>
              <a:gdLst/>
              <a:ahLst/>
              <a:cxnLst/>
              <a:rect r="r" b="b" t="t" l="l"/>
              <a:pathLst>
                <a:path h="273939" w="274066">
                  <a:moveTo>
                    <a:pt x="0" y="0"/>
                  </a:moveTo>
                  <a:lnTo>
                    <a:pt x="274066" y="0"/>
                  </a:lnTo>
                  <a:lnTo>
                    <a:pt x="274066" y="273939"/>
                  </a:lnTo>
                  <a:lnTo>
                    <a:pt x="0" y="273939"/>
                  </a:lnTo>
                  <a:lnTo>
                    <a:pt x="0" y="0"/>
                  </a:lnTo>
                  <a:close/>
                </a:path>
              </a:pathLst>
            </a:custGeom>
            <a:blipFill>
              <a:blip r:embed="rId12"/>
              <a:stretch>
                <a:fillRect l="0" t="0" r="23" b="-23"/>
              </a:stretch>
            </a:blipFill>
          </p:spPr>
        </p:sp>
      </p:grpSp>
      <p:grpSp>
        <p:nvGrpSpPr>
          <p:cNvPr name="Group 11" id="11"/>
          <p:cNvGrpSpPr/>
          <p:nvPr/>
        </p:nvGrpSpPr>
        <p:grpSpPr>
          <a:xfrm rot="0">
            <a:off x="12851263" y="1672127"/>
            <a:ext cx="4759130" cy="7259325"/>
            <a:chOff x="0" y="0"/>
            <a:chExt cx="6345507" cy="9679100"/>
          </a:xfrm>
        </p:grpSpPr>
        <p:sp>
          <p:nvSpPr>
            <p:cNvPr name="Freeform 12" id="12"/>
            <p:cNvSpPr/>
            <p:nvPr/>
          </p:nvSpPr>
          <p:spPr>
            <a:xfrm flipH="false" flipV="false" rot="0">
              <a:off x="0" y="0"/>
              <a:ext cx="6345555" cy="9679178"/>
            </a:xfrm>
            <a:custGeom>
              <a:avLst/>
              <a:gdLst/>
              <a:ahLst/>
              <a:cxnLst/>
              <a:rect r="r" b="b" t="t" l="l"/>
              <a:pathLst>
                <a:path h="9679178" w="6345555">
                  <a:moveTo>
                    <a:pt x="320802" y="0"/>
                  </a:moveTo>
                  <a:lnTo>
                    <a:pt x="6024753" y="0"/>
                  </a:lnTo>
                  <a:cubicBezTo>
                    <a:pt x="6109843" y="0"/>
                    <a:pt x="6191377" y="33782"/>
                    <a:pt x="6251575" y="93980"/>
                  </a:cubicBezTo>
                  <a:cubicBezTo>
                    <a:pt x="6311773" y="154178"/>
                    <a:pt x="6345555" y="235712"/>
                    <a:pt x="6345555" y="320802"/>
                  </a:cubicBezTo>
                  <a:lnTo>
                    <a:pt x="6345555" y="9358376"/>
                  </a:lnTo>
                  <a:cubicBezTo>
                    <a:pt x="6345555" y="9443466"/>
                    <a:pt x="6311773" y="9525000"/>
                    <a:pt x="6251575" y="9585198"/>
                  </a:cubicBezTo>
                  <a:cubicBezTo>
                    <a:pt x="6191377" y="9645396"/>
                    <a:pt x="6109843" y="9679178"/>
                    <a:pt x="6024753" y="9679178"/>
                  </a:cubicBezTo>
                  <a:lnTo>
                    <a:pt x="320802" y="9679178"/>
                  </a:lnTo>
                  <a:cubicBezTo>
                    <a:pt x="235712" y="9679178"/>
                    <a:pt x="154178" y="9645396"/>
                    <a:pt x="93980" y="9585198"/>
                  </a:cubicBezTo>
                  <a:cubicBezTo>
                    <a:pt x="33782" y="9525000"/>
                    <a:pt x="0" y="9443466"/>
                    <a:pt x="0" y="9358376"/>
                  </a:cubicBezTo>
                  <a:lnTo>
                    <a:pt x="0" y="320802"/>
                  </a:lnTo>
                  <a:cubicBezTo>
                    <a:pt x="0" y="235712"/>
                    <a:pt x="33782" y="154051"/>
                    <a:pt x="93980" y="93980"/>
                  </a:cubicBezTo>
                  <a:cubicBezTo>
                    <a:pt x="154178" y="33909"/>
                    <a:pt x="235712" y="0"/>
                    <a:pt x="320802" y="0"/>
                  </a:cubicBezTo>
                  <a:close/>
                </a:path>
              </a:pathLst>
            </a:custGeom>
            <a:blipFill>
              <a:blip r:embed="rId13"/>
              <a:stretch>
                <a:fillRect l="-26267" t="0" r="-26267" b="0"/>
              </a:stretch>
            </a:blipFill>
          </p:spPr>
        </p:sp>
      </p:grpSp>
      <p:sp>
        <p:nvSpPr>
          <p:cNvPr name="Freeform 13" id="13"/>
          <p:cNvSpPr/>
          <p:nvPr/>
        </p:nvSpPr>
        <p:spPr>
          <a:xfrm flipH="false" flipV="false" rot="0">
            <a:off x="12051471" y="9508756"/>
            <a:ext cx="3823755" cy="1589323"/>
          </a:xfrm>
          <a:custGeom>
            <a:avLst/>
            <a:gdLst/>
            <a:ahLst/>
            <a:cxnLst/>
            <a:rect r="r" b="b" t="t" l="l"/>
            <a:pathLst>
              <a:path h="1589323" w="3823755">
                <a:moveTo>
                  <a:pt x="0" y="0"/>
                </a:moveTo>
                <a:lnTo>
                  <a:pt x="3823755" y="0"/>
                </a:lnTo>
                <a:lnTo>
                  <a:pt x="3823755" y="1589323"/>
                </a:lnTo>
                <a:lnTo>
                  <a:pt x="0" y="158932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6287119" y="9508756"/>
            <a:ext cx="5045681" cy="1589323"/>
          </a:xfrm>
          <a:custGeom>
            <a:avLst/>
            <a:gdLst/>
            <a:ahLst/>
            <a:cxnLst/>
            <a:rect r="r" b="b" t="t" l="l"/>
            <a:pathLst>
              <a:path h="1589323" w="5045681">
                <a:moveTo>
                  <a:pt x="0" y="0"/>
                </a:moveTo>
                <a:lnTo>
                  <a:pt x="5045681" y="0"/>
                </a:lnTo>
                <a:lnTo>
                  <a:pt x="5045681" y="1589323"/>
                </a:lnTo>
                <a:lnTo>
                  <a:pt x="0" y="158932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5" id="15"/>
          <p:cNvGrpSpPr/>
          <p:nvPr/>
        </p:nvGrpSpPr>
        <p:grpSpPr>
          <a:xfrm rot="-5400000">
            <a:off x="10341316" y="3048955"/>
            <a:ext cx="1320198" cy="662772"/>
            <a:chOff x="0" y="0"/>
            <a:chExt cx="1760264" cy="883696"/>
          </a:xfrm>
        </p:grpSpPr>
        <p:sp>
          <p:nvSpPr>
            <p:cNvPr name="Freeform 16" id="16"/>
            <p:cNvSpPr/>
            <p:nvPr/>
          </p:nvSpPr>
          <p:spPr>
            <a:xfrm flipH="false" flipV="false" rot="0">
              <a:off x="0" y="0"/>
              <a:ext cx="1760220" cy="883666"/>
            </a:xfrm>
            <a:custGeom>
              <a:avLst/>
              <a:gdLst/>
              <a:ahLst/>
              <a:cxnLst/>
              <a:rect r="r" b="b" t="t" l="l"/>
              <a:pathLst>
                <a:path h="883666" w="1760220">
                  <a:moveTo>
                    <a:pt x="0" y="0"/>
                  </a:moveTo>
                  <a:lnTo>
                    <a:pt x="1760220" y="0"/>
                  </a:lnTo>
                  <a:lnTo>
                    <a:pt x="1760220" y="883666"/>
                  </a:lnTo>
                  <a:lnTo>
                    <a:pt x="0" y="883666"/>
                  </a:lnTo>
                  <a:lnTo>
                    <a:pt x="0" y="0"/>
                  </a:lnTo>
                  <a:close/>
                </a:path>
              </a:pathLst>
            </a:custGeom>
            <a:blipFill>
              <a:blip r:embed="rId18"/>
              <a:stretch>
                <a:fillRect l="0" t="-33" r="-2" b="-37"/>
              </a:stretch>
            </a:blipFill>
          </p:spPr>
        </p:sp>
      </p:grpSp>
      <p:grpSp>
        <p:nvGrpSpPr>
          <p:cNvPr name="Group 17" id="17"/>
          <p:cNvGrpSpPr/>
          <p:nvPr/>
        </p:nvGrpSpPr>
        <p:grpSpPr>
          <a:xfrm rot="5400000">
            <a:off x="10670029" y="2057470"/>
            <a:ext cx="662772" cy="662772"/>
            <a:chOff x="0" y="0"/>
            <a:chExt cx="883696" cy="883696"/>
          </a:xfrm>
        </p:grpSpPr>
        <p:sp>
          <p:nvSpPr>
            <p:cNvPr name="Freeform 18" id="18"/>
            <p:cNvSpPr/>
            <p:nvPr/>
          </p:nvSpPr>
          <p:spPr>
            <a:xfrm flipH="false" flipV="false" rot="0">
              <a:off x="0" y="0"/>
              <a:ext cx="883666" cy="883666"/>
            </a:xfrm>
            <a:custGeom>
              <a:avLst/>
              <a:gdLst/>
              <a:ahLst/>
              <a:cxnLst/>
              <a:rect r="r" b="b" t="t" l="l"/>
              <a:pathLst>
                <a:path h="883666" w="883666">
                  <a:moveTo>
                    <a:pt x="0" y="0"/>
                  </a:moveTo>
                  <a:lnTo>
                    <a:pt x="883666" y="0"/>
                  </a:lnTo>
                  <a:lnTo>
                    <a:pt x="883666" y="883666"/>
                  </a:lnTo>
                  <a:lnTo>
                    <a:pt x="0" y="883666"/>
                  </a:lnTo>
                  <a:lnTo>
                    <a:pt x="0" y="0"/>
                  </a:lnTo>
                  <a:close/>
                </a:path>
              </a:pathLst>
            </a:custGeom>
            <a:blipFill>
              <a:blip r:embed="rId19"/>
              <a:stretch>
                <a:fillRect l="0" t="0" r="-3" b="-3"/>
              </a:stretch>
            </a:blipFill>
          </p:spPr>
        </p:sp>
      </p:grpSp>
      <p:sp>
        <p:nvSpPr>
          <p:cNvPr name="TextBox 19" id="19"/>
          <p:cNvSpPr txBox="true"/>
          <p:nvPr/>
        </p:nvSpPr>
        <p:spPr>
          <a:xfrm rot="0">
            <a:off x="677607" y="1846737"/>
            <a:ext cx="7132998" cy="2576830"/>
          </a:xfrm>
          <a:prstGeom prst="rect">
            <a:avLst/>
          </a:prstGeom>
        </p:spPr>
        <p:txBody>
          <a:bodyPr anchor="t" rtlCol="false" tIns="0" lIns="0" bIns="0" rIns="0">
            <a:spAutoFit/>
          </a:bodyPr>
          <a:lstStyle/>
          <a:p>
            <a:pPr algn="l">
              <a:lnSpc>
                <a:spcPts val="11454"/>
              </a:lnSpc>
            </a:pPr>
            <a:r>
              <a:rPr lang="en-US" b="true" sz="8300">
                <a:solidFill>
                  <a:srgbClr val="FFFFFF"/>
                </a:solidFill>
                <a:latin typeface="Inter Bold"/>
                <a:ea typeface="Inter Bold"/>
                <a:cs typeface="Inter Bold"/>
                <a:sym typeface="Inter Bold"/>
              </a:rPr>
              <a:t>TARGET</a:t>
            </a:r>
          </a:p>
          <a:p>
            <a:pPr algn="l">
              <a:lnSpc>
                <a:spcPts val="11454"/>
              </a:lnSpc>
            </a:pPr>
            <a:r>
              <a:rPr lang="en-US" b="true" sz="8300">
                <a:solidFill>
                  <a:srgbClr val="FFFFFF"/>
                </a:solidFill>
                <a:latin typeface="Inter Bold"/>
                <a:ea typeface="Inter Bold"/>
                <a:cs typeface="Inter Bold"/>
                <a:sym typeface="Inter Bold"/>
              </a:rPr>
              <a:t>MARKET</a:t>
            </a:r>
          </a:p>
        </p:txBody>
      </p:sp>
      <p:sp>
        <p:nvSpPr>
          <p:cNvPr name="TextBox 20" id="20"/>
          <p:cNvSpPr txBox="true"/>
          <p:nvPr/>
        </p:nvSpPr>
        <p:spPr>
          <a:xfrm rot="0">
            <a:off x="978908" y="7303444"/>
            <a:ext cx="4069500" cy="1162431"/>
          </a:xfrm>
          <a:prstGeom prst="rect">
            <a:avLst/>
          </a:prstGeom>
        </p:spPr>
        <p:txBody>
          <a:bodyPr anchor="t" rtlCol="false" tIns="0" lIns="0" bIns="0" rIns="0">
            <a:spAutoFit/>
          </a:bodyPr>
          <a:lstStyle/>
          <a:p>
            <a:pPr algn="l">
              <a:lnSpc>
                <a:spcPts val="2351"/>
              </a:lnSpc>
            </a:pPr>
            <a:r>
              <a:rPr lang="en-US" sz="1399">
                <a:solidFill>
                  <a:srgbClr val="292929"/>
                </a:solidFill>
                <a:latin typeface="Inter"/>
                <a:ea typeface="Inter"/>
                <a:cs typeface="Inter"/>
                <a:sym typeface="Inter"/>
              </a:rPr>
              <a:t>W</a:t>
            </a:r>
            <a:r>
              <a:rPr lang="en-US" sz="1399">
                <a:solidFill>
                  <a:srgbClr val="292929"/>
                </a:solidFill>
                <a:latin typeface="Inter"/>
                <a:ea typeface="Inter"/>
                <a:cs typeface="Inter"/>
                <a:sym typeface="Inter"/>
              </a:rPr>
              <a:t>e provide SMEs, entrepreneurs, households, and individuals with affordable, high-quality tech services, from IT consulting and web design to computer repair and support.</a:t>
            </a:r>
          </a:p>
        </p:txBody>
      </p:sp>
      <p:sp>
        <p:nvSpPr>
          <p:cNvPr name="TextBox 21" id="21"/>
          <p:cNvSpPr txBox="true"/>
          <p:nvPr/>
        </p:nvSpPr>
        <p:spPr>
          <a:xfrm rot="0">
            <a:off x="6635260" y="7328188"/>
            <a:ext cx="4349400" cy="1162431"/>
          </a:xfrm>
          <a:prstGeom prst="rect">
            <a:avLst/>
          </a:prstGeom>
        </p:spPr>
        <p:txBody>
          <a:bodyPr anchor="t" rtlCol="false" tIns="0" lIns="0" bIns="0" rIns="0">
            <a:spAutoFit/>
          </a:bodyPr>
          <a:lstStyle/>
          <a:p>
            <a:pPr algn="l">
              <a:lnSpc>
                <a:spcPts val="2351"/>
              </a:lnSpc>
            </a:pPr>
            <a:r>
              <a:rPr lang="en-US" sz="1399">
                <a:solidFill>
                  <a:srgbClr val="292929"/>
                </a:solidFill>
                <a:latin typeface="Inter"/>
                <a:ea typeface="Inter"/>
                <a:cs typeface="Inter"/>
                <a:sym typeface="Inter"/>
              </a:rPr>
              <a:t>We supp</a:t>
            </a:r>
            <a:r>
              <a:rPr lang="en-US" sz="1399">
                <a:solidFill>
                  <a:srgbClr val="292929"/>
                </a:solidFill>
                <a:latin typeface="Inter"/>
                <a:ea typeface="Inter"/>
                <a:cs typeface="Inter"/>
                <a:sym typeface="Inter"/>
              </a:rPr>
              <a:t>ort educational institutions, NGOs, and development agencies with ICT and assistive technology solutions that enhance learning, promote inclusion, and build digital capacity</a:t>
            </a:r>
          </a:p>
        </p:txBody>
      </p:sp>
      <p:sp>
        <p:nvSpPr>
          <p:cNvPr name="TextBox 22" id="22"/>
          <p:cNvSpPr txBox="true"/>
          <p:nvPr/>
        </p:nvSpPr>
        <p:spPr>
          <a:xfrm rot="0">
            <a:off x="978908" y="5399282"/>
            <a:ext cx="3035400" cy="872109"/>
          </a:xfrm>
          <a:prstGeom prst="rect">
            <a:avLst/>
          </a:prstGeom>
        </p:spPr>
        <p:txBody>
          <a:bodyPr anchor="t" rtlCol="false" tIns="0" lIns="0" bIns="0" rIns="0">
            <a:spAutoFit/>
          </a:bodyPr>
          <a:lstStyle/>
          <a:p>
            <a:pPr algn="l">
              <a:lnSpc>
                <a:spcPts val="3528"/>
              </a:lnSpc>
            </a:pPr>
            <a:r>
              <a:rPr lang="en-US" b="true" sz="2100">
                <a:solidFill>
                  <a:srgbClr val="292929"/>
                </a:solidFill>
                <a:latin typeface="Inter Bold"/>
                <a:ea typeface="Inter Bold"/>
                <a:cs typeface="Inter Bold"/>
                <a:sym typeface="Inter Bold"/>
              </a:rPr>
              <a:t>Bus</a:t>
            </a:r>
            <a:r>
              <a:rPr lang="en-US" b="true" sz="2100">
                <a:solidFill>
                  <a:srgbClr val="292929"/>
                </a:solidFill>
                <a:latin typeface="Inter Bold"/>
                <a:ea typeface="Inter Bold"/>
                <a:cs typeface="Inter Bold"/>
                <a:sym typeface="Inter Bold"/>
              </a:rPr>
              <a:t>iness &amp; Personal Technology Solutions</a:t>
            </a:r>
          </a:p>
        </p:txBody>
      </p:sp>
      <p:sp>
        <p:nvSpPr>
          <p:cNvPr name="TextBox 23" id="23"/>
          <p:cNvSpPr txBox="true"/>
          <p:nvPr/>
        </p:nvSpPr>
        <p:spPr>
          <a:xfrm rot="0">
            <a:off x="6671905" y="5399282"/>
            <a:ext cx="2920800" cy="872109"/>
          </a:xfrm>
          <a:prstGeom prst="rect">
            <a:avLst/>
          </a:prstGeom>
        </p:spPr>
        <p:txBody>
          <a:bodyPr anchor="t" rtlCol="false" tIns="0" lIns="0" bIns="0" rIns="0">
            <a:spAutoFit/>
          </a:bodyPr>
          <a:lstStyle/>
          <a:p>
            <a:pPr algn="l">
              <a:lnSpc>
                <a:spcPts val="3528"/>
              </a:lnSpc>
            </a:pPr>
            <a:r>
              <a:rPr lang="en-US" b="true" sz="2100">
                <a:solidFill>
                  <a:srgbClr val="292929"/>
                </a:solidFill>
                <a:latin typeface="Inter Bold"/>
                <a:ea typeface="Inter Bold"/>
                <a:cs typeface="Inter Bold"/>
                <a:sym typeface="Inter Bold"/>
              </a:rPr>
              <a:t>Ed</a:t>
            </a:r>
            <a:r>
              <a:rPr lang="en-US" b="true" sz="2100">
                <a:solidFill>
                  <a:srgbClr val="292929"/>
                </a:solidFill>
                <a:latin typeface="Inter Bold"/>
                <a:ea typeface="Inter Bold"/>
                <a:cs typeface="Inter Bold"/>
                <a:sym typeface="Inter Bold"/>
              </a:rPr>
              <a:t>ucational &amp; Social Impact Sector</a:t>
            </a:r>
          </a:p>
        </p:txBody>
      </p:sp>
      <p:sp>
        <p:nvSpPr>
          <p:cNvPr name="TextBox 24" id="24"/>
          <p:cNvSpPr txBox="true"/>
          <p:nvPr/>
        </p:nvSpPr>
        <p:spPr>
          <a:xfrm rot="0">
            <a:off x="677607" y="9518121"/>
            <a:ext cx="419288" cy="274320"/>
          </a:xfrm>
          <a:prstGeom prst="rect">
            <a:avLst/>
          </a:prstGeom>
        </p:spPr>
        <p:txBody>
          <a:bodyPr anchor="t" rtlCol="false" tIns="0" lIns="0" bIns="0" rIns="0">
            <a:spAutoFit/>
          </a:bodyPr>
          <a:lstStyle/>
          <a:p>
            <a:pPr algn="just">
              <a:lnSpc>
                <a:spcPts val="2014"/>
              </a:lnSpc>
            </a:pPr>
            <a:r>
              <a:rPr lang="en-US" sz="1200">
                <a:solidFill>
                  <a:srgbClr val="FFFFFF"/>
                </a:solidFill>
                <a:latin typeface="Inter Light"/>
                <a:ea typeface="Inter Light"/>
                <a:cs typeface="Inter Light"/>
                <a:sym typeface="Inter Light"/>
              </a:rPr>
              <a:t>14</a:t>
            </a:r>
          </a:p>
        </p:txBody>
      </p:sp>
      <p:sp>
        <p:nvSpPr>
          <p:cNvPr name="TextBox 25" id="25"/>
          <p:cNvSpPr txBox="true"/>
          <p:nvPr/>
        </p:nvSpPr>
        <p:spPr>
          <a:xfrm rot="0">
            <a:off x="1228783" y="590519"/>
            <a:ext cx="2576737"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pic>
        <p:nvPicPr>
          <p:cNvPr name="Picture 26" id="26"/>
          <p:cNvPicPr>
            <a:picLocks noChangeAspect="true"/>
          </p:cNvPicPr>
          <p:nvPr/>
        </p:nvPicPr>
        <p:blipFill>
          <a:blip r:embed="rId20"/>
          <a:stretch>
            <a:fillRect/>
          </a:stretch>
        </p:blipFill>
        <p:spPr>
          <a:xfrm rot="0">
            <a:off x="787593" y="6226727"/>
            <a:ext cx="3711622" cy="1046621"/>
          </a:xfrm>
          <a:prstGeom prst="rect">
            <a:avLst/>
          </a:prstGeom>
        </p:spPr>
      </p:pic>
      <p:pic>
        <p:nvPicPr>
          <p:cNvPr name="Picture 27" id="27"/>
          <p:cNvPicPr>
            <a:picLocks noChangeAspect="true"/>
          </p:cNvPicPr>
          <p:nvPr/>
        </p:nvPicPr>
        <p:blipFill>
          <a:blip r:embed="rId21"/>
          <a:stretch>
            <a:fillRect/>
          </a:stretch>
        </p:blipFill>
        <p:spPr>
          <a:xfrm rot="0">
            <a:off x="6379825" y="6243949"/>
            <a:ext cx="3504960" cy="987948"/>
          </a:xfrm>
          <a:prstGeom prst="rect">
            <a:avLst/>
          </a:prstGeom>
        </p:spPr>
      </p:pic>
      <p:sp>
        <p:nvSpPr>
          <p:cNvPr name="TextBox 28" id="28"/>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
        <p:nvSpPr>
          <p:cNvPr name="Freeform 29" id="29"/>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22"/>
            <a:stretch>
              <a:fillRect l="0" t="0" r="0" b="0"/>
            </a:stretch>
          </a:blipFill>
        </p:spPr>
      </p:sp>
    </p:spTree>
  </p:cSld>
  <p:clrMapOvr>
    <a:masterClrMapping/>
  </p:clrMapOvr>
  <p:transition spd="slow">
    <p:push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Freeform 3" id="3"/>
          <p:cNvSpPr/>
          <p:nvPr/>
        </p:nvSpPr>
        <p:spPr>
          <a:xfrm flipH="false" flipV="false" rot="0">
            <a:off x="677607" y="5707148"/>
            <a:ext cx="5069488" cy="3195647"/>
          </a:xfrm>
          <a:custGeom>
            <a:avLst/>
            <a:gdLst/>
            <a:ahLst/>
            <a:cxnLst/>
            <a:rect r="r" b="b" t="t" l="l"/>
            <a:pathLst>
              <a:path h="3195647" w="5069488">
                <a:moveTo>
                  <a:pt x="0" y="0"/>
                </a:moveTo>
                <a:lnTo>
                  <a:pt x="5069488" y="0"/>
                </a:lnTo>
                <a:lnTo>
                  <a:pt x="5069488" y="3195647"/>
                </a:lnTo>
                <a:lnTo>
                  <a:pt x="0" y="31956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677607" y="1563163"/>
            <a:ext cx="9978885" cy="2858262"/>
          </a:xfrm>
          <a:prstGeom prst="rect">
            <a:avLst/>
          </a:prstGeom>
        </p:spPr>
        <p:txBody>
          <a:bodyPr anchor="t" rtlCol="false" tIns="0" lIns="0" bIns="0" rIns="0">
            <a:spAutoFit/>
          </a:bodyPr>
          <a:lstStyle/>
          <a:p>
            <a:pPr algn="l">
              <a:lnSpc>
                <a:spcPts val="11454"/>
              </a:lnSpc>
            </a:pPr>
            <a:r>
              <a:rPr lang="en-US" b="true" sz="8300">
                <a:solidFill>
                  <a:srgbClr val="FFFFFF"/>
                </a:solidFill>
                <a:latin typeface="Inter Bold"/>
                <a:ea typeface="Inter Bold"/>
                <a:cs typeface="Inter Bold"/>
                <a:sym typeface="Inter Bold"/>
              </a:rPr>
              <a:t>MARKET </a:t>
            </a:r>
          </a:p>
          <a:p>
            <a:pPr algn="l">
              <a:lnSpc>
                <a:spcPts val="11454"/>
              </a:lnSpc>
            </a:pPr>
            <a:r>
              <a:rPr lang="en-US" b="true" sz="8300">
                <a:solidFill>
                  <a:srgbClr val="FFFFFF"/>
                </a:solidFill>
                <a:latin typeface="Inter Bold"/>
                <a:ea typeface="Inter Bold"/>
                <a:cs typeface="Inter Bold"/>
                <a:sym typeface="Inter Bold"/>
              </a:rPr>
              <a:t>AFFIRMATION</a:t>
            </a:r>
          </a:p>
        </p:txBody>
      </p:sp>
      <p:sp>
        <p:nvSpPr>
          <p:cNvPr name="TextBox 5" id="5"/>
          <p:cNvSpPr txBox="true"/>
          <p:nvPr/>
        </p:nvSpPr>
        <p:spPr>
          <a:xfrm rot="0">
            <a:off x="10656492" y="7646398"/>
            <a:ext cx="2568953" cy="801630"/>
          </a:xfrm>
          <a:prstGeom prst="rect">
            <a:avLst/>
          </a:prstGeom>
        </p:spPr>
        <p:txBody>
          <a:bodyPr anchor="t" rtlCol="false" tIns="0" lIns="0" bIns="0" rIns="0">
            <a:spAutoFit/>
          </a:bodyPr>
          <a:lstStyle/>
          <a:p>
            <a:pPr algn="l">
              <a:lnSpc>
                <a:spcPts val="6782"/>
              </a:lnSpc>
            </a:pPr>
            <a:r>
              <a:rPr lang="en-US" b="true" sz="4036">
                <a:solidFill>
                  <a:srgbClr val="FFFFFF"/>
                </a:solidFill>
                <a:latin typeface="Inter Bold"/>
                <a:ea typeface="Inter Bold"/>
                <a:cs typeface="Inter Bold"/>
                <a:sym typeface="Inter Bold"/>
              </a:rPr>
              <a:t>1240+</a:t>
            </a:r>
          </a:p>
        </p:txBody>
      </p:sp>
      <p:sp>
        <p:nvSpPr>
          <p:cNvPr name="TextBox 6" id="6"/>
          <p:cNvSpPr txBox="true"/>
          <p:nvPr/>
        </p:nvSpPr>
        <p:spPr>
          <a:xfrm rot="0">
            <a:off x="10656492" y="8510365"/>
            <a:ext cx="3188077" cy="356937"/>
          </a:xfrm>
          <a:prstGeom prst="rect">
            <a:avLst/>
          </a:prstGeom>
        </p:spPr>
        <p:txBody>
          <a:bodyPr anchor="t" rtlCol="false" tIns="0" lIns="0" bIns="0" rIns="0">
            <a:spAutoFit/>
          </a:bodyPr>
          <a:lstStyle/>
          <a:p>
            <a:pPr algn="l">
              <a:lnSpc>
                <a:spcPts val="3024"/>
              </a:lnSpc>
            </a:pPr>
            <a:r>
              <a:rPr lang="en-US" sz="1800">
                <a:solidFill>
                  <a:srgbClr val="FFFFFF"/>
                </a:solidFill>
                <a:latin typeface="Inter"/>
                <a:ea typeface="Inter"/>
                <a:cs typeface="Inter"/>
                <a:sym typeface="Inter"/>
              </a:rPr>
              <a:t>Pr</a:t>
            </a:r>
            <a:r>
              <a:rPr lang="en-US" sz="1800">
                <a:solidFill>
                  <a:srgbClr val="FFFFFF"/>
                </a:solidFill>
                <a:latin typeface="Inter"/>
                <a:ea typeface="Inter"/>
                <a:cs typeface="Inter"/>
                <a:sym typeface="Inter"/>
              </a:rPr>
              <a:t>ojects Delivered to Date</a:t>
            </a:r>
          </a:p>
        </p:txBody>
      </p:sp>
      <p:sp>
        <p:nvSpPr>
          <p:cNvPr name="TextBox 7" id="7"/>
          <p:cNvSpPr txBox="true"/>
          <p:nvPr/>
        </p:nvSpPr>
        <p:spPr>
          <a:xfrm rot="0">
            <a:off x="10656492" y="7383861"/>
            <a:ext cx="1954200" cy="276553"/>
          </a:xfrm>
          <a:prstGeom prst="rect">
            <a:avLst/>
          </a:prstGeom>
        </p:spPr>
        <p:txBody>
          <a:bodyPr anchor="t" rtlCol="false" tIns="0" lIns="0" bIns="0" rIns="0">
            <a:spAutoFit/>
          </a:bodyPr>
          <a:lstStyle/>
          <a:p>
            <a:pPr algn="l">
              <a:lnSpc>
                <a:spcPts val="2352"/>
              </a:lnSpc>
            </a:pPr>
            <a:r>
              <a:rPr lang="en-US" sz="1399">
                <a:solidFill>
                  <a:srgbClr val="FFFFFF"/>
                </a:solidFill>
                <a:latin typeface="Inter"/>
                <a:ea typeface="Inter"/>
                <a:cs typeface="Inter"/>
                <a:sym typeface="Inter"/>
              </a:rPr>
              <a:t>Otr</a:t>
            </a:r>
            <a:r>
              <a:rPr lang="en-US" sz="1399">
                <a:solidFill>
                  <a:srgbClr val="FFFFFF"/>
                </a:solidFill>
                <a:latin typeface="Inter"/>
                <a:ea typeface="Inter"/>
                <a:cs typeface="Inter"/>
                <a:sym typeface="Inter"/>
              </a:rPr>
              <a:t>ava Technologies</a:t>
            </a:r>
          </a:p>
        </p:txBody>
      </p:sp>
      <p:sp>
        <p:nvSpPr>
          <p:cNvPr name="TextBox 8" id="8"/>
          <p:cNvSpPr txBox="true"/>
          <p:nvPr/>
        </p:nvSpPr>
        <p:spPr>
          <a:xfrm rot="0">
            <a:off x="13844569" y="7646398"/>
            <a:ext cx="2401808" cy="801630"/>
          </a:xfrm>
          <a:prstGeom prst="rect">
            <a:avLst/>
          </a:prstGeom>
        </p:spPr>
        <p:txBody>
          <a:bodyPr anchor="t" rtlCol="false" tIns="0" lIns="0" bIns="0" rIns="0">
            <a:spAutoFit/>
          </a:bodyPr>
          <a:lstStyle/>
          <a:p>
            <a:pPr algn="l">
              <a:lnSpc>
                <a:spcPts val="6782"/>
              </a:lnSpc>
            </a:pPr>
            <a:r>
              <a:rPr lang="en-US" b="true" sz="4036">
                <a:solidFill>
                  <a:srgbClr val="FFFFFF"/>
                </a:solidFill>
                <a:latin typeface="Inter Bold"/>
                <a:ea typeface="Inter Bold"/>
                <a:cs typeface="Inter Bold"/>
                <a:sym typeface="Inter Bold"/>
              </a:rPr>
              <a:t>745+</a:t>
            </a:r>
          </a:p>
        </p:txBody>
      </p:sp>
      <p:sp>
        <p:nvSpPr>
          <p:cNvPr name="TextBox 9" id="9"/>
          <p:cNvSpPr txBox="true"/>
          <p:nvPr/>
        </p:nvSpPr>
        <p:spPr>
          <a:xfrm rot="0">
            <a:off x="13844569" y="8510365"/>
            <a:ext cx="3414731" cy="356937"/>
          </a:xfrm>
          <a:prstGeom prst="rect">
            <a:avLst/>
          </a:prstGeom>
        </p:spPr>
        <p:txBody>
          <a:bodyPr anchor="t" rtlCol="false" tIns="0" lIns="0" bIns="0" rIns="0">
            <a:spAutoFit/>
          </a:bodyPr>
          <a:lstStyle/>
          <a:p>
            <a:pPr algn="l">
              <a:lnSpc>
                <a:spcPts val="3024"/>
              </a:lnSpc>
            </a:pPr>
            <a:r>
              <a:rPr lang="en-US" sz="1800">
                <a:solidFill>
                  <a:srgbClr val="FFFFFF"/>
                </a:solidFill>
                <a:latin typeface="Inter"/>
                <a:ea typeface="Inter"/>
                <a:cs typeface="Inter"/>
                <a:sym typeface="Inter"/>
              </a:rPr>
              <a:t>Re</a:t>
            </a:r>
            <a:r>
              <a:rPr lang="en-US" sz="1800">
                <a:solidFill>
                  <a:srgbClr val="FFFFFF"/>
                </a:solidFill>
                <a:latin typeface="Inter"/>
                <a:ea typeface="Inter"/>
                <a:cs typeface="Inter"/>
                <a:sym typeface="Inter"/>
              </a:rPr>
              <a:t>turning Clients &amp; Referrals</a:t>
            </a:r>
          </a:p>
        </p:txBody>
      </p:sp>
      <p:sp>
        <p:nvSpPr>
          <p:cNvPr name="TextBox 10" id="10"/>
          <p:cNvSpPr txBox="true"/>
          <p:nvPr/>
        </p:nvSpPr>
        <p:spPr>
          <a:xfrm rot="0">
            <a:off x="13844569" y="7383861"/>
            <a:ext cx="1954200" cy="276553"/>
          </a:xfrm>
          <a:prstGeom prst="rect">
            <a:avLst/>
          </a:prstGeom>
        </p:spPr>
        <p:txBody>
          <a:bodyPr anchor="t" rtlCol="false" tIns="0" lIns="0" bIns="0" rIns="0">
            <a:spAutoFit/>
          </a:bodyPr>
          <a:lstStyle/>
          <a:p>
            <a:pPr algn="l">
              <a:lnSpc>
                <a:spcPts val="2352"/>
              </a:lnSpc>
            </a:pPr>
            <a:r>
              <a:rPr lang="en-US" sz="1399">
                <a:solidFill>
                  <a:srgbClr val="FFFFFF"/>
                </a:solidFill>
                <a:latin typeface="Inter"/>
                <a:ea typeface="Inter"/>
                <a:cs typeface="Inter"/>
                <a:sym typeface="Inter"/>
              </a:rPr>
              <a:t>Otrava </a:t>
            </a:r>
            <a:r>
              <a:rPr lang="en-US" sz="1399">
                <a:solidFill>
                  <a:srgbClr val="FFFFFF"/>
                </a:solidFill>
                <a:latin typeface="Inter"/>
                <a:ea typeface="Inter"/>
                <a:cs typeface="Inter"/>
                <a:sym typeface="Inter"/>
              </a:rPr>
              <a:t>Technologies</a:t>
            </a:r>
          </a:p>
        </p:txBody>
      </p:sp>
      <p:grpSp>
        <p:nvGrpSpPr>
          <p:cNvPr name="Group 11" id="11"/>
          <p:cNvGrpSpPr/>
          <p:nvPr/>
        </p:nvGrpSpPr>
        <p:grpSpPr>
          <a:xfrm rot="0">
            <a:off x="10656492" y="1667938"/>
            <a:ext cx="6371983" cy="4973785"/>
            <a:chOff x="0" y="0"/>
            <a:chExt cx="8495977" cy="6631713"/>
          </a:xfrm>
        </p:grpSpPr>
        <p:sp>
          <p:nvSpPr>
            <p:cNvPr name="Freeform 12" id="12"/>
            <p:cNvSpPr/>
            <p:nvPr/>
          </p:nvSpPr>
          <p:spPr>
            <a:xfrm flipH="false" flipV="false" rot="0">
              <a:off x="0" y="0"/>
              <a:ext cx="8496046" cy="6631813"/>
            </a:xfrm>
            <a:custGeom>
              <a:avLst/>
              <a:gdLst/>
              <a:ahLst/>
              <a:cxnLst/>
              <a:rect r="r" b="b" t="t" l="l"/>
              <a:pathLst>
                <a:path h="6631813" w="8496046">
                  <a:moveTo>
                    <a:pt x="305943" y="0"/>
                  </a:moveTo>
                  <a:lnTo>
                    <a:pt x="8189976" y="0"/>
                  </a:lnTo>
                  <a:cubicBezTo>
                    <a:pt x="8271129" y="0"/>
                    <a:pt x="8348980" y="32258"/>
                    <a:pt x="8406384" y="89662"/>
                  </a:cubicBezTo>
                  <a:cubicBezTo>
                    <a:pt x="8463788" y="147066"/>
                    <a:pt x="8496046" y="224917"/>
                    <a:pt x="8496046" y="306070"/>
                  </a:cubicBezTo>
                  <a:lnTo>
                    <a:pt x="8496046" y="6325743"/>
                  </a:lnTo>
                  <a:cubicBezTo>
                    <a:pt x="8496046" y="6406896"/>
                    <a:pt x="8463788" y="6484747"/>
                    <a:pt x="8406384" y="6542151"/>
                  </a:cubicBezTo>
                  <a:cubicBezTo>
                    <a:pt x="8348980" y="6599555"/>
                    <a:pt x="8271129" y="6631813"/>
                    <a:pt x="8189976" y="6631813"/>
                  </a:cubicBezTo>
                  <a:lnTo>
                    <a:pt x="305943" y="6631813"/>
                  </a:lnTo>
                  <a:cubicBezTo>
                    <a:pt x="224790" y="6631813"/>
                    <a:pt x="146939" y="6599555"/>
                    <a:pt x="89535" y="6542151"/>
                  </a:cubicBezTo>
                  <a:cubicBezTo>
                    <a:pt x="32131" y="6484747"/>
                    <a:pt x="0" y="6406896"/>
                    <a:pt x="0" y="6325743"/>
                  </a:cubicBezTo>
                  <a:lnTo>
                    <a:pt x="0" y="305943"/>
                  </a:lnTo>
                  <a:cubicBezTo>
                    <a:pt x="0" y="224790"/>
                    <a:pt x="32258" y="147066"/>
                    <a:pt x="89662" y="89662"/>
                  </a:cubicBezTo>
                  <a:cubicBezTo>
                    <a:pt x="147066" y="32258"/>
                    <a:pt x="224790" y="0"/>
                    <a:pt x="305943" y="0"/>
                  </a:cubicBezTo>
                  <a:close/>
                </a:path>
              </a:pathLst>
            </a:custGeom>
            <a:blipFill>
              <a:blip r:embed="rId5"/>
              <a:stretch>
                <a:fillRect l="-8649" t="0" r="-8649" b="0"/>
              </a:stretch>
            </a:blipFill>
          </p:spPr>
        </p:sp>
      </p:grpSp>
      <p:sp>
        <p:nvSpPr>
          <p:cNvPr name="TextBox 13" id="13"/>
          <p:cNvSpPr txBox="true"/>
          <p:nvPr/>
        </p:nvSpPr>
        <p:spPr>
          <a:xfrm rot="0">
            <a:off x="1028700" y="6879563"/>
            <a:ext cx="4407600" cy="1752744"/>
          </a:xfrm>
          <a:prstGeom prst="rect">
            <a:avLst/>
          </a:prstGeom>
        </p:spPr>
        <p:txBody>
          <a:bodyPr anchor="t" rtlCol="false" tIns="0" lIns="0" bIns="0" rIns="0">
            <a:spAutoFit/>
          </a:bodyPr>
          <a:lstStyle/>
          <a:p>
            <a:pPr algn="l">
              <a:lnSpc>
                <a:spcPts val="2353"/>
              </a:lnSpc>
            </a:pPr>
            <a:r>
              <a:rPr lang="en-US" sz="1399">
                <a:solidFill>
                  <a:srgbClr val="292929"/>
                </a:solidFill>
                <a:latin typeface="Inter"/>
                <a:ea typeface="Inter"/>
                <a:cs typeface="Inter"/>
                <a:sym typeface="Inter"/>
              </a:rPr>
              <a:t>Since launching in 2024, Ot</a:t>
            </a:r>
            <a:r>
              <a:rPr lang="en-US" sz="1399">
                <a:solidFill>
                  <a:srgbClr val="292929"/>
                </a:solidFill>
                <a:latin typeface="Inter"/>
                <a:ea typeface="Inter"/>
                <a:cs typeface="Inter"/>
                <a:sym typeface="Inter"/>
              </a:rPr>
              <a:t>rava Technologies has completed over 4,200 projects with a high repeat client rate, reflecting strong market acceptance. Our success mirrors Zambia’s expanding ICT landscape, confirming solid demand for our innovative technology services.</a:t>
            </a:r>
          </a:p>
        </p:txBody>
      </p:sp>
      <p:sp>
        <p:nvSpPr>
          <p:cNvPr name="TextBox 14" id="14"/>
          <p:cNvSpPr txBox="true"/>
          <p:nvPr/>
        </p:nvSpPr>
        <p:spPr>
          <a:xfrm rot="0">
            <a:off x="1008555" y="6061861"/>
            <a:ext cx="3751313" cy="770001"/>
          </a:xfrm>
          <a:prstGeom prst="rect">
            <a:avLst/>
          </a:prstGeom>
        </p:spPr>
        <p:txBody>
          <a:bodyPr anchor="t" rtlCol="false" tIns="0" lIns="0" bIns="0" rIns="0">
            <a:spAutoFit/>
          </a:bodyPr>
          <a:lstStyle/>
          <a:p>
            <a:pPr algn="l">
              <a:lnSpc>
                <a:spcPts val="3190"/>
              </a:lnSpc>
            </a:pPr>
            <a:r>
              <a:rPr lang="en-US" b="true" sz="1899">
                <a:solidFill>
                  <a:srgbClr val="292929"/>
                </a:solidFill>
                <a:latin typeface="Inter Bold"/>
                <a:ea typeface="Inter Bold"/>
                <a:cs typeface="Inter Bold"/>
                <a:sym typeface="Inter Bold"/>
              </a:rPr>
              <a:t>P</a:t>
            </a:r>
            <a:r>
              <a:rPr lang="en-US" b="true" sz="1899">
                <a:solidFill>
                  <a:srgbClr val="292929"/>
                </a:solidFill>
                <a:latin typeface="Inter Bold"/>
                <a:ea typeface="Inter Bold"/>
                <a:cs typeface="Inter Bold"/>
                <a:sym typeface="Inter Bold"/>
              </a:rPr>
              <a:t>roven Growth and Industry Alignment</a:t>
            </a:r>
          </a:p>
        </p:txBody>
      </p:sp>
      <p:sp>
        <p:nvSpPr>
          <p:cNvPr name="Freeform 15" id="15"/>
          <p:cNvSpPr/>
          <p:nvPr/>
        </p:nvSpPr>
        <p:spPr>
          <a:xfrm flipH="false" flipV="false" rot="0">
            <a:off x="4933119" y="6185686"/>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5071882" y="6324449"/>
            <a:ext cx="205502" cy="205502"/>
            <a:chOff x="0" y="0"/>
            <a:chExt cx="274003" cy="274003"/>
          </a:xfrm>
        </p:grpSpPr>
        <p:sp>
          <p:nvSpPr>
            <p:cNvPr name="Freeform 17" id="17"/>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8"/>
              <a:stretch>
                <a:fillRect l="0" t="0" r="23" b="23"/>
              </a:stretch>
            </a:blipFill>
          </p:spPr>
        </p:sp>
      </p:grpSp>
      <p:sp>
        <p:nvSpPr>
          <p:cNvPr name="Freeform 18" id="18"/>
          <p:cNvSpPr/>
          <p:nvPr/>
        </p:nvSpPr>
        <p:spPr>
          <a:xfrm flipH="false" flipV="false" rot="0">
            <a:off x="17638388" y="1342451"/>
            <a:ext cx="1299225" cy="1806314"/>
          </a:xfrm>
          <a:custGeom>
            <a:avLst/>
            <a:gdLst/>
            <a:ahLst/>
            <a:cxnLst/>
            <a:rect r="r" b="b" t="t" l="l"/>
            <a:pathLst>
              <a:path h="1806314" w="1299225">
                <a:moveTo>
                  <a:pt x="0" y="0"/>
                </a:moveTo>
                <a:lnTo>
                  <a:pt x="1299225" y="0"/>
                </a:lnTo>
                <a:lnTo>
                  <a:pt x="1299225" y="1806314"/>
                </a:lnTo>
                <a:lnTo>
                  <a:pt x="0" y="180631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17638388" y="3318950"/>
            <a:ext cx="1299225" cy="3322773"/>
          </a:xfrm>
          <a:custGeom>
            <a:avLst/>
            <a:gdLst/>
            <a:ahLst/>
            <a:cxnLst/>
            <a:rect r="r" b="b" t="t" l="l"/>
            <a:pathLst>
              <a:path h="3322773" w="1299225">
                <a:moveTo>
                  <a:pt x="0" y="0"/>
                </a:moveTo>
                <a:lnTo>
                  <a:pt x="1299225" y="0"/>
                </a:lnTo>
                <a:lnTo>
                  <a:pt x="1299225" y="3322773"/>
                </a:lnTo>
                <a:lnTo>
                  <a:pt x="0" y="332277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0" id="20"/>
          <p:cNvSpPr/>
          <p:nvPr/>
        </p:nvSpPr>
        <p:spPr>
          <a:xfrm flipH="false" flipV="false" rot="0">
            <a:off x="6306297" y="5721522"/>
            <a:ext cx="2118724" cy="3181273"/>
          </a:xfrm>
          <a:custGeom>
            <a:avLst/>
            <a:gdLst/>
            <a:ahLst/>
            <a:cxnLst/>
            <a:rect r="r" b="b" t="t" l="l"/>
            <a:pathLst>
              <a:path h="3181273" w="2118724">
                <a:moveTo>
                  <a:pt x="0" y="0"/>
                </a:moveTo>
                <a:lnTo>
                  <a:pt x="2118724" y="0"/>
                </a:lnTo>
                <a:lnTo>
                  <a:pt x="2118724" y="3181273"/>
                </a:lnTo>
                <a:lnTo>
                  <a:pt x="0" y="318127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1" id="21"/>
          <p:cNvGrpSpPr/>
          <p:nvPr/>
        </p:nvGrpSpPr>
        <p:grpSpPr>
          <a:xfrm rot="-5400000">
            <a:off x="7532973" y="7946093"/>
            <a:ext cx="845589" cy="424506"/>
            <a:chOff x="0" y="0"/>
            <a:chExt cx="1127452" cy="566008"/>
          </a:xfrm>
        </p:grpSpPr>
        <p:sp>
          <p:nvSpPr>
            <p:cNvPr name="Freeform 22" id="22"/>
            <p:cNvSpPr/>
            <p:nvPr/>
          </p:nvSpPr>
          <p:spPr>
            <a:xfrm flipH="false" flipV="false" rot="0">
              <a:off x="0" y="0"/>
              <a:ext cx="1127506" cy="566039"/>
            </a:xfrm>
            <a:custGeom>
              <a:avLst/>
              <a:gdLst/>
              <a:ahLst/>
              <a:cxnLst/>
              <a:rect r="r" b="b" t="t" l="l"/>
              <a:pathLst>
                <a:path h="566039" w="1127506">
                  <a:moveTo>
                    <a:pt x="0" y="0"/>
                  </a:moveTo>
                  <a:lnTo>
                    <a:pt x="1127506" y="0"/>
                  </a:lnTo>
                  <a:lnTo>
                    <a:pt x="1127506" y="566039"/>
                  </a:lnTo>
                  <a:lnTo>
                    <a:pt x="0" y="566039"/>
                  </a:lnTo>
                  <a:lnTo>
                    <a:pt x="0" y="0"/>
                  </a:lnTo>
                  <a:close/>
                </a:path>
              </a:pathLst>
            </a:custGeom>
            <a:blipFill>
              <a:blip r:embed="rId15"/>
              <a:stretch>
                <a:fillRect l="0" t="-33" r="4" b="-28"/>
              </a:stretch>
            </a:blipFill>
          </p:spPr>
        </p:sp>
      </p:grpSp>
      <p:grpSp>
        <p:nvGrpSpPr>
          <p:cNvPr name="Group 23" id="23"/>
          <p:cNvGrpSpPr/>
          <p:nvPr/>
        </p:nvGrpSpPr>
        <p:grpSpPr>
          <a:xfrm rot="5400000">
            <a:off x="7743515" y="7311045"/>
            <a:ext cx="424506" cy="424506"/>
            <a:chOff x="0" y="0"/>
            <a:chExt cx="566008" cy="566008"/>
          </a:xfrm>
        </p:grpSpPr>
        <p:sp>
          <p:nvSpPr>
            <p:cNvPr name="Freeform 24" id="24"/>
            <p:cNvSpPr/>
            <p:nvPr/>
          </p:nvSpPr>
          <p:spPr>
            <a:xfrm flipH="false" flipV="false" rot="0">
              <a:off x="0" y="0"/>
              <a:ext cx="566039" cy="566039"/>
            </a:xfrm>
            <a:custGeom>
              <a:avLst/>
              <a:gdLst/>
              <a:ahLst/>
              <a:cxnLst/>
              <a:rect r="r" b="b" t="t" l="l"/>
              <a:pathLst>
                <a:path h="566039" w="566039">
                  <a:moveTo>
                    <a:pt x="0" y="0"/>
                  </a:moveTo>
                  <a:lnTo>
                    <a:pt x="566039" y="0"/>
                  </a:lnTo>
                  <a:lnTo>
                    <a:pt x="566039" y="566039"/>
                  </a:lnTo>
                  <a:lnTo>
                    <a:pt x="0" y="566039"/>
                  </a:lnTo>
                  <a:lnTo>
                    <a:pt x="0" y="0"/>
                  </a:lnTo>
                  <a:close/>
                </a:path>
              </a:pathLst>
            </a:custGeom>
            <a:blipFill>
              <a:blip r:embed="rId16"/>
              <a:stretch>
                <a:fillRect l="0" t="0" r="5" b="5"/>
              </a:stretch>
            </a:blipFill>
          </p:spPr>
        </p:sp>
      </p:grpSp>
      <p:sp>
        <p:nvSpPr>
          <p:cNvPr name="AutoShape 25" id="25"/>
          <p:cNvSpPr/>
          <p:nvPr/>
        </p:nvSpPr>
        <p:spPr>
          <a:xfrm rot="106606">
            <a:off x="6499462" y="7366221"/>
            <a:ext cx="921611" cy="0"/>
          </a:xfrm>
          <a:prstGeom prst="line">
            <a:avLst/>
          </a:prstGeom>
          <a:ln cap="rnd" w="19050">
            <a:solidFill>
              <a:srgbClr val="FFFFFF"/>
            </a:solidFill>
            <a:prstDash val="solid"/>
            <a:headEnd type="none" len="sm" w="sm"/>
            <a:tailEnd type="none" len="sm" w="sm"/>
          </a:ln>
        </p:spPr>
      </p:sp>
      <p:sp>
        <p:nvSpPr>
          <p:cNvPr name="TextBox 26" id="26"/>
          <p:cNvSpPr txBox="true"/>
          <p:nvPr/>
        </p:nvSpPr>
        <p:spPr>
          <a:xfrm rot="0">
            <a:off x="6505304" y="8151688"/>
            <a:ext cx="944540" cy="393345"/>
          </a:xfrm>
          <a:prstGeom prst="rect">
            <a:avLst/>
          </a:prstGeom>
        </p:spPr>
        <p:txBody>
          <a:bodyPr anchor="t" rtlCol="false" tIns="0" lIns="0" bIns="0" rIns="0">
            <a:spAutoFit/>
          </a:bodyPr>
          <a:lstStyle/>
          <a:p>
            <a:pPr algn="l">
              <a:lnSpc>
                <a:spcPts val="3333"/>
              </a:lnSpc>
            </a:pPr>
            <a:r>
              <a:rPr lang="en-US" b="true" sz="1984">
                <a:solidFill>
                  <a:srgbClr val="FFFFFF"/>
                </a:solidFill>
                <a:latin typeface="Inter Bold"/>
                <a:ea typeface="Inter Bold"/>
                <a:cs typeface="Inter Bold"/>
                <a:sym typeface="Inter Bold"/>
              </a:rPr>
              <a:t>2024</a:t>
            </a:r>
          </a:p>
        </p:txBody>
      </p:sp>
      <p:sp>
        <p:nvSpPr>
          <p:cNvPr name="TextBox 27" id="27"/>
          <p:cNvSpPr txBox="true"/>
          <p:nvPr/>
        </p:nvSpPr>
        <p:spPr>
          <a:xfrm rot="0">
            <a:off x="6505304" y="7611019"/>
            <a:ext cx="1022025" cy="528375"/>
          </a:xfrm>
          <a:prstGeom prst="rect">
            <a:avLst/>
          </a:prstGeom>
        </p:spPr>
        <p:txBody>
          <a:bodyPr anchor="t" rtlCol="false" tIns="0" lIns="0" bIns="0" rIns="0">
            <a:spAutoFit/>
          </a:bodyPr>
          <a:lstStyle/>
          <a:p>
            <a:pPr algn="l">
              <a:lnSpc>
                <a:spcPts val="2221"/>
              </a:lnSpc>
            </a:pPr>
            <a:r>
              <a:rPr lang="en-US" sz="1322">
                <a:solidFill>
                  <a:srgbClr val="FFFFFF"/>
                </a:solidFill>
                <a:latin typeface="Inter Light"/>
                <a:ea typeface="Inter Light"/>
                <a:cs typeface="Inter Light"/>
                <a:sym typeface="Inter Light"/>
              </a:rPr>
              <a:t>Established</a:t>
            </a:r>
          </a:p>
          <a:p>
            <a:pPr algn="l">
              <a:lnSpc>
                <a:spcPts val="2221"/>
              </a:lnSpc>
            </a:pPr>
            <a:r>
              <a:rPr lang="en-US" sz="1322">
                <a:solidFill>
                  <a:srgbClr val="FFFFFF"/>
                </a:solidFill>
                <a:latin typeface="Inter Light"/>
                <a:ea typeface="Inter Light"/>
                <a:cs typeface="Inter Light"/>
                <a:sym typeface="Inter Light"/>
              </a:rPr>
              <a:t>Since</a:t>
            </a:r>
          </a:p>
        </p:txBody>
      </p:sp>
      <p:sp>
        <p:nvSpPr>
          <p:cNvPr name="TextBox 28" id="28"/>
          <p:cNvSpPr txBox="true"/>
          <p:nvPr/>
        </p:nvSpPr>
        <p:spPr>
          <a:xfrm rot="0">
            <a:off x="677607" y="9518121"/>
            <a:ext cx="419288" cy="274320"/>
          </a:xfrm>
          <a:prstGeom prst="rect">
            <a:avLst/>
          </a:prstGeom>
        </p:spPr>
        <p:txBody>
          <a:bodyPr anchor="t" rtlCol="false" tIns="0" lIns="0" bIns="0" rIns="0">
            <a:spAutoFit/>
          </a:bodyPr>
          <a:lstStyle/>
          <a:p>
            <a:pPr algn="just">
              <a:lnSpc>
                <a:spcPts val="2014"/>
              </a:lnSpc>
            </a:pPr>
            <a:r>
              <a:rPr lang="en-US" sz="1200">
                <a:solidFill>
                  <a:srgbClr val="FFFFFF"/>
                </a:solidFill>
                <a:latin typeface="Inter Light"/>
                <a:ea typeface="Inter Light"/>
                <a:cs typeface="Inter Light"/>
                <a:sym typeface="Inter Light"/>
              </a:rPr>
              <a:t>15</a:t>
            </a:r>
          </a:p>
        </p:txBody>
      </p:sp>
      <p:sp>
        <p:nvSpPr>
          <p:cNvPr name="TextBox 29" id="29"/>
          <p:cNvSpPr txBox="true"/>
          <p:nvPr/>
        </p:nvSpPr>
        <p:spPr>
          <a:xfrm rot="0">
            <a:off x="1228783" y="590519"/>
            <a:ext cx="2576737"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TextBox 30" id="30"/>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
        <p:nvSpPr>
          <p:cNvPr name="TextBox 31" id="31"/>
          <p:cNvSpPr txBox="true"/>
          <p:nvPr/>
        </p:nvSpPr>
        <p:spPr>
          <a:xfrm rot="0">
            <a:off x="6493469" y="6121488"/>
            <a:ext cx="1744381" cy="1056354"/>
          </a:xfrm>
          <a:prstGeom prst="rect">
            <a:avLst/>
          </a:prstGeom>
        </p:spPr>
        <p:txBody>
          <a:bodyPr anchor="t" rtlCol="false" tIns="0" lIns="0" bIns="0" rIns="0">
            <a:spAutoFit/>
          </a:bodyPr>
          <a:lstStyle/>
          <a:p>
            <a:pPr algn="l">
              <a:lnSpc>
                <a:spcPts val="2882"/>
              </a:lnSpc>
            </a:pPr>
            <a:r>
              <a:rPr lang="en-US" sz="2001">
                <a:solidFill>
                  <a:srgbClr val="FFFFFF"/>
                </a:solidFill>
                <a:latin typeface="Ultra"/>
                <a:ea typeface="Ultra"/>
                <a:cs typeface="Ultra"/>
                <a:sym typeface="Ultra"/>
              </a:rPr>
              <a:t>INNOVATE. DE</a:t>
            </a:r>
            <a:r>
              <a:rPr lang="en-US" sz="2001">
                <a:solidFill>
                  <a:srgbClr val="FFFFFF"/>
                </a:solidFill>
                <a:latin typeface="Ultra"/>
                <a:ea typeface="Ultra"/>
                <a:cs typeface="Ultra"/>
                <a:sym typeface="Ultra"/>
              </a:rPr>
              <a:t>SIGN. EMPOWER</a:t>
            </a:r>
          </a:p>
        </p:txBody>
      </p:sp>
      <p:sp>
        <p:nvSpPr>
          <p:cNvPr name="Freeform 32" id="32"/>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17"/>
            <a:stretch>
              <a:fillRect l="0" t="0" r="0" b="0"/>
            </a:stretch>
          </a:blipFill>
        </p:spPr>
      </p:sp>
    </p:spTree>
  </p:cSld>
  <p:clrMapOvr>
    <a:masterClrMapping/>
  </p:clrMapOvr>
  <p:transition spd="slow">
    <p:push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TextBox 3" id="3"/>
          <p:cNvSpPr txBox="true"/>
          <p:nvPr/>
        </p:nvSpPr>
        <p:spPr>
          <a:xfrm rot="0">
            <a:off x="677607" y="2058989"/>
            <a:ext cx="7426500" cy="1430100"/>
          </a:xfrm>
          <a:prstGeom prst="rect">
            <a:avLst/>
          </a:prstGeom>
        </p:spPr>
        <p:txBody>
          <a:bodyPr anchor="t" rtlCol="false" tIns="0" lIns="0" bIns="0" rIns="0">
            <a:spAutoFit/>
          </a:bodyPr>
          <a:lstStyle/>
          <a:p>
            <a:pPr algn="l">
              <a:lnSpc>
                <a:spcPts val="11454"/>
              </a:lnSpc>
            </a:pPr>
            <a:r>
              <a:rPr lang="en-US" b="true" sz="8300">
                <a:solidFill>
                  <a:srgbClr val="FFFFFF"/>
                </a:solidFill>
                <a:latin typeface="Inter Bold"/>
                <a:ea typeface="Inter Bold"/>
                <a:cs typeface="Inter Bold"/>
                <a:sym typeface="Inter Bold"/>
              </a:rPr>
              <a:t>OUR TEAM</a:t>
            </a:r>
          </a:p>
        </p:txBody>
      </p:sp>
      <p:sp>
        <p:nvSpPr>
          <p:cNvPr name="TextBox 4" id="4"/>
          <p:cNvSpPr txBox="true"/>
          <p:nvPr/>
        </p:nvSpPr>
        <p:spPr>
          <a:xfrm rot="0">
            <a:off x="677607" y="4055099"/>
            <a:ext cx="7692000" cy="2642997"/>
          </a:xfrm>
          <a:prstGeom prst="rect">
            <a:avLst/>
          </a:prstGeom>
        </p:spPr>
        <p:txBody>
          <a:bodyPr anchor="t" rtlCol="false" tIns="0" lIns="0" bIns="0" rIns="0">
            <a:spAutoFit/>
          </a:bodyPr>
          <a:lstStyle/>
          <a:p>
            <a:pPr algn="l">
              <a:lnSpc>
                <a:spcPts val="3024"/>
              </a:lnSpc>
            </a:pPr>
            <a:r>
              <a:rPr lang="en-US" sz="1800">
                <a:solidFill>
                  <a:srgbClr val="FFFFFF"/>
                </a:solidFill>
                <a:latin typeface="Inter Light"/>
                <a:ea typeface="Inter Light"/>
                <a:cs typeface="Inter Light"/>
                <a:sym typeface="Inter Light"/>
              </a:rPr>
              <a:t>Ot</a:t>
            </a:r>
            <a:r>
              <a:rPr lang="en-US" sz="1800">
                <a:solidFill>
                  <a:srgbClr val="FFFFFF"/>
                </a:solidFill>
                <a:latin typeface="Inter Light"/>
                <a:ea typeface="Inter Light"/>
                <a:cs typeface="Inter Light"/>
                <a:sym typeface="Inter Light"/>
              </a:rPr>
              <a:t>rava Technologies operates under the leadership of its Founder &amp; Director, supported by a network of highly skilled subcontracted ICT professionals, designers, and trainers engaged for specific projects. This flexible model allows us to access top-tier expertise on demand, ensuring that every client receives the highest quality solutions tailored to their unique needs. We value innovation, precision, and results-driven service delivery.</a:t>
            </a:r>
          </a:p>
        </p:txBody>
      </p:sp>
      <p:sp>
        <p:nvSpPr>
          <p:cNvPr name="TextBox 5" id="5"/>
          <p:cNvSpPr txBox="true"/>
          <p:nvPr/>
        </p:nvSpPr>
        <p:spPr>
          <a:xfrm rot="0">
            <a:off x="10027110" y="7555798"/>
            <a:ext cx="7481100" cy="1162378"/>
          </a:xfrm>
          <a:prstGeom prst="rect">
            <a:avLst/>
          </a:prstGeom>
        </p:spPr>
        <p:txBody>
          <a:bodyPr anchor="t" rtlCol="false" tIns="0" lIns="0" bIns="0" rIns="0">
            <a:spAutoFit/>
          </a:bodyPr>
          <a:lstStyle/>
          <a:p>
            <a:pPr algn="l">
              <a:lnSpc>
                <a:spcPts val="2352"/>
              </a:lnSpc>
            </a:pPr>
            <a:r>
              <a:rPr lang="en-US" sz="1399">
                <a:solidFill>
                  <a:srgbClr val="FFFFFF"/>
                </a:solidFill>
                <a:latin typeface="Inter Light"/>
                <a:ea typeface="Inter Light"/>
                <a:cs typeface="Inter Light"/>
                <a:sym typeface="Inter Light"/>
              </a:rPr>
              <a:t>Ot</a:t>
            </a:r>
            <a:r>
              <a:rPr lang="en-US" sz="1399">
                <a:solidFill>
                  <a:srgbClr val="FFFFFF"/>
                </a:solidFill>
                <a:latin typeface="Inter Light"/>
                <a:ea typeface="Inter Light"/>
                <a:cs typeface="Inter Light"/>
                <a:sym typeface="Inter Light"/>
              </a:rPr>
              <a:t>rava Technologies fosters a culture of collaboration, respect, and inclusion. We prioritize the well-being and professional growth of our team, encouraging creativity, innovation, and a healthy work-life balance. This people-first approach ensures a positive, empowering, and productive environment that drives excellence in everything we do.</a:t>
            </a:r>
          </a:p>
        </p:txBody>
      </p:sp>
      <p:grpSp>
        <p:nvGrpSpPr>
          <p:cNvPr name="Group 6" id="6"/>
          <p:cNvGrpSpPr/>
          <p:nvPr/>
        </p:nvGrpSpPr>
        <p:grpSpPr>
          <a:xfrm rot="0">
            <a:off x="10027110" y="1804615"/>
            <a:ext cx="7583279" cy="4999564"/>
            <a:chOff x="0" y="0"/>
            <a:chExt cx="10111039" cy="6666085"/>
          </a:xfrm>
        </p:grpSpPr>
        <p:sp>
          <p:nvSpPr>
            <p:cNvPr name="Freeform 7" id="7"/>
            <p:cNvSpPr/>
            <p:nvPr/>
          </p:nvSpPr>
          <p:spPr>
            <a:xfrm flipH="false" flipV="false" rot="0">
              <a:off x="0" y="0"/>
              <a:ext cx="10110977" cy="6666103"/>
            </a:xfrm>
            <a:custGeom>
              <a:avLst/>
              <a:gdLst/>
              <a:ahLst/>
              <a:cxnLst/>
              <a:rect r="r" b="b" t="t" l="l"/>
              <a:pathLst>
                <a:path h="6666103" w="10110977">
                  <a:moveTo>
                    <a:pt x="205486" y="0"/>
                  </a:moveTo>
                  <a:lnTo>
                    <a:pt x="9905619" y="0"/>
                  </a:lnTo>
                  <a:cubicBezTo>
                    <a:pt x="10019030" y="0"/>
                    <a:pt x="10110977" y="91948"/>
                    <a:pt x="10110977" y="205486"/>
                  </a:cubicBezTo>
                  <a:lnTo>
                    <a:pt x="10110977" y="6460617"/>
                  </a:lnTo>
                  <a:cubicBezTo>
                    <a:pt x="10110977" y="6574028"/>
                    <a:pt x="10019030" y="6666103"/>
                    <a:pt x="9905619" y="6666103"/>
                  </a:cubicBezTo>
                  <a:lnTo>
                    <a:pt x="205486" y="6666103"/>
                  </a:lnTo>
                  <a:cubicBezTo>
                    <a:pt x="151003" y="6666103"/>
                    <a:pt x="98806" y="6644513"/>
                    <a:pt x="60198" y="6605905"/>
                  </a:cubicBezTo>
                  <a:cubicBezTo>
                    <a:pt x="21590" y="6567297"/>
                    <a:pt x="0" y="6515100"/>
                    <a:pt x="0" y="6460617"/>
                  </a:cubicBezTo>
                  <a:lnTo>
                    <a:pt x="0" y="205486"/>
                  </a:lnTo>
                  <a:cubicBezTo>
                    <a:pt x="0" y="91948"/>
                    <a:pt x="91948" y="0"/>
                    <a:pt x="205486" y="0"/>
                  </a:cubicBezTo>
                  <a:close/>
                </a:path>
              </a:pathLst>
            </a:custGeom>
            <a:blipFill>
              <a:blip r:embed="rId3"/>
              <a:stretch>
                <a:fillRect l="0" t="-467" r="0" b="-467"/>
              </a:stretch>
            </a:blipFill>
          </p:spPr>
        </p:sp>
      </p:grpSp>
      <p:sp>
        <p:nvSpPr>
          <p:cNvPr name="Freeform 8" id="8"/>
          <p:cNvSpPr/>
          <p:nvPr/>
        </p:nvSpPr>
        <p:spPr>
          <a:xfrm flipH="false" flipV="false" rot="0">
            <a:off x="677607" y="7058129"/>
            <a:ext cx="6290970" cy="1390478"/>
          </a:xfrm>
          <a:custGeom>
            <a:avLst/>
            <a:gdLst/>
            <a:ahLst/>
            <a:cxnLst/>
            <a:rect r="r" b="b" t="t" l="l"/>
            <a:pathLst>
              <a:path h="1390478" w="6290970">
                <a:moveTo>
                  <a:pt x="0" y="0"/>
                </a:moveTo>
                <a:lnTo>
                  <a:pt x="6290970" y="0"/>
                </a:lnTo>
                <a:lnTo>
                  <a:pt x="6290970" y="1390478"/>
                </a:lnTo>
                <a:lnTo>
                  <a:pt x="0" y="13904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096895" y="7340256"/>
            <a:ext cx="4183168" cy="894588"/>
          </a:xfrm>
          <a:prstGeom prst="rect">
            <a:avLst/>
          </a:prstGeom>
        </p:spPr>
        <p:txBody>
          <a:bodyPr anchor="t" rtlCol="false" tIns="0" lIns="0" bIns="0" rIns="0">
            <a:spAutoFit/>
          </a:bodyPr>
          <a:lstStyle/>
          <a:p>
            <a:pPr algn="l">
              <a:lnSpc>
                <a:spcPts val="3696"/>
              </a:lnSpc>
            </a:pPr>
            <a:r>
              <a:rPr lang="en-US" b="true" sz="2200">
                <a:solidFill>
                  <a:srgbClr val="292929"/>
                </a:solidFill>
                <a:latin typeface="Inter Bold"/>
                <a:ea typeface="Inter Bold"/>
                <a:cs typeface="Inter Bold"/>
                <a:sym typeface="Inter Bold"/>
              </a:rPr>
              <a:t>Your</a:t>
            </a:r>
            <a:r>
              <a:rPr lang="en-US" b="true" sz="2200">
                <a:solidFill>
                  <a:srgbClr val="292929"/>
                </a:solidFill>
                <a:latin typeface="Inter Bold"/>
                <a:ea typeface="Inter Bold"/>
                <a:cs typeface="Inter Bold"/>
                <a:sym typeface="Inter Bold"/>
              </a:rPr>
              <a:t> Most Effective Partner for the Long Journey</a:t>
            </a:r>
          </a:p>
        </p:txBody>
      </p:sp>
      <p:grpSp>
        <p:nvGrpSpPr>
          <p:cNvPr name="Group 10" id="10"/>
          <p:cNvGrpSpPr/>
          <p:nvPr/>
        </p:nvGrpSpPr>
        <p:grpSpPr>
          <a:xfrm rot="0">
            <a:off x="5562297" y="7478603"/>
            <a:ext cx="715178" cy="715178"/>
            <a:chOff x="0" y="0"/>
            <a:chExt cx="953571" cy="953571"/>
          </a:xfrm>
        </p:grpSpPr>
        <p:sp>
          <p:nvSpPr>
            <p:cNvPr name="Freeform 11" id="11"/>
            <p:cNvSpPr/>
            <p:nvPr/>
          </p:nvSpPr>
          <p:spPr>
            <a:xfrm flipH="false" flipV="false" rot="0">
              <a:off x="0" y="0"/>
              <a:ext cx="953516" cy="953516"/>
            </a:xfrm>
            <a:custGeom>
              <a:avLst/>
              <a:gdLst/>
              <a:ahLst/>
              <a:cxnLst/>
              <a:rect r="r" b="b" t="t" l="l"/>
              <a:pathLst>
                <a:path h="953516" w="953516">
                  <a:moveTo>
                    <a:pt x="0" y="0"/>
                  </a:moveTo>
                  <a:lnTo>
                    <a:pt x="953516" y="0"/>
                  </a:lnTo>
                  <a:lnTo>
                    <a:pt x="953516" y="953516"/>
                  </a:lnTo>
                  <a:lnTo>
                    <a:pt x="0" y="953516"/>
                  </a:lnTo>
                  <a:lnTo>
                    <a:pt x="0" y="0"/>
                  </a:lnTo>
                  <a:close/>
                </a:path>
              </a:pathLst>
            </a:custGeom>
            <a:blipFill>
              <a:blip r:embed="rId6"/>
              <a:stretch>
                <a:fillRect l="0" t="0" r="-5" b="-5"/>
              </a:stretch>
            </a:blipFill>
          </p:spPr>
        </p:sp>
      </p:grpSp>
      <p:grpSp>
        <p:nvGrpSpPr>
          <p:cNvPr name="Group 12" id="12"/>
          <p:cNvGrpSpPr/>
          <p:nvPr/>
        </p:nvGrpSpPr>
        <p:grpSpPr>
          <a:xfrm rot="-5400000">
            <a:off x="6100527" y="7660061"/>
            <a:ext cx="710666" cy="356772"/>
            <a:chOff x="0" y="0"/>
            <a:chExt cx="947555" cy="475696"/>
          </a:xfrm>
        </p:grpSpPr>
        <p:sp>
          <p:nvSpPr>
            <p:cNvPr name="Freeform 13" id="13"/>
            <p:cNvSpPr/>
            <p:nvPr/>
          </p:nvSpPr>
          <p:spPr>
            <a:xfrm flipH="false" flipV="false" rot="0">
              <a:off x="0" y="0"/>
              <a:ext cx="947547" cy="475742"/>
            </a:xfrm>
            <a:custGeom>
              <a:avLst/>
              <a:gdLst/>
              <a:ahLst/>
              <a:cxnLst/>
              <a:rect r="r" b="b" t="t" l="l"/>
              <a:pathLst>
                <a:path h="475742" w="947547">
                  <a:moveTo>
                    <a:pt x="0" y="0"/>
                  </a:moveTo>
                  <a:lnTo>
                    <a:pt x="947547" y="0"/>
                  </a:lnTo>
                  <a:lnTo>
                    <a:pt x="947547" y="475742"/>
                  </a:lnTo>
                  <a:lnTo>
                    <a:pt x="0" y="475742"/>
                  </a:lnTo>
                  <a:lnTo>
                    <a:pt x="0" y="0"/>
                  </a:lnTo>
                  <a:close/>
                </a:path>
              </a:pathLst>
            </a:custGeom>
            <a:blipFill>
              <a:blip r:embed="rId7"/>
              <a:stretch>
                <a:fillRect l="0" t="-33" r="0" b="-24"/>
              </a:stretch>
            </a:blipFill>
          </p:spPr>
        </p:sp>
      </p:grpSp>
      <p:sp>
        <p:nvSpPr>
          <p:cNvPr name="Freeform 14" id="14"/>
          <p:cNvSpPr/>
          <p:nvPr/>
        </p:nvSpPr>
        <p:spPr>
          <a:xfrm flipH="false" flipV="false" rot="0">
            <a:off x="10290196" y="5684458"/>
            <a:ext cx="1818437" cy="856000"/>
          </a:xfrm>
          <a:custGeom>
            <a:avLst/>
            <a:gdLst/>
            <a:ahLst/>
            <a:cxnLst/>
            <a:rect r="r" b="b" t="t" l="l"/>
            <a:pathLst>
              <a:path h="856000" w="1818437">
                <a:moveTo>
                  <a:pt x="0" y="0"/>
                </a:moveTo>
                <a:lnTo>
                  <a:pt x="1818437" y="0"/>
                </a:lnTo>
                <a:lnTo>
                  <a:pt x="1818437" y="856000"/>
                </a:lnTo>
                <a:lnTo>
                  <a:pt x="0" y="8560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0481504" y="5921779"/>
            <a:ext cx="483029" cy="483029"/>
          </a:xfrm>
          <a:custGeom>
            <a:avLst/>
            <a:gdLst/>
            <a:ahLst/>
            <a:cxnLst/>
            <a:rect r="r" b="b" t="t" l="l"/>
            <a:pathLst>
              <a:path h="483029" w="483029">
                <a:moveTo>
                  <a:pt x="0" y="0"/>
                </a:moveTo>
                <a:lnTo>
                  <a:pt x="483029" y="0"/>
                </a:lnTo>
                <a:lnTo>
                  <a:pt x="483029" y="483029"/>
                </a:lnTo>
                <a:lnTo>
                  <a:pt x="0" y="48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6" id="16"/>
          <p:cNvGrpSpPr/>
          <p:nvPr/>
        </p:nvGrpSpPr>
        <p:grpSpPr>
          <a:xfrm rot="0">
            <a:off x="10620267" y="6060542"/>
            <a:ext cx="205502" cy="205502"/>
            <a:chOff x="0" y="0"/>
            <a:chExt cx="274003" cy="274003"/>
          </a:xfrm>
        </p:grpSpPr>
        <p:sp>
          <p:nvSpPr>
            <p:cNvPr name="Freeform 17" id="17"/>
            <p:cNvSpPr/>
            <p:nvPr/>
          </p:nvSpPr>
          <p:spPr>
            <a:xfrm flipH="false" flipV="false" rot="0">
              <a:off x="0" y="0"/>
              <a:ext cx="274066" cy="274066"/>
            </a:xfrm>
            <a:custGeom>
              <a:avLst/>
              <a:gdLst/>
              <a:ahLst/>
              <a:cxnLst/>
              <a:rect r="r" b="b" t="t" l="l"/>
              <a:pathLst>
                <a:path h="274066" w="274066">
                  <a:moveTo>
                    <a:pt x="0" y="0"/>
                  </a:moveTo>
                  <a:lnTo>
                    <a:pt x="274066" y="0"/>
                  </a:lnTo>
                  <a:lnTo>
                    <a:pt x="274066" y="274066"/>
                  </a:lnTo>
                  <a:lnTo>
                    <a:pt x="0" y="274066"/>
                  </a:lnTo>
                  <a:lnTo>
                    <a:pt x="0" y="0"/>
                  </a:lnTo>
                  <a:close/>
                </a:path>
              </a:pathLst>
            </a:custGeom>
            <a:blipFill>
              <a:blip r:embed="rId12"/>
              <a:stretch>
                <a:fillRect l="0" t="0" r="23" b="23"/>
              </a:stretch>
            </a:blipFill>
          </p:spPr>
        </p:sp>
      </p:grpSp>
      <p:sp>
        <p:nvSpPr>
          <p:cNvPr name="Freeform 18" id="18"/>
          <p:cNvSpPr/>
          <p:nvPr/>
        </p:nvSpPr>
        <p:spPr>
          <a:xfrm flipH="false" flipV="false" rot="0">
            <a:off x="12331830" y="9609393"/>
            <a:ext cx="1304379" cy="1279500"/>
          </a:xfrm>
          <a:custGeom>
            <a:avLst/>
            <a:gdLst/>
            <a:ahLst/>
            <a:cxnLst/>
            <a:rect r="r" b="b" t="t" l="l"/>
            <a:pathLst>
              <a:path h="1279500" w="1304379">
                <a:moveTo>
                  <a:pt x="0" y="0"/>
                </a:moveTo>
                <a:lnTo>
                  <a:pt x="1304379" y="0"/>
                </a:lnTo>
                <a:lnTo>
                  <a:pt x="1304379" y="1279500"/>
                </a:lnTo>
                <a:lnTo>
                  <a:pt x="0" y="12795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9" id="19"/>
          <p:cNvSpPr/>
          <p:nvPr/>
        </p:nvSpPr>
        <p:spPr>
          <a:xfrm flipH="false" flipV="false" rot="0">
            <a:off x="14038276" y="9609393"/>
            <a:ext cx="3572117" cy="1279500"/>
          </a:xfrm>
          <a:custGeom>
            <a:avLst/>
            <a:gdLst/>
            <a:ahLst/>
            <a:cxnLst/>
            <a:rect r="r" b="b" t="t" l="l"/>
            <a:pathLst>
              <a:path h="1279500" w="3572117">
                <a:moveTo>
                  <a:pt x="0" y="0"/>
                </a:moveTo>
                <a:lnTo>
                  <a:pt x="3572117" y="0"/>
                </a:lnTo>
                <a:lnTo>
                  <a:pt x="3572117" y="1279500"/>
                </a:lnTo>
                <a:lnTo>
                  <a:pt x="0" y="12795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0" id="20"/>
          <p:cNvSpPr txBox="true"/>
          <p:nvPr/>
        </p:nvSpPr>
        <p:spPr>
          <a:xfrm rot="0">
            <a:off x="677607" y="9470496"/>
            <a:ext cx="419288" cy="260377"/>
          </a:xfrm>
          <a:prstGeom prst="rect">
            <a:avLst/>
          </a:prstGeom>
        </p:spPr>
        <p:txBody>
          <a:bodyPr anchor="t" rtlCol="false" tIns="0" lIns="0" bIns="0" rIns="0">
            <a:spAutoFit/>
          </a:bodyPr>
          <a:lstStyle/>
          <a:p>
            <a:pPr algn="just">
              <a:lnSpc>
                <a:spcPts val="2014"/>
              </a:lnSpc>
            </a:pPr>
            <a:r>
              <a:rPr lang="en-US" sz="1200">
                <a:solidFill>
                  <a:srgbClr val="FFFFFF"/>
                </a:solidFill>
                <a:latin typeface="Arial MT Pro"/>
                <a:ea typeface="Arial MT Pro"/>
                <a:cs typeface="Arial MT Pro"/>
                <a:sym typeface="Arial MT Pro"/>
              </a:rPr>
              <a:t>16</a:t>
            </a:r>
          </a:p>
        </p:txBody>
      </p:sp>
      <p:sp>
        <p:nvSpPr>
          <p:cNvPr name="TextBox 21" id="21"/>
          <p:cNvSpPr txBox="true"/>
          <p:nvPr/>
        </p:nvSpPr>
        <p:spPr>
          <a:xfrm rot="0">
            <a:off x="1228783" y="590519"/>
            <a:ext cx="2594309"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TextBox 22" id="22"/>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
        <p:nvSpPr>
          <p:cNvPr name="Freeform 23" id="23"/>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17"/>
            <a:stretch>
              <a:fillRect l="0" t="0" r="0" b="0"/>
            </a:stretch>
          </a:blipFill>
        </p:spPr>
      </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Freeform 3" id="3"/>
          <p:cNvSpPr/>
          <p:nvPr/>
        </p:nvSpPr>
        <p:spPr>
          <a:xfrm flipH="false" flipV="false" rot="0">
            <a:off x="677607" y="1515520"/>
            <a:ext cx="7975011" cy="4961829"/>
          </a:xfrm>
          <a:custGeom>
            <a:avLst/>
            <a:gdLst/>
            <a:ahLst/>
            <a:cxnLst/>
            <a:rect r="r" b="b" t="t" l="l"/>
            <a:pathLst>
              <a:path h="4961829" w="7975011">
                <a:moveTo>
                  <a:pt x="0" y="0"/>
                </a:moveTo>
                <a:lnTo>
                  <a:pt x="7975011" y="0"/>
                </a:lnTo>
                <a:lnTo>
                  <a:pt x="7975011" y="4961829"/>
                </a:lnTo>
                <a:lnTo>
                  <a:pt x="0" y="4961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77607" y="6758903"/>
            <a:ext cx="2462817" cy="2499397"/>
          </a:xfrm>
          <a:custGeom>
            <a:avLst/>
            <a:gdLst/>
            <a:ahLst/>
            <a:cxnLst/>
            <a:rect r="r" b="b" t="t" l="l"/>
            <a:pathLst>
              <a:path h="2499397" w="2462817">
                <a:moveTo>
                  <a:pt x="0" y="0"/>
                </a:moveTo>
                <a:lnTo>
                  <a:pt x="2462817" y="0"/>
                </a:lnTo>
                <a:lnTo>
                  <a:pt x="2462817" y="2499397"/>
                </a:lnTo>
                <a:lnTo>
                  <a:pt x="0" y="24993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3390876" y="6758903"/>
            <a:ext cx="2462817" cy="2499397"/>
          </a:xfrm>
          <a:custGeom>
            <a:avLst/>
            <a:gdLst/>
            <a:ahLst/>
            <a:cxnLst/>
            <a:rect r="r" b="b" t="t" l="l"/>
            <a:pathLst>
              <a:path h="2499397" w="2462817">
                <a:moveTo>
                  <a:pt x="0" y="0"/>
                </a:moveTo>
                <a:lnTo>
                  <a:pt x="2462817" y="0"/>
                </a:lnTo>
                <a:lnTo>
                  <a:pt x="2462817" y="2499397"/>
                </a:lnTo>
                <a:lnTo>
                  <a:pt x="0" y="24993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6189801" y="6758903"/>
            <a:ext cx="2462817" cy="2499397"/>
          </a:xfrm>
          <a:custGeom>
            <a:avLst/>
            <a:gdLst/>
            <a:ahLst/>
            <a:cxnLst/>
            <a:rect r="r" b="b" t="t" l="l"/>
            <a:pathLst>
              <a:path h="2499397" w="2462817">
                <a:moveTo>
                  <a:pt x="0" y="0"/>
                </a:moveTo>
                <a:lnTo>
                  <a:pt x="2462817" y="0"/>
                </a:lnTo>
                <a:lnTo>
                  <a:pt x="2462817" y="2499397"/>
                </a:lnTo>
                <a:lnTo>
                  <a:pt x="0" y="24993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937373" y="6919605"/>
            <a:ext cx="1705575" cy="819110"/>
          </a:xfrm>
          <a:prstGeom prst="rect">
            <a:avLst/>
          </a:prstGeom>
        </p:spPr>
        <p:txBody>
          <a:bodyPr anchor="t" rtlCol="false" tIns="0" lIns="0" bIns="0" rIns="0">
            <a:spAutoFit/>
          </a:bodyPr>
          <a:lstStyle/>
          <a:p>
            <a:pPr algn="l">
              <a:lnSpc>
                <a:spcPts val="6302"/>
              </a:lnSpc>
            </a:pPr>
            <a:r>
              <a:rPr lang="en-US" b="true" sz="3750">
                <a:solidFill>
                  <a:srgbClr val="FFFFFF"/>
                </a:solidFill>
                <a:latin typeface="Inter Bold"/>
                <a:ea typeface="Inter Bold"/>
                <a:cs typeface="Inter Bold"/>
                <a:sym typeface="Inter Bold"/>
              </a:rPr>
              <a:t>92%</a:t>
            </a:r>
          </a:p>
        </p:txBody>
      </p:sp>
      <p:sp>
        <p:nvSpPr>
          <p:cNvPr name="TextBox 8" id="8"/>
          <p:cNvSpPr txBox="true"/>
          <p:nvPr/>
        </p:nvSpPr>
        <p:spPr>
          <a:xfrm rot="0">
            <a:off x="3650642" y="6919605"/>
            <a:ext cx="1891086" cy="819110"/>
          </a:xfrm>
          <a:prstGeom prst="rect">
            <a:avLst/>
          </a:prstGeom>
        </p:spPr>
        <p:txBody>
          <a:bodyPr anchor="t" rtlCol="false" tIns="0" lIns="0" bIns="0" rIns="0">
            <a:spAutoFit/>
          </a:bodyPr>
          <a:lstStyle/>
          <a:p>
            <a:pPr algn="l">
              <a:lnSpc>
                <a:spcPts val="6302"/>
              </a:lnSpc>
            </a:pPr>
            <a:r>
              <a:rPr lang="en-US" b="true" sz="3750">
                <a:solidFill>
                  <a:srgbClr val="292929"/>
                </a:solidFill>
                <a:latin typeface="Inter Bold"/>
                <a:ea typeface="Inter Bold"/>
                <a:cs typeface="Inter Bold"/>
                <a:sym typeface="Inter Bold"/>
              </a:rPr>
              <a:t>96%</a:t>
            </a:r>
          </a:p>
        </p:txBody>
      </p:sp>
      <p:sp>
        <p:nvSpPr>
          <p:cNvPr name="TextBox 9" id="9"/>
          <p:cNvSpPr txBox="true"/>
          <p:nvPr/>
        </p:nvSpPr>
        <p:spPr>
          <a:xfrm rot="0">
            <a:off x="6449567" y="6919605"/>
            <a:ext cx="1620544" cy="819110"/>
          </a:xfrm>
          <a:prstGeom prst="rect">
            <a:avLst/>
          </a:prstGeom>
        </p:spPr>
        <p:txBody>
          <a:bodyPr anchor="t" rtlCol="false" tIns="0" lIns="0" bIns="0" rIns="0">
            <a:spAutoFit/>
          </a:bodyPr>
          <a:lstStyle/>
          <a:p>
            <a:pPr algn="l">
              <a:lnSpc>
                <a:spcPts val="6302"/>
              </a:lnSpc>
            </a:pPr>
            <a:r>
              <a:rPr lang="en-US" b="true" sz="3750">
                <a:solidFill>
                  <a:srgbClr val="292929"/>
                </a:solidFill>
                <a:latin typeface="Inter Bold"/>
                <a:ea typeface="Inter Bold"/>
                <a:cs typeface="Inter Bold"/>
                <a:sym typeface="Inter Bold"/>
              </a:rPr>
              <a:t>91%</a:t>
            </a:r>
          </a:p>
        </p:txBody>
      </p:sp>
      <p:sp>
        <p:nvSpPr>
          <p:cNvPr name="TextBox 10" id="10"/>
          <p:cNvSpPr txBox="true"/>
          <p:nvPr/>
        </p:nvSpPr>
        <p:spPr>
          <a:xfrm rot="0">
            <a:off x="937373" y="7788368"/>
            <a:ext cx="1584900" cy="1118997"/>
          </a:xfrm>
          <a:prstGeom prst="rect">
            <a:avLst/>
          </a:prstGeom>
        </p:spPr>
        <p:txBody>
          <a:bodyPr anchor="t" rtlCol="false" tIns="0" lIns="0" bIns="0" rIns="0">
            <a:spAutoFit/>
          </a:bodyPr>
          <a:lstStyle/>
          <a:p>
            <a:pPr algn="l">
              <a:lnSpc>
                <a:spcPts val="3024"/>
              </a:lnSpc>
            </a:pPr>
            <a:r>
              <a:rPr lang="en-US" sz="1800">
                <a:solidFill>
                  <a:srgbClr val="FFFFFF"/>
                </a:solidFill>
                <a:latin typeface="Inter"/>
                <a:ea typeface="Inter"/>
                <a:cs typeface="Inter"/>
                <a:sym typeface="Inter"/>
              </a:rPr>
              <a:t>Remote </a:t>
            </a:r>
            <a:r>
              <a:rPr lang="en-US" sz="1800">
                <a:solidFill>
                  <a:srgbClr val="FFFFFF"/>
                </a:solidFill>
                <a:latin typeface="Inter"/>
                <a:ea typeface="Inter"/>
                <a:cs typeface="Inter"/>
                <a:sym typeface="Inter"/>
              </a:rPr>
              <a:t>Teamwork &amp; Efficiency</a:t>
            </a:r>
          </a:p>
        </p:txBody>
      </p:sp>
      <p:sp>
        <p:nvSpPr>
          <p:cNvPr name="TextBox 11" id="11"/>
          <p:cNvSpPr txBox="true"/>
          <p:nvPr/>
        </p:nvSpPr>
        <p:spPr>
          <a:xfrm rot="0">
            <a:off x="3650642" y="7788368"/>
            <a:ext cx="1853400" cy="737997"/>
          </a:xfrm>
          <a:prstGeom prst="rect">
            <a:avLst/>
          </a:prstGeom>
        </p:spPr>
        <p:txBody>
          <a:bodyPr anchor="t" rtlCol="false" tIns="0" lIns="0" bIns="0" rIns="0">
            <a:spAutoFit/>
          </a:bodyPr>
          <a:lstStyle/>
          <a:p>
            <a:pPr algn="l">
              <a:lnSpc>
                <a:spcPts val="3024"/>
              </a:lnSpc>
            </a:pPr>
            <a:r>
              <a:rPr lang="en-US" sz="1800">
                <a:solidFill>
                  <a:srgbClr val="292929"/>
                </a:solidFill>
                <a:latin typeface="Inter"/>
                <a:ea typeface="Inter"/>
                <a:cs typeface="Inter"/>
                <a:sym typeface="Inter"/>
              </a:rPr>
              <a:t>Healthy Work Culture</a:t>
            </a:r>
          </a:p>
        </p:txBody>
      </p:sp>
      <p:sp>
        <p:nvSpPr>
          <p:cNvPr name="TextBox 12" id="12"/>
          <p:cNvSpPr txBox="true"/>
          <p:nvPr/>
        </p:nvSpPr>
        <p:spPr>
          <a:xfrm rot="0">
            <a:off x="6478142" y="7633940"/>
            <a:ext cx="1539660" cy="1499997"/>
          </a:xfrm>
          <a:prstGeom prst="rect">
            <a:avLst/>
          </a:prstGeom>
        </p:spPr>
        <p:txBody>
          <a:bodyPr anchor="t" rtlCol="false" tIns="0" lIns="0" bIns="0" rIns="0">
            <a:spAutoFit/>
          </a:bodyPr>
          <a:lstStyle/>
          <a:p>
            <a:pPr algn="l">
              <a:lnSpc>
                <a:spcPts val="3024"/>
              </a:lnSpc>
            </a:pPr>
            <a:r>
              <a:rPr lang="en-US" b="true" sz="1800">
                <a:solidFill>
                  <a:srgbClr val="292929"/>
                </a:solidFill>
                <a:latin typeface="Inter Medium"/>
                <a:ea typeface="Inter Medium"/>
                <a:cs typeface="Inter Medium"/>
                <a:sym typeface="Inter Medium"/>
              </a:rPr>
              <a:t>Pr</a:t>
            </a:r>
            <a:r>
              <a:rPr lang="en-US" b="true" sz="1800">
                <a:solidFill>
                  <a:srgbClr val="292929"/>
                </a:solidFill>
                <a:latin typeface="Inter Medium"/>
                <a:ea typeface="Inter Medium"/>
                <a:cs typeface="Inter Medium"/>
                <a:sym typeface="Inter Medium"/>
              </a:rPr>
              <a:t>ofessional Connection Between Teams</a:t>
            </a:r>
          </a:p>
        </p:txBody>
      </p:sp>
      <p:grpSp>
        <p:nvGrpSpPr>
          <p:cNvPr name="Group 13" id="13"/>
          <p:cNvGrpSpPr/>
          <p:nvPr/>
        </p:nvGrpSpPr>
        <p:grpSpPr>
          <a:xfrm rot="0">
            <a:off x="9376518" y="1616269"/>
            <a:ext cx="8233875" cy="7642031"/>
            <a:chOff x="0" y="0"/>
            <a:chExt cx="10978500" cy="10189375"/>
          </a:xfrm>
        </p:grpSpPr>
        <p:sp>
          <p:nvSpPr>
            <p:cNvPr name="Freeform 14" id="14"/>
            <p:cNvSpPr/>
            <p:nvPr/>
          </p:nvSpPr>
          <p:spPr>
            <a:xfrm flipH="true" flipV="false" rot="0">
              <a:off x="0" y="0"/>
              <a:ext cx="10978514" cy="10189464"/>
            </a:xfrm>
            <a:custGeom>
              <a:avLst/>
              <a:gdLst/>
              <a:ahLst/>
              <a:cxnLst/>
              <a:rect r="r" b="b" t="t" l="l"/>
              <a:pathLst>
                <a:path h="10189464" w="10978514">
                  <a:moveTo>
                    <a:pt x="10738357" y="0"/>
                  </a:moveTo>
                  <a:lnTo>
                    <a:pt x="240157" y="0"/>
                  </a:lnTo>
                  <a:cubicBezTo>
                    <a:pt x="107569" y="0"/>
                    <a:pt x="0" y="107442"/>
                    <a:pt x="0" y="240157"/>
                  </a:cubicBezTo>
                  <a:lnTo>
                    <a:pt x="0" y="9949307"/>
                  </a:lnTo>
                  <a:cubicBezTo>
                    <a:pt x="0" y="10081895"/>
                    <a:pt x="107442" y="10189464"/>
                    <a:pt x="240157" y="10189464"/>
                  </a:cubicBezTo>
                  <a:lnTo>
                    <a:pt x="10738357" y="10189464"/>
                  </a:lnTo>
                  <a:cubicBezTo>
                    <a:pt x="10871072" y="10189337"/>
                    <a:pt x="10978514" y="10081895"/>
                    <a:pt x="10978514" y="9949307"/>
                  </a:cubicBezTo>
                  <a:lnTo>
                    <a:pt x="10978514" y="240157"/>
                  </a:lnTo>
                  <a:cubicBezTo>
                    <a:pt x="10978514" y="107442"/>
                    <a:pt x="10871072" y="0"/>
                    <a:pt x="10738357" y="0"/>
                  </a:cubicBezTo>
                  <a:close/>
                </a:path>
              </a:pathLst>
            </a:custGeom>
            <a:blipFill>
              <a:blip r:embed="rId11"/>
              <a:stretch>
                <a:fillRect l="-30515" t="0" r="-30515" b="0"/>
              </a:stretch>
            </a:blipFill>
          </p:spPr>
        </p:sp>
      </p:grpSp>
      <p:sp>
        <p:nvSpPr>
          <p:cNvPr name="Freeform 15" id="15"/>
          <p:cNvSpPr/>
          <p:nvPr/>
        </p:nvSpPr>
        <p:spPr>
          <a:xfrm flipH="false" flipV="false" rot="0">
            <a:off x="2482397" y="8633043"/>
            <a:ext cx="448542" cy="448542"/>
          </a:xfrm>
          <a:custGeom>
            <a:avLst/>
            <a:gdLst/>
            <a:ahLst/>
            <a:cxnLst/>
            <a:rect r="r" b="b" t="t" l="l"/>
            <a:pathLst>
              <a:path h="448542" w="448542">
                <a:moveTo>
                  <a:pt x="0" y="0"/>
                </a:moveTo>
                <a:lnTo>
                  <a:pt x="448542" y="0"/>
                </a:lnTo>
                <a:lnTo>
                  <a:pt x="448542" y="448542"/>
                </a:lnTo>
                <a:lnTo>
                  <a:pt x="0" y="4485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6" id="16"/>
          <p:cNvGrpSpPr/>
          <p:nvPr/>
        </p:nvGrpSpPr>
        <p:grpSpPr>
          <a:xfrm rot="0">
            <a:off x="2611253" y="8761899"/>
            <a:ext cx="190830" cy="190830"/>
            <a:chOff x="0" y="0"/>
            <a:chExt cx="254440" cy="254440"/>
          </a:xfrm>
        </p:grpSpPr>
        <p:sp>
          <p:nvSpPr>
            <p:cNvPr name="Freeform 17" id="17"/>
            <p:cNvSpPr/>
            <p:nvPr/>
          </p:nvSpPr>
          <p:spPr>
            <a:xfrm flipH="false" flipV="false" rot="0">
              <a:off x="0" y="0"/>
              <a:ext cx="254381" cy="254381"/>
            </a:xfrm>
            <a:custGeom>
              <a:avLst/>
              <a:gdLst/>
              <a:ahLst/>
              <a:cxnLst/>
              <a:rect r="r" b="b" t="t" l="l"/>
              <a:pathLst>
                <a:path h="254381" w="254381">
                  <a:moveTo>
                    <a:pt x="0" y="0"/>
                  </a:moveTo>
                  <a:lnTo>
                    <a:pt x="254381" y="0"/>
                  </a:lnTo>
                  <a:lnTo>
                    <a:pt x="254381" y="254381"/>
                  </a:lnTo>
                  <a:lnTo>
                    <a:pt x="0" y="254381"/>
                  </a:lnTo>
                  <a:lnTo>
                    <a:pt x="0" y="0"/>
                  </a:lnTo>
                  <a:close/>
                </a:path>
              </a:pathLst>
            </a:custGeom>
            <a:blipFill>
              <a:blip r:embed="rId14"/>
              <a:stretch>
                <a:fillRect l="0" t="0" r="-23" b="-23"/>
              </a:stretch>
            </a:blipFill>
          </p:spPr>
        </p:sp>
      </p:grpSp>
      <p:sp>
        <p:nvSpPr>
          <p:cNvPr name="Freeform 18" id="18"/>
          <p:cNvSpPr/>
          <p:nvPr/>
        </p:nvSpPr>
        <p:spPr>
          <a:xfrm flipH="false" flipV="false" rot="0">
            <a:off x="5220791" y="8633043"/>
            <a:ext cx="448542" cy="448542"/>
          </a:xfrm>
          <a:custGeom>
            <a:avLst/>
            <a:gdLst/>
            <a:ahLst/>
            <a:cxnLst/>
            <a:rect r="r" b="b" t="t" l="l"/>
            <a:pathLst>
              <a:path h="448542" w="448542">
                <a:moveTo>
                  <a:pt x="0" y="0"/>
                </a:moveTo>
                <a:lnTo>
                  <a:pt x="448542" y="0"/>
                </a:lnTo>
                <a:lnTo>
                  <a:pt x="448542" y="448542"/>
                </a:lnTo>
                <a:lnTo>
                  <a:pt x="0" y="44854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9" id="19"/>
          <p:cNvGrpSpPr/>
          <p:nvPr/>
        </p:nvGrpSpPr>
        <p:grpSpPr>
          <a:xfrm rot="0">
            <a:off x="5349647" y="8761899"/>
            <a:ext cx="190830" cy="190830"/>
            <a:chOff x="0" y="0"/>
            <a:chExt cx="254440" cy="254440"/>
          </a:xfrm>
        </p:grpSpPr>
        <p:sp>
          <p:nvSpPr>
            <p:cNvPr name="Freeform 20" id="20"/>
            <p:cNvSpPr/>
            <p:nvPr/>
          </p:nvSpPr>
          <p:spPr>
            <a:xfrm flipH="false" flipV="false" rot="0">
              <a:off x="0" y="0"/>
              <a:ext cx="254381" cy="254381"/>
            </a:xfrm>
            <a:custGeom>
              <a:avLst/>
              <a:gdLst/>
              <a:ahLst/>
              <a:cxnLst/>
              <a:rect r="r" b="b" t="t" l="l"/>
              <a:pathLst>
                <a:path h="254381" w="254381">
                  <a:moveTo>
                    <a:pt x="0" y="0"/>
                  </a:moveTo>
                  <a:lnTo>
                    <a:pt x="254381" y="0"/>
                  </a:lnTo>
                  <a:lnTo>
                    <a:pt x="254381" y="254381"/>
                  </a:lnTo>
                  <a:lnTo>
                    <a:pt x="0" y="254381"/>
                  </a:lnTo>
                  <a:lnTo>
                    <a:pt x="0" y="0"/>
                  </a:lnTo>
                  <a:close/>
                </a:path>
              </a:pathLst>
            </a:custGeom>
            <a:blipFill>
              <a:blip r:embed="rId17"/>
              <a:stretch>
                <a:fillRect l="0" t="0" r="-23" b="-23"/>
              </a:stretch>
            </a:blipFill>
          </p:spPr>
        </p:sp>
      </p:grpSp>
      <p:sp>
        <p:nvSpPr>
          <p:cNvPr name="Freeform 21" id="21"/>
          <p:cNvSpPr/>
          <p:nvPr/>
        </p:nvSpPr>
        <p:spPr>
          <a:xfrm flipH="false" flipV="false" rot="0">
            <a:off x="7989227" y="8633043"/>
            <a:ext cx="448542" cy="448542"/>
          </a:xfrm>
          <a:custGeom>
            <a:avLst/>
            <a:gdLst/>
            <a:ahLst/>
            <a:cxnLst/>
            <a:rect r="r" b="b" t="t" l="l"/>
            <a:pathLst>
              <a:path h="448542" w="448542">
                <a:moveTo>
                  <a:pt x="0" y="0"/>
                </a:moveTo>
                <a:lnTo>
                  <a:pt x="448542" y="0"/>
                </a:lnTo>
                <a:lnTo>
                  <a:pt x="448542" y="448542"/>
                </a:lnTo>
                <a:lnTo>
                  <a:pt x="0" y="44854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22" id="22"/>
          <p:cNvGrpSpPr/>
          <p:nvPr/>
        </p:nvGrpSpPr>
        <p:grpSpPr>
          <a:xfrm rot="0">
            <a:off x="8118083" y="8761899"/>
            <a:ext cx="190830" cy="190830"/>
            <a:chOff x="0" y="0"/>
            <a:chExt cx="254440" cy="254440"/>
          </a:xfrm>
        </p:grpSpPr>
        <p:sp>
          <p:nvSpPr>
            <p:cNvPr name="Freeform 23" id="23"/>
            <p:cNvSpPr/>
            <p:nvPr/>
          </p:nvSpPr>
          <p:spPr>
            <a:xfrm flipH="false" flipV="false" rot="0">
              <a:off x="0" y="0"/>
              <a:ext cx="254381" cy="254381"/>
            </a:xfrm>
            <a:custGeom>
              <a:avLst/>
              <a:gdLst/>
              <a:ahLst/>
              <a:cxnLst/>
              <a:rect r="r" b="b" t="t" l="l"/>
              <a:pathLst>
                <a:path h="254381" w="254381">
                  <a:moveTo>
                    <a:pt x="0" y="0"/>
                  </a:moveTo>
                  <a:lnTo>
                    <a:pt x="254381" y="0"/>
                  </a:lnTo>
                  <a:lnTo>
                    <a:pt x="254381" y="254381"/>
                  </a:lnTo>
                  <a:lnTo>
                    <a:pt x="0" y="254381"/>
                  </a:lnTo>
                  <a:lnTo>
                    <a:pt x="0" y="0"/>
                  </a:lnTo>
                  <a:close/>
                </a:path>
              </a:pathLst>
            </a:custGeom>
            <a:blipFill>
              <a:blip r:embed="rId17"/>
              <a:stretch>
                <a:fillRect l="0" t="0" r="-23" b="-23"/>
              </a:stretch>
            </a:blipFill>
          </p:spPr>
        </p:sp>
      </p:grpSp>
      <p:sp>
        <p:nvSpPr>
          <p:cNvPr name="TextBox 24" id="24"/>
          <p:cNvSpPr txBox="true"/>
          <p:nvPr/>
        </p:nvSpPr>
        <p:spPr>
          <a:xfrm rot="0">
            <a:off x="1203978" y="2202699"/>
            <a:ext cx="6055861" cy="1410475"/>
          </a:xfrm>
          <a:prstGeom prst="rect">
            <a:avLst/>
          </a:prstGeom>
        </p:spPr>
        <p:txBody>
          <a:bodyPr anchor="t" rtlCol="false" tIns="0" lIns="0" bIns="0" rIns="0">
            <a:spAutoFit/>
          </a:bodyPr>
          <a:lstStyle/>
          <a:p>
            <a:pPr algn="l">
              <a:lnSpc>
                <a:spcPts val="11453"/>
              </a:lnSpc>
            </a:pPr>
            <a:r>
              <a:rPr lang="en-US" b="true" sz="8300">
                <a:solidFill>
                  <a:srgbClr val="292929"/>
                </a:solidFill>
                <a:latin typeface="Inter Bold"/>
                <a:ea typeface="Inter Bold"/>
                <a:cs typeface="Inter Bold"/>
                <a:sym typeface="Inter Bold"/>
              </a:rPr>
              <a:t>OUR TEAM</a:t>
            </a:r>
          </a:p>
        </p:txBody>
      </p:sp>
      <p:sp>
        <p:nvSpPr>
          <p:cNvPr name="TextBox 25" id="25"/>
          <p:cNvSpPr txBox="true"/>
          <p:nvPr/>
        </p:nvSpPr>
        <p:spPr>
          <a:xfrm rot="0">
            <a:off x="1203975" y="3878107"/>
            <a:ext cx="7104938" cy="1880671"/>
          </a:xfrm>
          <a:prstGeom prst="rect">
            <a:avLst/>
          </a:prstGeom>
        </p:spPr>
        <p:txBody>
          <a:bodyPr anchor="t" rtlCol="false" tIns="0" lIns="0" bIns="0" rIns="0">
            <a:spAutoFit/>
          </a:bodyPr>
          <a:lstStyle/>
          <a:p>
            <a:pPr algn="l">
              <a:lnSpc>
                <a:spcPts val="3026"/>
              </a:lnSpc>
            </a:pPr>
            <a:r>
              <a:rPr lang="en-US" sz="1800">
                <a:solidFill>
                  <a:srgbClr val="292929"/>
                </a:solidFill>
                <a:latin typeface="Inter"/>
                <a:ea typeface="Inter"/>
                <a:cs typeface="Inter"/>
                <a:sym typeface="Inter"/>
              </a:rPr>
              <a:t>Otrava Technolog</a:t>
            </a:r>
            <a:r>
              <a:rPr lang="en-US" sz="1800">
                <a:solidFill>
                  <a:srgbClr val="292929"/>
                </a:solidFill>
                <a:latin typeface="Inter"/>
                <a:ea typeface="Inter"/>
                <a:cs typeface="Inter"/>
                <a:sym typeface="Inter"/>
              </a:rPr>
              <a:t>ies brings together experienced ICT professionals who excel in delivering diverse projects with precision and creativity, while enjoying hobbies like football, graphic design, photography, and exploring new tech trends to keep ideas fresh.</a:t>
            </a:r>
          </a:p>
        </p:txBody>
      </p:sp>
      <p:sp>
        <p:nvSpPr>
          <p:cNvPr name="Freeform 26" id="26"/>
          <p:cNvSpPr/>
          <p:nvPr/>
        </p:nvSpPr>
        <p:spPr>
          <a:xfrm flipH="false" flipV="false" rot="0">
            <a:off x="7396858" y="2180700"/>
            <a:ext cx="729389" cy="729389"/>
          </a:xfrm>
          <a:custGeom>
            <a:avLst/>
            <a:gdLst/>
            <a:ahLst/>
            <a:cxnLst/>
            <a:rect r="r" b="b" t="t" l="l"/>
            <a:pathLst>
              <a:path h="729389" w="729389">
                <a:moveTo>
                  <a:pt x="0" y="0"/>
                </a:moveTo>
                <a:lnTo>
                  <a:pt x="729389" y="0"/>
                </a:lnTo>
                <a:lnTo>
                  <a:pt x="729389" y="729389"/>
                </a:lnTo>
                <a:lnTo>
                  <a:pt x="0" y="72938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27" id="27"/>
          <p:cNvGrpSpPr/>
          <p:nvPr/>
        </p:nvGrpSpPr>
        <p:grpSpPr>
          <a:xfrm rot="0">
            <a:off x="7606395" y="2390237"/>
            <a:ext cx="310314" cy="310314"/>
            <a:chOff x="0" y="0"/>
            <a:chExt cx="413752" cy="413752"/>
          </a:xfrm>
        </p:grpSpPr>
        <p:sp>
          <p:nvSpPr>
            <p:cNvPr name="Freeform 28" id="28"/>
            <p:cNvSpPr/>
            <p:nvPr/>
          </p:nvSpPr>
          <p:spPr>
            <a:xfrm flipH="false" flipV="false" rot="0">
              <a:off x="0" y="0"/>
              <a:ext cx="413766" cy="413766"/>
            </a:xfrm>
            <a:custGeom>
              <a:avLst/>
              <a:gdLst/>
              <a:ahLst/>
              <a:cxnLst/>
              <a:rect r="r" b="b" t="t" l="l"/>
              <a:pathLst>
                <a:path h="413766" w="413766">
                  <a:moveTo>
                    <a:pt x="0" y="0"/>
                  </a:moveTo>
                  <a:lnTo>
                    <a:pt x="413766" y="0"/>
                  </a:lnTo>
                  <a:lnTo>
                    <a:pt x="413766" y="413766"/>
                  </a:lnTo>
                  <a:lnTo>
                    <a:pt x="0" y="413766"/>
                  </a:lnTo>
                  <a:lnTo>
                    <a:pt x="0" y="0"/>
                  </a:lnTo>
                  <a:close/>
                </a:path>
              </a:pathLst>
            </a:custGeom>
            <a:blipFill>
              <a:blip r:embed="rId17"/>
              <a:stretch>
                <a:fillRect l="0" t="0" r="3" b="3"/>
              </a:stretch>
            </a:blipFill>
          </p:spPr>
        </p:sp>
      </p:grpSp>
      <p:sp>
        <p:nvSpPr>
          <p:cNvPr name="TextBox 29" id="29"/>
          <p:cNvSpPr txBox="true"/>
          <p:nvPr/>
        </p:nvSpPr>
        <p:spPr>
          <a:xfrm rot="0">
            <a:off x="677607" y="9518121"/>
            <a:ext cx="419288" cy="250852"/>
          </a:xfrm>
          <a:prstGeom prst="rect">
            <a:avLst/>
          </a:prstGeom>
        </p:spPr>
        <p:txBody>
          <a:bodyPr anchor="t" rtlCol="false" tIns="0" lIns="0" bIns="0" rIns="0">
            <a:spAutoFit/>
          </a:bodyPr>
          <a:lstStyle/>
          <a:p>
            <a:pPr algn="just">
              <a:lnSpc>
                <a:spcPts val="2014"/>
              </a:lnSpc>
            </a:pPr>
            <a:r>
              <a:rPr lang="en-US" sz="1200">
                <a:solidFill>
                  <a:srgbClr val="FFFFFF"/>
                </a:solidFill>
                <a:latin typeface="Inter Light"/>
                <a:ea typeface="Inter Light"/>
                <a:cs typeface="Inter Light"/>
                <a:sym typeface="Inter Light"/>
              </a:rPr>
              <a:t>17</a:t>
            </a:r>
          </a:p>
        </p:txBody>
      </p:sp>
      <p:sp>
        <p:nvSpPr>
          <p:cNvPr name="TextBox 30" id="30"/>
          <p:cNvSpPr txBox="true"/>
          <p:nvPr/>
        </p:nvSpPr>
        <p:spPr>
          <a:xfrm rot="0">
            <a:off x="1228783" y="590519"/>
            <a:ext cx="2421859"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TextBox 31" id="31"/>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
        <p:nvSpPr>
          <p:cNvPr name="Freeform 32" id="32"/>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20"/>
            <a:stretch>
              <a:fillRect l="0" t="0" r="0" b="0"/>
            </a:stretch>
          </a:blipFill>
        </p:spPr>
      </p:sp>
    </p:spTree>
  </p:cSld>
  <p:clrMapOvr>
    <a:masterClrMapping/>
  </p:clrMapOvr>
  <p:transition spd="slow">
    <p:push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Freeform 3" id="3"/>
          <p:cNvSpPr/>
          <p:nvPr/>
        </p:nvSpPr>
        <p:spPr>
          <a:xfrm flipH="false" flipV="false" rot="0">
            <a:off x="4649679" y="2479048"/>
            <a:ext cx="5388645" cy="7077173"/>
          </a:xfrm>
          <a:custGeom>
            <a:avLst/>
            <a:gdLst/>
            <a:ahLst/>
            <a:cxnLst/>
            <a:rect r="r" b="b" t="t" l="l"/>
            <a:pathLst>
              <a:path h="7077173" w="5388645">
                <a:moveTo>
                  <a:pt x="0" y="0"/>
                </a:moveTo>
                <a:lnTo>
                  <a:pt x="5388644" y="0"/>
                </a:lnTo>
                <a:lnTo>
                  <a:pt x="5388644" y="7077173"/>
                </a:lnTo>
                <a:lnTo>
                  <a:pt x="0" y="70771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949072" y="1268687"/>
            <a:ext cx="6310228" cy="8287534"/>
          </a:xfrm>
          <a:custGeom>
            <a:avLst/>
            <a:gdLst/>
            <a:ahLst/>
            <a:cxnLst/>
            <a:rect r="r" b="b" t="t" l="l"/>
            <a:pathLst>
              <a:path h="8287534" w="6310228">
                <a:moveTo>
                  <a:pt x="0" y="0"/>
                </a:moveTo>
                <a:lnTo>
                  <a:pt x="6310228" y="0"/>
                </a:lnTo>
                <a:lnTo>
                  <a:pt x="6310228" y="8287534"/>
                </a:lnTo>
                <a:lnTo>
                  <a:pt x="0" y="82875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1091347" y="1564368"/>
            <a:ext cx="6024288" cy="7873743"/>
            <a:chOff x="0" y="0"/>
            <a:chExt cx="783089" cy="1023497"/>
          </a:xfrm>
        </p:grpSpPr>
        <p:sp>
          <p:nvSpPr>
            <p:cNvPr name="Freeform 6" id="6"/>
            <p:cNvSpPr/>
            <p:nvPr/>
          </p:nvSpPr>
          <p:spPr>
            <a:xfrm flipH="false" flipV="false" rot="0">
              <a:off x="0" y="0"/>
              <a:ext cx="783089" cy="1023497"/>
            </a:xfrm>
            <a:custGeom>
              <a:avLst/>
              <a:gdLst/>
              <a:ahLst/>
              <a:cxnLst/>
              <a:rect r="r" b="b" t="t" l="l"/>
              <a:pathLst>
                <a:path h="1023497" w="783089">
                  <a:moveTo>
                    <a:pt x="29558" y="0"/>
                  </a:moveTo>
                  <a:lnTo>
                    <a:pt x="753531" y="0"/>
                  </a:lnTo>
                  <a:cubicBezTo>
                    <a:pt x="769855" y="0"/>
                    <a:pt x="783089" y="13233"/>
                    <a:pt x="783089" y="29558"/>
                  </a:cubicBezTo>
                  <a:lnTo>
                    <a:pt x="783089" y="993939"/>
                  </a:lnTo>
                  <a:cubicBezTo>
                    <a:pt x="783089" y="1010263"/>
                    <a:pt x="769855" y="1023497"/>
                    <a:pt x="753531" y="1023497"/>
                  </a:cubicBezTo>
                  <a:lnTo>
                    <a:pt x="29558" y="1023497"/>
                  </a:lnTo>
                  <a:cubicBezTo>
                    <a:pt x="13233" y="1023497"/>
                    <a:pt x="0" y="1010263"/>
                    <a:pt x="0" y="993939"/>
                  </a:cubicBezTo>
                  <a:lnTo>
                    <a:pt x="0" y="29558"/>
                  </a:lnTo>
                  <a:cubicBezTo>
                    <a:pt x="0" y="13233"/>
                    <a:pt x="13233" y="0"/>
                    <a:pt x="29558" y="0"/>
                  </a:cubicBezTo>
                  <a:close/>
                </a:path>
              </a:pathLst>
            </a:custGeom>
            <a:blipFill>
              <a:blip r:embed="rId7"/>
              <a:stretch>
                <a:fillRect l="0" t="-4228" r="0" b="-4228"/>
              </a:stretch>
            </a:blipFill>
          </p:spPr>
        </p:sp>
      </p:grpSp>
      <p:sp>
        <p:nvSpPr>
          <p:cNvPr name="Freeform 7" id="7"/>
          <p:cNvSpPr/>
          <p:nvPr/>
        </p:nvSpPr>
        <p:spPr>
          <a:xfrm flipH="false" flipV="false" rot="0">
            <a:off x="17564138" y="2804348"/>
            <a:ext cx="2442286" cy="2000736"/>
          </a:xfrm>
          <a:custGeom>
            <a:avLst/>
            <a:gdLst/>
            <a:ahLst/>
            <a:cxnLst/>
            <a:rect r="r" b="b" t="t" l="l"/>
            <a:pathLst>
              <a:path h="2000736" w="2442286">
                <a:moveTo>
                  <a:pt x="0" y="0"/>
                </a:moveTo>
                <a:lnTo>
                  <a:pt x="2442286" y="0"/>
                </a:lnTo>
                <a:lnTo>
                  <a:pt x="2442286" y="2000736"/>
                </a:lnTo>
                <a:lnTo>
                  <a:pt x="0" y="20007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7564138" y="5071834"/>
            <a:ext cx="2442286" cy="3003103"/>
          </a:xfrm>
          <a:custGeom>
            <a:avLst/>
            <a:gdLst/>
            <a:ahLst/>
            <a:cxnLst/>
            <a:rect r="r" b="b" t="t" l="l"/>
            <a:pathLst>
              <a:path h="3003103" w="2442286">
                <a:moveTo>
                  <a:pt x="0" y="0"/>
                </a:moveTo>
                <a:lnTo>
                  <a:pt x="2442286" y="0"/>
                </a:lnTo>
                <a:lnTo>
                  <a:pt x="2442286" y="3003103"/>
                </a:lnTo>
                <a:lnTo>
                  <a:pt x="0" y="30031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1200208" y="1127446"/>
            <a:ext cx="9209475" cy="1245512"/>
          </a:xfrm>
          <a:prstGeom prst="rect">
            <a:avLst/>
          </a:prstGeom>
        </p:spPr>
        <p:txBody>
          <a:bodyPr anchor="t" rtlCol="false" tIns="0" lIns="0" bIns="0" rIns="0">
            <a:spAutoFit/>
          </a:bodyPr>
          <a:lstStyle/>
          <a:p>
            <a:pPr algn="ctr">
              <a:lnSpc>
                <a:spcPts val="10125"/>
              </a:lnSpc>
            </a:pPr>
            <a:r>
              <a:rPr lang="en-US" b="true" sz="7337">
                <a:solidFill>
                  <a:srgbClr val="FFFFFF"/>
                </a:solidFill>
                <a:latin typeface="Inter Bold"/>
                <a:ea typeface="Inter Bold"/>
                <a:cs typeface="Inter Bold"/>
                <a:sym typeface="Inter Bold"/>
              </a:rPr>
              <a:t>P</a:t>
            </a:r>
            <a:r>
              <a:rPr lang="en-US" b="true" sz="7337">
                <a:solidFill>
                  <a:srgbClr val="FFFFFF"/>
                </a:solidFill>
                <a:latin typeface="Inter Bold"/>
                <a:ea typeface="Inter Bold"/>
                <a:cs typeface="Inter Bold"/>
                <a:sym typeface="Inter Bold"/>
              </a:rPr>
              <a:t>ACRA Registration</a:t>
            </a:r>
          </a:p>
        </p:txBody>
      </p:sp>
      <p:sp>
        <p:nvSpPr>
          <p:cNvPr name="TextBox 10" id="10"/>
          <p:cNvSpPr txBox="true"/>
          <p:nvPr/>
        </p:nvSpPr>
        <p:spPr>
          <a:xfrm rot="0">
            <a:off x="5107374" y="3477631"/>
            <a:ext cx="4473254" cy="5170598"/>
          </a:xfrm>
          <a:prstGeom prst="rect">
            <a:avLst/>
          </a:prstGeom>
        </p:spPr>
        <p:txBody>
          <a:bodyPr anchor="t" rtlCol="false" tIns="0" lIns="0" bIns="0" rIns="0">
            <a:spAutoFit/>
          </a:bodyPr>
          <a:lstStyle/>
          <a:p>
            <a:pPr algn="l">
              <a:lnSpc>
                <a:spcPts val="3189"/>
              </a:lnSpc>
            </a:pPr>
            <a:r>
              <a:rPr lang="en-US" sz="1898">
                <a:solidFill>
                  <a:srgbClr val="292929"/>
                </a:solidFill>
                <a:latin typeface="Inter"/>
                <a:ea typeface="Inter"/>
                <a:cs typeface="Inter"/>
                <a:sym typeface="Inter"/>
              </a:rPr>
              <a:t>Ot</a:t>
            </a:r>
            <a:r>
              <a:rPr lang="en-US" sz="1898">
                <a:solidFill>
                  <a:srgbClr val="292929"/>
                </a:solidFill>
                <a:latin typeface="Inter"/>
                <a:ea typeface="Inter"/>
                <a:cs typeface="Inter"/>
                <a:sym typeface="Inter"/>
              </a:rPr>
              <a:t>rava Technologies is officially registered with the </a:t>
            </a:r>
            <a:r>
              <a:rPr lang="en-US" b="true" sz="1898">
                <a:solidFill>
                  <a:srgbClr val="292929"/>
                </a:solidFill>
                <a:latin typeface="Inter Bold"/>
                <a:ea typeface="Inter Bold"/>
                <a:cs typeface="Inter Bold"/>
                <a:sym typeface="Inter Bold"/>
              </a:rPr>
              <a:t>Patents and Companies Registration Agency (PACRA)</a:t>
            </a:r>
            <a:r>
              <a:rPr lang="en-US" sz="1898">
                <a:solidFill>
                  <a:srgbClr val="292929"/>
                </a:solidFill>
                <a:latin typeface="Inter"/>
                <a:ea typeface="Inter"/>
                <a:cs typeface="Inter"/>
                <a:sym typeface="Inter"/>
              </a:rPr>
              <a:t> of Zambia as a compliant and legally recognized business entity. This registration, secured on 3rd January 2024, affirms our commitment to operating with full transparency, accountability, and professionalism in the ICT sector. PACRA recognition ensures that our clients, partners, and stakeholders engage with a trusted and law-abiding company.</a:t>
            </a:r>
          </a:p>
        </p:txBody>
      </p:sp>
      <p:sp>
        <p:nvSpPr>
          <p:cNvPr name="TextBox 11" id="11"/>
          <p:cNvSpPr txBox="true"/>
          <p:nvPr/>
        </p:nvSpPr>
        <p:spPr>
          <a:xfrm rot="0">
            <a:off x="5165588" y="2490023"/>
            <a:ext cx="4203727" cy="1461127"/>
          </a:xfrm>
          <a:prstGeom prst="rect">
            <a:avLst/>
          </a:prstGeom>
        </p:spPr>
        <p:txBody>
          <a:bodyPr anchor="t" rtlCol="false" tIns="0" lIns="0" bIns="0" rIns="0">
            <a:spAutoFit/>
          </a:bodyPr>
          <a:lstStyle/>
          <a:p>
            <a:pPr algn="l">
              <a:lnSpc>
                <a:spcPts val="11262"/>
              </a:lnSpc>
            </a:pPr>
            <a:r>
              <a:rPr lang="en-US" sz="6703">
                <a:solidFill>
                  <a:srgbClr val="292929"/>
                </a:solidFill>
                <a:latin typeface="Inter"/>
                <a:ea typeface="Inter"/>
                <a:cs typeface="Inter"/>
                <a:sym typeface="Inter"/>
              </a:rPr>
              <a:t>“</a:t>
            </a:r>
          </a:p>
        </p:txBody>
      </p:sp>
      <p:sp>
        <p:nvSpPr>
          <p:cNvPr name="TextBox 12" id="12"/>
          <p:cNvSpPr txBox="true"/>
          <p:nvPr/>
        </p:nvSpPr>
        <p:spPr>
          <a:xfrm rot="0">
            <a:off x="677607" y="9470496"/>
            <a:ext cx="419288" cy="260377"/>
          </a:xfrm>
          <a:prstGeom prst="rect">
            <a:avLst/>
          </a:prstGeom>
        </p:spPr>
        <p:txBody>
          <a:bodyPr anchor="t" rtlCol="false" tIns="0" lIns="0" bIns="0" rIns="0">
            <a:spAutoFit/>
          </a:bodyPr>
          <a:lstStyle/>
          <a:p>
            <a:pPr algn="just">
              <a:lnSpc>
                <a:spcPts val="2014"/>
              </a:lnSpc>
            </a:pPr>
            <a:r>
              <a:rPr lang="en-US" sz="1200">
                <a:solidFill>
                  <a:srgbClr val="FFFFFF"/>
                </a:solidFill>
                <a:latin typeface="Arial MT Pro"/>
                <a:ea typeface="Arial MT Pro"/>
                <a:cs typeface="Arial MT Pro"/>
                <a:sym typeface="Arial MT Pro"/>
              </a:rPr>
              <a:t>18</a:t>
            </a:r>
          </a:p>
        </p:txBody>
      </p:sp>
      <p:sp>
        <p:nvSpPr>
          <p:cNvPr name="TextBox 13" id="13"/>
          <p:cNvSpPr txBox="true"/>
          <p:nvPr/>
        </p:nvSpPr>
        <p:spPr>
          <a:xfrm rot="0">
            <a:off x="1228783" y="590519"/>
            <a:ext cx="2369120"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TextBox 14" id="14"/>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
        <p:nvSpPr>
          <p:cNvPr name="Freeform 15" id="15"/>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12"/>
            <a:stretch>
              <a:fillRect l="0" t="0" r="0" b="0"/>
            </a:stretch>
          </a:blipFill>
        </p:spPr>
      </p:sp>
    </p:spTree>
  </p:cSld>
  <p:clrMapOvr>
    <a:masterClrMapping/>
  </p:clrMapOvr>
  <p:transition spd="slow">
    <p:push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Freeform 2" id="2"/>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2">
              <a:alphaModFix amt="5000"/>
            </a:blip>
            <a:stretch>
              <a:fillRect l="0" t="0" r="0" b="0"/>
            </a:stretch>
          </a:blipFill>
        </p:spPr>
      </p:sp>
      <p:sp>
        <p:nvSpPr>
          <p:cNvPr name="Freeform 3" id="3"/>
          <p:cNvSpPr/>
          <p:nvPr/>
        </p:nvSpPr>
        <p:spPr>
          <a:xfrm flipH="false" flipV="false" rot="0">
            <a:off x="4649679" y="2479048"/>
            <a:ext cx="5388645" cy="7077173"/>
          </a:xfrm>
          <a:custGeom>
            <a:avLst/>
            <a:gdLst/>
            <a:ahLst/>
            <a:cxnLst/>
            <a:rect r="r" b="b" t="t" l="l"/>
            <a:pathLst>
              <a:path h="7077173" w="5388645">
                <a:moveTo>
                  <a:pt x="0" y="0"/>
                </a:moveTo>
                <a:lnTo>
                  <a:pt x="5388644" y="0"/>
                </a:lnTo>
                <a:lnTo>
                  <a:pt x="5388644" y="7077173"/>
                </a:lnTo>
                <a:lnTo>
                  <a:pt x="0" y="70771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949072" y="1268687"/>
            <a:ext cx="6310228" cy="8287534"/>
          </a:xfrm>
          <a:custGeom>
            <a:avLst/>
            <a:gdLst/>
            <a:ahLst/>
            <a:cxnLst/>
            <a:rect r="r" b="b" t="t" l="l"/>
            <a:pathLst>
              <a:path h="8287534" w="6310228">
                <a:moveTo>
                  <a:pt x="0" y="0"/>
                </a:moveTo>
                <a:lnTo>
                  <a:pt x="6310228" y="0"/>
                </a:lnTo>
                <a:lnTo>
                  <a:pt x="6310228" y="8287534"/>
                </a:lnTo>
                <a:lnTo>
                  <a:pt x="0" y="82875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1091347" y="1564368"/>
            <a:ext cx="6024288" cy="7873743"/>
            <a:chOff x="0" y="0"/>
            <a:chExt cx="783089" cy="1023497"/>
          </a:xfrm>
        </p:grpSpPr>
        <p:sp>
          <p:nvSpPr>
            <p:cNvPr name="Freeform 6" id="6"/>
            <p:cNvSpPr/>
            <p:nvPr/>
          </p:nvSpPr>
          <p:spPr>
            <a:xfrm flipH="false" flipV="false" rot="0">
              <a:off x="0" y="0"/>
              <a:ext cx="783089" cy="1023497"/>
            </a:xfrm>
            <a:custGeom>
              <a:avLst/>
              <a:gdLst/>
              <a:ahLst/>
              <a:cxnLst/>
              <a:rect r="r" b="b" t="t" l="l"/>
              <a:pathLst>
                <a:path h="1023497" w="783089">
                  <a:moveTo>
                    <a:pt x="29558" y="0"/>
                  </a:moveTo>
                  <a:lnTo>
                    <a:pt x="753531" y="0"/>
                  </a:lnTo>
                  <a:cubicBezTo>
                    <a:pt x="769855" y="0"/>
                    <a:pt x="783089" y="13233"/>
                    <a:pt x="783089" y="29558"/>
                  </a:cubicBezTo>
                  <a:lnTo>
                    <a:pt x="783089" y="993939"/>
                  </a:lnTo>
                  <a:cubicBezTo>
                    <a:pt x="783089" y="1010263"/>
                    <a:pt x="769855" y="1023497"/>
                    <a:pt x="753531" y="1023497"/>
                  </a:cubicBezTo>
                  <a:lnTo>
                    <a:pt x="29558" y="1023497"/>
                  </a:lnTo>
                  <a:cubicBezTo>
                    <a:pt x="13233" y="1023497"/>
                    <a:pt x="0" y="1010263"/>
                    <a:pt x="0" y="993939"/>
                  </a:cubicBezTo>
                  <a:lnTo>
                    <a:pt x="0" y="29558"/>
                  </a:lnTo>
                  <a:cubicBezTo>
                    <a:pt x="0" y="13233"/>
                    <a:pt x="13233" y="0"/>
                    <a:pt x="29558" y="0"/>
                  </a:cubicBezTo>
                  <a:close/>
                </a:path>
              </a:pathLst>
            </a:custGeom>
            <a:blipFill>
              <a:blip r:embed="rId7"/>
              <a:stretch>
                <a:fillRect l="0" t="-4228" r="0" b="-4228"/>
              </a:stretch>
            </a:blipFill>
          </p:spPr>
        </p:sp>
      </p:grpSp>
      <p:sp>
        <p:nvSpPr>
          <p:cNvPr name="Freeform 7" id="7"/>
          <p:cNvSpPr/>
          <p:nvPr/>
        </p:nvSpPr>
        <p:spPr>
          <a:xfrm flipH="false" flipV="false" rot="0">
            <a:off x="17564138" y="2804348"/>
            <a:ext cx="2442286" cy="2000736"/>
          </a:xfrm>
          <a:custGeom>
            <a:avLst/>
            <a:gdLst/>
            <a:ahLst/>
            <a:cxnLst/>
            <a:rect r="r" b="b" t="t" l="l"/>
            <a:pathLst>
              <a:path h="2000736" w="2442286">
                <a:moveTo>
                  <a:pt x="0" y="0"/>
                </a:moveTo>
                <a:lnTo>
                  <a:pt x="2442286" y="0"/>
                </a:lnTo>
                <a:lnTo>
                  <a:pt x="2442286" y="2000736"/>
                </a:lnTo>
                <a:lnTo>
                  <a:pt x="0" y="20007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7564138" y="5071834"/>
            <a:ext cx="2442286" cy="3003103"/>
          </a:xfrm>
          <a:custGeom>
            <a:avLst/>
            <a:gdLst/>
            <a:ahLst/>
            <a:cxnLst/>
            <a:rect r="r" b="b" t="t" l="l"/>
            <a:pathLst>
              <a:path h="3003103" w="2442286">
                <a:moveTo>
                  <a:pt x="0" y="0"/>
                </a:moveTo>
                <a:lnTo>
                  <a:pt x="2442286" y="0"/>
                </a:lnTo>
                <a:lnTo>
                  <a:pt x="2442286" y="3003103"/>
                </a:lnTo>
                <a:lnTo>
                  <a:pt x="0" y="30031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1228783" y="1135337"/>
            <a:ext cx="7704602" cy="1245512"/>
          </a:xfrm>
          <a:prstGeom prst="rect">
            <a:avLst/>
          </a:prstGeom>
        </p:spPr>
        <p:txBody>
          <a:bodyPr anchor="t" rtlCol="false" tIns="0" lIns="0" bIns="0" rIns="0">
            <a:spAutoFit/>
          </a:bodyPr>
          <a:lstStyle/>
          <a:p>
            <a:pPr algn="ctr">
              <a:lnSpc>
                <a:spcPts val="10125"/>
              </a:lnSpc>
            </a:pPr>
            <a:r>
              <a:rPr lang="en-US" b="true" sz="7337">
                <a:solidFill>
                  <a:srgbClr val="FFFFFF"/>
                </a:solidFill>
                <a:latin typeface="Inter Bold"/>
                <a:ea typeface="Inter Bold"/>
                <a:cs typeface="Inter Bold"/>
                <a:sym typeface="Inter Bold"/>
              </a:rPr>
              <a:t>Z</a:t>
            </a:r>
            <a:r>
              <a:rPr lang="en-US" b="true" sz="7337">
                <a:solidFill>
                  <a:srgbClr val="FFFFFF"/>
                </a:solidFill>
                <a:latin typeface="Inter Bold"/>
                <a:ea typeface="Inter Bold"/>
                <a:cs typeface="Inter Bold"/>
                <a:sym typeface="Inter Bold"/>
              </a:rPr>
              <a:t>RA Compliance</a:t>
            </a:r>
          </a:p>
        </p:txBody>
      </p:sp>
      <p:sp>
        <p:nvSpPr>
          <p:cNvPr name="TextBox 10" id="10"/>
          <p:cNvSpPr txBox="true"/>
          <p:nvPr/>
        </p:nvSpPr>
        <p:spPr>
          <a:xfrm rot="0">
            <a:off x="5107374" y="3477631"/>
            <a:ext cx="4473254" cy="5170598"/>
          </a:xfrm>
          <a:prstGeom prst="rect">
            <a:avLst/>
          </a:prstGeom>
        </p:spPr>
        <p:txBody>
          <a:bodyPr anchor="t" rtlCol="false" tIns="0" lIns="0" bIns="0" rIns="0">
            <a:spAutoFit/>
          </a:bodyPr>
          <a:lstStyle/>
          <a:p>
            <a:pPr algn="l">
              <a:lnSpc>
                <a:spcPts val="3189"/>
              </a:lnSpc>
            </a:pPr>
            <a:r>
              <a:rPr lang="en-US" sz="1898">
                <a:solidFill>
                  <a:srgbClr val="292929"/>
                </a:solidFill>
                <a:latin typeface="Inter"/>
                <a:ea typeface="Inter"/>
                <a:cs typeface="Inter"/>
                <a:sym typeface="Inter"/>
              </a:rPr>
              <a:t>Ot</a:t>
            </a:r>
            <a:r>
              <a:rPr lang="en-US" sz="1898">
                <a:solidFill>
                  <a:srgbClr val="292929"/>
                </a:solidFill>
                <a:latin typeface="Inter"/>
                <a:ea typeface="Inter"/>
                <a:cs typeface="Inter"/>
                <a:sym typeface="Inter"/>
              </a:rPr>
              <a:t>rava Technologies is fully compliant with the </a:t>
            </a:r>
            <a:r>
              <a:rPr lang="en-US" b="true" sz="1898">
                <a:solidFill>
                  <a:srgbClr val="292929"/>
                </a:solidFill>
                <a:latin typeface="Inter Bold"/>
                <a:ea typeface="Inter Bold"/>
                <a:cs typeface="Inter Bold"/>
                <a:sym typeface="Inter Bold"/>
              </a:rPr>
              <a:t>Zambia Revenue Authority (ZRA)</a:t>
            </a:r>
            <a:r>
              <a:rPr lang="en-US" sz="1898">
                <a:solidFill>
                  <a:srgbClr val="292929"/>
                </a:solidFill>
                <a:latin typeface="Inter"/>
                <a:ea typeface="Inter"/>
                <a:cs typeface="Inter"/>
                <a:sym typeface="Inter"/>
              </a:rPr>
              <a:t> and op</a:t>
            </a:r>
            <a:r>
              <a:rPr lang="en-US" sz="1898">
                <a:solidFill>
                  <a:srgbClr val="292929"/>
                </a:solidFill>
                <a:latin typeface="Inter"/>
                <a:ea typeface="Inter"/>
                <a:cs typeface="Inter"/>
                <a:sym typeface="Inter"/>
              </a:rPr>
              <a:t>er</a:t>
            </a:r>
            <a:r>
              <a:rPr lang="en-US" sz="1898">
                <a:solidFill>
                  <a:srgbClr val="292929"/>
                </a:solidFill>
                <a:latin typeface="Inter"/>
                <a:ea typeface="Inter"/>
                <a:cs typeface="Inter"/>
                <a:sym typeface="Inter"/>
              </a:rPr>
              <a:t>a</a:t>
            </a:r>
            <a:r>
              <a:rPr lang="en-US" sz="1898">
                <a:solidFill>
                  <a:srgbClr val="292929"/>
                </a:solidFill>
                <a:latin typeface="Inter"/>
                <a:ea typeface="Inter"/>
                <a:cs typeface="Inter"/>
                <a:sym typeface="Inter"/>
              </a:rPr>
              <a:t>tes u</a:t>
            </a:r>
            <a:r>
              <a:rPr lang="en-US" sz="1898">
                <a:solidFill>
                  <a:srgbClr val="292929"/>
                </a:solidFill>
                <a:latin typeface="Inter"/>
                <a:ea typeface="Inter"/>
                <a:cs typeface="Inter"/>
                <a:sym typeface="Inter"/>
              </a:rPr>
              <a:t>n</a:t>
            </a:r>
            <a:r>
              <a:rPr lang="en-US" sz="1898">
                <a:solidFill>
                  <a:srgbClr val="292929"/>
                </a:solidFill>
                <a:latin typeface="Inter"/>
                <a:ea typeface="Inter"/>
                <a:cs typeface="Inter"/>
                <a:sym typeface="Inter"/>
              </a:rPr>
              <a:t>der an act</a:t>
            </a:r>
            <a:r>
              <a:rPr lang="en-US" sz="1898">
                <a:solidFill>
                  <a:srgbClr val="292929"/>
                </a:solidFill>
                <a:latin typeface="Inter"/>
                <a:ea typeface="Inter"/>
                <a:cs typeface="Inter"/>
                <a:sym typeface="Inter"/>
              </a:rPr>
              <a:t>i</a:t>
            </a:r>
            <a:r>
              <a:rPr lang="en-US" sz="1898">
                <a:solidFill>
                  <a:srgbClr val="292929"/>
                </a:solidFill>
                <a:latin typeface="Inter"/>
                <a:ea typeface="Inter"/>
                <a:cs typeface="Inter"/>
                <a:sym typeface="Inter"/>
              </a:rPr>
              <a:t>v</a:t>
            </a:r>
            <a:r>
              <a:rPr lang="en-US" sz="1898">
                <a:solidFill>
                  <a:srgbClr val="292929"/>
                </a:solidFill>
                <a:latin typeface="Inter"/>
                <a:ea typeface="Inter"/>
                <a:cs typeface="Inter"/>
                <a:sym typeface="Inter"/>
              </a:rPr>
              <a:t>e </a:t>
            </a:r>
            <a:r>
              <a:rPr lang="en-US" b="true" sz="1898">
                <a:solidFill>
                  <a:srgbClr val="292929"/>
                </a:solidFill>
                <a:latin typeface="Inter Bold"/>
                <a:ea typeface="Inter Bold"/>
                <a:cs typeface="Inter Bold"/>
                <a:sym typeface="Inter Bold"/>
              </a:rPr>
              <a:t>Taxpayer Identification Number (TPIN)</a:t>
            </a:r>
            <a:r>
              <a:rPr lang="en-US" sz="1898">
                <a:solidFill>
                  <a:srgbClr val="292929"/>
                </a:solidFill>
                <a:latin typeface="Inter"/>
                <a:ea typeface="Inter"/>
                <a:cs typeface="Inter"/>
                <a:sym typeface="Inter"/>
              </a:rPr>
              <a:t>. Our tax compliance reflects our dedication to ethical business practices and strengthens our credibility with clients, partners, and regulatory authorities. By adhering to ZRA requirements, we assure all stakeholders of our integrity, responsibility, and long-term sustainability as a business.</a:t>
            </a:r>
          </a:p>
        </p:txBody>
      </p:sp>
      <p:sp>
        <p:nvSpPr>
          <p:cNvPr name="TextBox 11" id="11"/>
          <p:cNvSpPr txBox="true"/>
          <p:nvPr/>
        </p:nvSpPr>
        <p:spPr>
          <a:xfrm rot="0">
            <a:off x="5165588" y="2490023"/>
            <a:ext cx="4203727" cy="1461127"/>
          </a:xfrm>
          <a:prstGeom prst="rect">
            <a:avLst/>
          </a:prstGeom>
        </p:spPr>
        <p:txBody>
          <a:bodyPr anchor="t" rtlCol="false" tIns="0" lIns="0" bIns="0" rIns="0">
            <a:spAutoFit/>
          </a:bodyPr>
          <a:lstStyle/>
          <a:p>
            <a:pPr algn="l">
              <a:lnSpc>
                <a:spcPts val="11262"/>
              </a:lnSpc>
            </a:pPr>
            <a:r>
              <a:rPr lang="en-US" sz="6703">
                <a:solidFill>
                  <a:srgbClr val="292929"/>
                </a:solidFill>
                <a:latin typeface="Inter"/>
                <a:ea typeface="Inter"/>
                <a:cs typeface="Inter"/>
                <a:sym typeface="Inter"/>
              </a:rPr>
              <a:t>“</a:t>
            </a:r>
          </a:p>
        </p:txBody>
      </p:sp>
      <p:sp>
        <p:nvSpPr>
          <p:cNvPr name="TextBox 12" id="12"/>
          <p:cNvSpPr txBox="true"/>
          <p:nvPr/>
        </p:nvSpPr>
        <p:spPr>
          <a:xfrm rot="0">
            <a:off x="677607" y="9470496"/>
            <a:ext cx="419288" cy="260377"/>
          </a:xfrm>
          <a:prstGeom prst="rect">
            <a:avLst/>
          </a:prstGeom>
        </p:spPr>
        <p:txBody>
          <a:bodyPr anchor="t" rtlCol="false" tIns="0" lIns="0" bIns="0" rIns="0">
            <a:spAutoFit/>
          </a:bodyPr>
          <a:lstStyle/>
          <a:p>
            <a:pPr algn="just">
              <a:lnSpc>
                <a:spcPts val="2014"/>
              </a:lnSpc>
            </a:pPr>
            <a:r>
              <a:rPr lang="en-US" sz="1200">
                <a:solidFill>
                  <a:srgbClr val="FFFFFF"/>
                </a:solidFill>
                <a:latin typeface="Arial MT Pro"/>
                <a:ea typeface="Arial MT Pro"/>
                <a:cs typeface="Arial MT Pro"/>
                <a:sym typeface="Arial MT Pro"/>
              </a:rPr>
              <a:t>19</a:t>
            </a:r>
          </a:p>
        </p:txBody>
      </p:sp>
      <p:sp>
        <p:nvSpPr>
          <p:cNvPr name="TextBox 13" id="13"/>
          <p:cNvSpPr txBox="true"/>
          <p:nvPr/>
        </p:nvSpPr>
        <p:spPr>
          <a:xfrm rot="0">
            <a:off x="1228783" y="590519"/>
            <a:ext cx="2369120"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
        <p:nvSpPr>
          <p:cNvPr name="TextBox 14" id="14"/>
          <p:cNvSpPr txBox="true"/>
          <p:nvPr/>
        </p:nvSpPr>
        <p:spPr>
          <a:xfrm rot="0">
            <a:off x="14549013" y="817756"/>
            <a:ext cx="3213781" cy="196343"/>
          </a:xfrm>
          <a:prstGeom prst="rect">
            <a:avLst/>
          </a:prstGeom>
        </p:spPr>
        <p:txBody>
          <a:bodyPr anchor="t" rtlCol="false" tIns="0" lIns="0" bIns="0" rIns="0">
            <a:spAutoFit/>
          </a:bodyPr>
          <a:lstStyle/>
          <a:p>
            <a:pPr algn="r">
              <a:lnSpc>
                <a:spcPts val="1679"/>
              </a:lnSpc>
            </a:pPr>
            <a:r>
              <a:rPr lang="en-US" sz="1000">
                <a:solidFill>
                  <a:srgbClr val="FFFFFF"/>
                </a:solidFill>
                <a:latin typeface="Inter Light"/>
                <a:ea typeface="Inter Light"/>
                <a:cs typeface="Inter Light"/>
                <a:sym typeface="Inter Light"/>
              </a:rPr>
              <a:t>INNOVATE. DE</a:t>
            </a:r>
            <a:r>
              <a:rPr lang="en-US" sz="1000">
                <a:solidFill>
                  <a:srgbClr val="FFFFFF"/>
                </a:solidFill>
                <a:latin typeface="Inter Light"/>
                <a:ea typeface="Inter Light"/>
                <a:cs typeface="Inter Light"/>
                <a:sym typeface="Inter Light"/>
              </a:rPr>
              <a:t>SIGN. EMPOWER WITH TECHNOLOGY</a:t>
            </a:r>
          </a:p>
        </p:txBody>
      </p:sp>
      <p:sp>
        <p:nvSpPr>
          <p:cNvPr name="Freeform 15" id="15"/>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12"/>
            <a:stretch>
              <a:fillRect l="0" t="0" r="0" b="0"/>
            </a:stretch>
          </a:blipFill>
        </p:spPr>
      </p:sp>
    </p:spTree>
  </p:cSld>
  <p:clrMapOvr>
    <a:masterClrMapping/>
  </p:clrMapOvr>
  <p:transition spd="slow">
    <p:push dir="l"/>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grpSp>
        <p:nvGrpSpPr>
          <p:cNvPr name="Group 2" id="2"/>
          <p:cNvGrpSpPr/>
          <p:nvPr/>
        </p:nvGrpSpPr>
        <p:grpSpPr>
          <a:xfrm rot="0">
            <a:off x="15790857" y="7701304"/>
            <a:ext cx="1491127" cy="1491127"/>
            <a:chOff x="0" y="0"/>
            <a:chExt cx="1988169" cy="1988169"/>
          </a:xfrm>
        </p:grpSpPr>
        <p:sp>
          <p:nvSpPr>
            <p:cNvPr name="Freeform 3" id="3"/>
            <p:cNvSpPr/>
            <p:nvPr/>
          </p:nvSpPr>
          <p:spPr>
            <a:xfrm flipH="false" flipV="false" rot="0">
              <a:off x="0" y="0"/>
              <a:ext cx="1988185" cy="1988185"/>
            </a:xfrm>
            <a:custGeom>
              <a:avLst/>
              <a:gdLst/>
              <a:ahLst/>
              <a:cxnLst/>
              <a:rect r="r" b="b" t="t" l="l"/>
              <a:pathLst>
                <a:path h="1988185" w="1988185">
                  <a:moveTo>
                    <a:pt x="0" y="0"/>
                  </a:moveTo>
                  <a:lnTo>
                    <a:pt x="1988185" y="0"/>
                  </a:lnTo>
                  <a:lnTo>
                    <a:pt x="1988185" y="1988185"/>
                  </a:lnTo>
                  <a:lnTo>
                    <a:pt x="0" y="1988185"/>
                  </a:lnTo>
                  <a:lnTo>
                    <a:pt x="0" y="0"/>
                  </a:lnTo>
                  <a:close/>
                </a:path>
              </a:pathLst>
            </a:custGeom>
            <a:blipFill>
              <a:blip r:embed="rId2"/>
              <a:stretch>
                <a:fillRect l="0" t="0" r="0" b="0"/>
              </a:stretch>
            </a:blipFill>
          </p:spPr>
        </p:sp>
      </p:grpSp>
      <p:grpSp>
        <p:nvGrpSpPr>
          <p:cNvPr name="Group 4" id="4"/>
          <p:cNvGrpSpPr/>
          <p:nvPr/>
        </p:nvGrpSpPr>
        <p:grpSpPr>
          <a:xfrm rot="-5400000">
            <a:off x="14678067" y="8079640"/>
            <a:ext cx="1481721" cy="743860"/>
            <a:chOff x="0" y="0"/>
            <a:chExt cx="1975628" cy="991813"/>
          </a:xfrm>
        </p:grpSpPr>
        <p:sp>
          <p:nvSpPr>
            <p:cNvPr name="Freeform 5" id="5"/>
            <p:cNvSpPr/>
            <p:nvPr/>
          </p:nvSpPr>
          <p:spPr>
            <a:xfrm flipH="false" flipV="false" rot="0">
              <a:off x="0" y="0"/>
              <a:ext cx="1975612" cy="991870"/>
            </a:xfrm>
            <a:custGeom>
              <a:avLst/>
              <a:gdLst/>
              <a:ahLst/>
              <a:cxnLst/>
              <a:rect r="r" b="b" t="t" l="l"/>
              <a:pathLst>
                <a:path h="991870" w="1975612">
                  <a:moveTo>
                    <a:pt x="0" y="0"/>
                  </a:moveTo>
                  <a:lnTo>
                    <a:pt x="1975612" y="0"/>
                  </a:lnTo>
                  <a:lnTo>
                    <a:pt x="1975612" y="991870"/>
                  </a:lnTo>
                  <a:lnTo>
                    <a:pt x="0" y="991870"/>
                  </a:lnTo>
                  <a:lnTo>
                    <a:pt x="0" y="0"/>
                  </a:lnTo>
                  <a:close/>
                </a:path>
              </a:pathLst>
            </a:custGeom>
            <a:blipFill>
              <a:blip r:embed="rId3"/>
              <a:stretch>
                <a:fillRect l="0" t="-33" r="0" b="-28"/>
              </a:stretch>
            </a:blipFill>
          </p:spPr>
        </p:sp>
      </p:grpSp>
      <p:sp>
        <p:nvSpPr>
          <p:cNvPr name="Freeform 6" id="6"/>
          <p:cNvSpPr/>
          <p:nvPr/>
        </p:nvSpPr>
        <p:spPr>
          <a:xfrm flipH="false" flipV="false" rot="0">
            <a:off x="552700" y="-533723"/>
            <a:ext cx="11758272" cy="11758272"/>
          </a:xfrm>
          <a:custGeom>
            <a:avLst/>
            <a:gdLst/>
            <a:ahLst/>
            <a:cxnLst/>
            <a:rect r="r" b="b" t="t" l="l"/>
            <a:pathLst>
              <a:path h="11758272" w="11758272">
                <a:moveTo>
                  <a:pt x="0" y="0"/>
                </a:moveTo>
                <a:lnTo>
                  <a:pt x="11758272" y="0"/>
                </a:lnTo>
                <a:lnTo>
                  <a:pt x="11758272" y="11758272"/>
                </a:lnTo>
                <a:lnTo>
                  <a:pt x="0" y="11758272"/>
                </a:lnTo>
                <a:lnTo>
                  <a:pt x="0" y="0"/>
                </a:lnTo>
                <a:close/>
              </a:path>
            </a:pathLst>
          </a:custGeom>
          <a:blipFill>
            <a:blip r:embed="rId4">
              <a:alphaModFix amt="5000"/>
            </a:blip>
            <a:stretch>
              <a:fillRect l="0" t="0" r="0" b="0"/>
            </a:stretch>
          </a:blipFill>
        </p:spPr>
      </p:sp>
      <p:grpSp>
        <p:nvGrpSpPr>
          <p:cNvPr name="Group 7" id="7"/>
          <p:cNvGrpSpPr/>
          <p:nvPr/>
        </p:nvGrpSpPr>
        <p:grpSpPr>
          <a:xfrm rot="0">
            <a:off x="1314904" y="5504562"/>
            <a:ext cx="9902975" cy="2942306"/>
            <a:chOff x="0" y="0"/>
            <a:chExt cx="13203967" cy="3923074"/>
          </a:xfrm>
        </p:grpSpPr>
        <p:grpSp>
          <p:nvGrpSpPr>
            <p:cNvPr name="Group 8" id="8"/>
            <p:cNvGrpSpPr/>
            <p:nvPr/>
          </p:nvGrpSpPr>
          <p:grpSpPr>
            <a:xfrm rot="0">
              <a:off x="0" y="0"/>
              <a:ext cx="13203967" cy="3923074"/>
              <a:chOff x="0" y="0"/>
              <a:chExt cx="2608191" cy="774928"/>
            </a:xfrm>
          </p:grpSpPr>
          <p:sp>
            <p:nvSpPr>
              <p:cNvPr name="Freeform 9" id="9"/>
              <p:cNvSpPr/>
              <p:nvPr/>
            </p:nvSpPr>
            <p:spPr>
              <a:xfrm flipH="false" flipV="false" rot="0">
                <a:off x="0" y="0"/>
                <a:ext cx="2608191" cy="774928"/>
              </a:xfrm>
              <a:custGeom>
                <a:avLst/>
                <a:gdLst/>
                <a:ahLst/>
                <a:cxnLst/>
                <a:rect r="r" b="b" t="t" l="l"/>
                <a:pathLst>
                  <a:path h="774928" w="2608191">
                    <a:moveTo>
                      <a:pt x="22672" y="0"/>
                    </a:moveTo>
                    <a:lnTo>
                      <a:pt x="2585520" y="0"/>
                    </a:lnTo>
                    <a:cubicBezTo>
                      <a:pt x="2591532" y="0"/>
                      <a:pt x="2597299" y="2389"/>
                      <a:pt x="2601551" y="6640"/>
                    </a:cubicBezTo>
                    <a:cubicBezTo>
                      <a:pt x="2605802" y="10892"/>
                      <a:pt x="2608191" y="16659"/>
                      <a:pt x="2608191" y="22672"/>
                    </a:cubicBezTo>
                    <a:lnTo>
                      <a:pt x="2608191" y="752257"/>
                    </a:lnTo>
                    <a:cubicBezTo>
                      <a:pt x="2608191" y="764778"/>
                      <a:pt x="2598041" y="774928"/>
                      <a:pt x="2585520" y="774928"/>
                    </a:cubicBezTo>
                    <a:lnTo>
                      <a:pt x="22672" y="774928"/>
                    </a:lnTo>
                    <a:cubicBezTo>
                      <a:pt x="10150" y="774928"/>
                      <a:pt x="0" y="764778"/>
                      <a:pt x="0" y="752257"/>
                    </a:cubicBezTo>
                    <a:lnTo>
                      <a:pt x="0" y="22672"/>
                    </a:lnTo>
                    <a:cubicBezTo>
                      <a:pt x="0" y="10150"/>
                      <a:pt x="10150" y="0"/>
                      <a:pt x="22672" y="0"/>
                    </a:cubicBezTo>
                    <a:close/>
                  </a:path>
                </a:pathLst>
              </a:custGeom>
              <a:solidFill>
                <a:srgbClr val="555555"/>
              </a:solidFill>
            </p:spPr>
          </p:sp>
          <p:sp>
            <p:nvSpPr>
              <p:cNvPr name="TextBox 10" id="10"/>
              <p:cNvSpPr txBox="true"/>
              <p:nvPr/>
            </p:nvSpPr>
            <p:spPr>
              <a:xfrm>
                <a:off x="0" y="-85725"/>
                <a:ext cx="2608191" cy="860653"/>
              </a:xfrm>
              <a:prstGeom prst="rect">
                <a:avLst/>
              </a:prstGeom>
            </p:spPr>
            <p:txBody>
              <a:bodyPr anchor="ctr" rtlCol="false" tIns="50800" lIns="50800" bIns="50800" rIns="50800"/>
              <a:lstStyle/>
              <a:p>
                <a:pPr algn="ctr">
                  <a:lnSpc>
                    <a:spcPts val="2825"/>
                  </a:lnSpc>
                </a:pPr>
              </a:p>
            </p:txBody>
          </p:sp>
        </p:grpSp>
        <p:sp>
          <p:nvSpPr>
            <p:cNvPr name="TextBox 11" id="11"/>
            <p:cNvSpPr txBox="true"/>
            <p:nvPr/>
          </p:nvSpPr>
          <p:spPr>
            <a:xfrm rot="0">
              <a:off x="412984" y="1031048"/>
              <a:ext cx="12632000" cy="2479421"/>
            </a:xfrm>
            <a:prstGeom prst="rect">
              <a:avLst/>
            </a:prstGeom>
          </p:spPr>
          <p:txBody>
            <a:bodyPr anchor="t" rtlCol="false" tIns="0" lIns="0" bIns="0" rIns="0">
              <a:spAutoFit/>
            </a:bodyPr>
            <a:lstStyle/>
            <a:p>
              <a:pPr algn="l">
                <a:lnSpc>
                  <a:spcPts val="3024"/>
                </a:lnSpc>
              </a:pPr>
              <a:r>
                <a:rPr lang="en-US" sz="1800">
                  <a:solidFill>
                    <a:srgbClr val="FFFFFF"/>
                  </a:solidFill>
                  <a:latin typeface="Inter"/>
                  <a:ea typeface="Inter"/>
                  <a:cs typeface="Inter"/>
                  <a:sym typeface="Inter"/>
                </a:rPr>
                <a:t>At Otrava Techn</a:t>
              </a:r>
              <a:r>
                <a:rPr lang="en-US" sz="1800">
                  <a:solidFill>
                    <a:srgbClr val="FFFFFF"/>
                  </a:solidFill>
                  <a:latin typeface="Inter"/>
                  <a:ea typeface="Inter"/>
                  <a:cs typeface="Inter"/>
                  <a:sym typeface="Inter"/>
                </a:rPr>
                <a:t>ologies, we believe in creating impact through technology that empowers, innovates, and includes. Thank you for taking the time to learn more about who we are and what we stand for. We look forward to building lasting partnerships, delivering transformative ICT solutions, and shaping a smarter, more inclusive digital future together.</a:t>
              </a:r>
            </a:p>
          </p:txBody>
        </p:sp>
        <p:sp>
          <p:nvSpPr>
            <p:cNvPr name="TextBox 12" id="12"/>
            <p:cNvSpPr txBox="true"/>
            <p:nvPr/>
          </p:nvSpPr>
          <p:spPr>
            <a:xfrm rot="0">
              <a:off x="412984" y="481147"/>
              <a:ext cx="6778400" cy="302358"/>
            </a:xfrm>
            <a:prstGeom prst="rect">
              <a:avLst/>
            </a:prstGeom>
          </p:spPr>
          <p:txBody>
            <a:bodyPr anchor="t" rtlCol="false" tIns="0" lIns="0" bIns="0" rIns="0">
              <a:spAutoFit/>
            </a:bodyPr>
            <a:lstStyle/>
            <a:p>
              <a:pPr algn="l">
                <a:lnSpc>
                  <a:spcPts val="1259"/>
                </a:lnSpc>
              </a:pPr>
              <a:r>
                <a:rPr lang="en-US" b="true" sz="2100">
                  <a:solidFill>
                    <a:srgbClr val="FFFFFF"/>
                  </a:solidFill>
                  <a:latin typeface="Inter Bold"/>
                  <a:ea typeface="Inter Bold"/>
                  <a:cs typeface="Inter Bold"/>
                  <a:sym typeface="Inter Bold"/>
                </a:rPr>
                <a:t>Th</a:t>
              </a:r>
              <a:r>
                <a:rPr lang="en-US" b="true" sz="2100">
                  <a:solidFill>
                    <a:srgbClr val="FFFFFF"/>
                  </a:solidFill>
                  <a:latin typeface="Inter Bold"/>
                  <a:ea typeface="Inter Bold"/>
                  <a:cs typeface="Inter Bold"/>
                  <a:sym typeface="Inter Bold"/>
                </a:rPr>
                <a:t>ank You</a:t>
              </a:r>
            </a:p>
          </p:txBody>
        </p:sp>
      </p:grpSp>
      <p:sp>
        <p:nvSpPr>
          <p:cNvPr name="Freeform 13" id="13"/>
          <p:cNvSpPr/>
          <p:nvPr/>
        </p:nvSpPr>
        <p:spPr>
          <a:xfrm flipH="false" flipV="false" rot="0">
            <a:off x="12799912" y="-55752"/>
            <a:ext cx="5553879" cy="10342752"/>
          </a:xfrm>
          <a:custGeom>
            <a:avLst/>
            <a:gdLst/>
            <a:ahLst/>
            <a:cxnLst/>
            <a:rect r="r" b="b" t="t" l="l"/>
            <a:pathLst>
              <a:path h="10342752" w="5553879">
                <a:moveTo>
                  <a:pt x="0" y="0"/>
                </a:moveTo>
                <a:lnTo>
                  <a:pt x="5553879" y="0"/>
                </a:lnTo>
                <a:lnTo>
                  <a:pt x="5553879" y="10342752"/>
                </a:lnTo>
                <a:lnTo>
                  <a:pt x="0" y="10342752"/>
                </a:lnTo>
                <a:lnTo>
                  <a:pt x="0" y="0"/>
                </a:lnTo>
                <a:close/>
              </a:path>
            </a:pathLst>
          </a:custGeom>
          <a:blipFill>
            <a:blip r:embed="rId5"/>
            <a:stretch>
              <a:fillRect l="-253255" t="-17770" r="-79666" b="0"/>
            </a:stretch>
          </a:blipFill>
        </p:spPr>
      </p:sp>
      <p:grpSp>
        <p:nvGrpSpPr>
          <p:cNvPr name="Group 14" id="14"/>
          <p:cNvGrpSpPr/>
          <p:nvPr/>
        </p:nvGrpSpPr>
        <p:grpSpPr>
          <a:xfrm rot="0">
            <a:off x="6625402" y="2355688"/>
            <a:ext cx="4552359" cy="2114631"/>
            <a:chOff x="0" y="0"/>
            <a:chExt cx="1199017" cy="556790"/>
          </a:xfrm>
        </p:grpSpPr>
        <p:sp>
          <p:nvSpPr>
            <p:cNvPr name="Freeform 15" id="15"/>
            <p:cNvSpPr/>
            <p:nvPr/>
          </p:nvSpPr>
          <p:spPr>
            <a:xfrm flipH="false" flipV="false" rot="0">
              <a:off x="0" y="0"/>
              <a:ext cx="1199017" cy="556790"/>
            </a:xfrm>
            <a:custGeom>
              <a:avLst/>
              <a:gdLst/>
              <a:ahLst/>
              <a:cxnLst/>
              <a:rect r="r" b="b" t="t" l="l"/>
              <a:pathLst>
                <a:path h="556790" w="1199017">
                  <a:moveTo>
                    <a:pt x="1199017" y="56121"/>
                  </a:moveTo>
                  <a:lnTo>
                    <a:pt x="1199017" y="500669"/>
                  </a:lnTo>
                  <a:cubicBezTo>
                    <a:pt x="1199017" y="515553"/>
                    <a:pt x="1193104" y="529828"/>
                    <a:pt x="1182579" y="540352"/>
                  </a:cubicBezTo>
                  <a:cubicBezTo>
                    <a:pt x="1172055" y="550877"/>
                    <a:pt x="1157780" y="556790"/>
                    <a:pt x="1142896" y="556790"/>
                  </a:cubicBezTo>
                  <a:lnTo>
                    <a:pt x="56121" y="556790"/>
                  </a:lnTo>
                  <a:cubicBezTo>
                    <a:pt x="25126" y="556790"/>
                    <a:pt x="0" y="531664"/>
                    <a:pt x="0" y="500669"/>
                  </a:cubicBezTo>
                  <a:lnTo>
                    <a:pt x="0" y="56121"/>
                  </a:lnTo>
                  <a:cubicBezTo>
                    <a:pt x="0" y="25126"/>
                    <a:pt x="25126" y="0"/>
                    <a:pt x="56121" y="0"/>
                  </a:cubicBezTo>
                  <a:lnTo>
                    <a:pt x="1142896" y="0"/>
                  </a:lnTo>
                  <a:cubicBezTo>
                    <a:pt x="1173891" y="0"/>
                    <a:pt x="1199017" y="25126"/>
                    <a:pt x="1199017" y="56121"/>
                  </a:cubicBezTo>
                  <a:close/>
                </a:path>
              </a:pathLst>
            </a:custGeom>
            <a:solidFill>
              <a:srgbClr val="FFFFFF"/>
            </a:solidFill>
          </p:spPr>
        </p:sp>
        <p:sp>
          <p:nvSpPr>
            <p:cNvPr name="TextBox 16" id="16"/>
            <p:cNvSpPr txBox="true"/>
            <p:nvPr/>
          </p:nvSpPr>
          <p:spPr>
            <a:xfrm>
              <a:off x="0" y="-85725"/>
              <a:ext cx="1199017" cy="642515"/>
            </a:xfrm>
            <a:prstGeom prst="rect">
              <a:avLst/>
            </a:prstGeom>
          </p:spPr>
          <p:txBody>
            <a:bodyPr anchor="ctr" rtlCol="false" tIns="50800" lIns="50800" bIns="50800" rIns="50800"/>
            <a:lstStyle/>
            <a:p>
              <a:pPr algn="ctr">
                <a:lnSpc>
                  <a:spcPts val="2825"/>
                </a:lnSpc>
              </a:pPr>
            </a:p>
          </p:txBody>
        </p:sp>
      </p:grpSp>
      <p:grpSp>
        <p:nvGrpSpPr>
          <p:cNvPr name="Group 17" id="17"/>
          <p:cNvGrpSpPr/>
          <p:nvPr/>
        </p:nvGrpSpPr>
        <p:grpSpPr>
          <a:xfrm rot="0">
            <a:off x="6843409" y="2576926"/>
            <a:ext cx="4374470" cy="1672155"/>
            <a:chOff x="0" y="0"/>
            <a:chExt cx="5832626" cy="2229540"/>
          </a:xfrm>
        </p:grpSpPr>
        <p:sp>
          <p:nvSpPr>
            <p:cNvPr name="Freeform 18" id="18"/>
            <p:cNvSpPr/>
            <p:nvPr/>
          </p:nvSpPr>
          <p:spPr>
            <a:xfrm flipH="false" flipV="false" rot="0">
              <a:off x="0" y="17274"/>
              <a:ext cx="440894" cy="440894"/>
            </a:xfrm>
            <a:custGeom>
              <a:avLst/>
              <a:gdLst/>
              <a:ahLst/>
              <a:cxnLst/>
              <a:rect r="r" b="b" t="t" l="l"/>
              <a:pathLst>
                <a:path h="440894" w="440894">
                  <a:moveTo>
                    <a:pt x="0" y="0"/>
                  </a:moveTo>
                  <a:lnTo>
                    <a:pt x="440894" y="0"/>
                  </a:lnTo>
                  <a:lnTo>
                    <a:pt x="440894" y="440894"/>
                  </a:lnTo>
                  <a:lnTo>
                    <a:pt x="0" y="4408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9" id="19"/>
            <p:cNvGrpSpPr/>
            <p:nvPr/>
          </p:nvGrpSpPr>
          <p:grpSpPr>
            <a:xfrm rot="0">
              <a:off x="113478" y="123770"/>
              <a:ext cx="213941" cy="218307"/>
              <a:chOff x="0" y="0"/>
              <a:chExt cx="141703" cy="144595"/>
            </a:xfrm>
          </p:grpSpPr>
          <p:sp>
            <p:nvSpPr>
              <p:cNvPr name="Freeform 20" id="20"/>
              <p:cNvSpPr/>
              <p:nvPr/>
            </p:nvSpPr>
            <p:spPr>
              <a:xfrm flipH="false" flipV="false" rot="0">
                <a:off x="0" y="0"/>
                <a:ext cx="141732" cy="144653"/>
              </a:xfrm>
              <a:custGeom>
                <a:avLst/>
                <a:gdLst/>
                <a:ahLst/>
                <a:cxnLst/>
                <a:rect r="r" b="b" t="t" l="l"/>
                <a:pathLst>
                  <a:path h="144653" w="141732">
                    <a:moveTo>
                      <a:pt x="0" y="0"/>
                    </a:moveTo>
                    <a:lnTo>
                      <a:pt x="141732" y="0"/>
                    </a:lnTo>
                    <a:lnTo>
                      <a:pt x="141732" y="144653"/>
                    </a:lnTo>
                    <a:lnTo>
                      <a:pt x="0" y="144653"/>
                    </a:lnTo>
                    <a:lnTo>
                      <a:pt x="0" y="0"/>
                    </a:lnTo>
                    <a:close/>
                  </a:path>
                </a:pathLst>
              </a:custGeom>
              <a:blipFill>
                <a:blip r:embed="rId8"/>
                <a:stretch>
                  <a:fillRect l="-10" t="0" r="10" b="40"/>
                </a:stretch>
              </a:blipFill>
            </p:spPr>
          </p:sp>
        </p:grpSp>
        <p:sp>
          <p:nvSpPr>
            <p:cNvPr name="Freeform 21" id="21"/>
            <p:cNvSpPr/>
            <p:nvPr/>
          </p:nvSpPr>
          <p:spPr>
            <a:xfrm flipH="false" flipV="false" rot="0">
              <a:off x="0" y="902959"/>
              <a:ext cx="440894" cy="440894"/>
            </a:xfrm>
            <a:custGeom>
              <a:avLst/>
              <a:gdLst/>
              <a:ahLst/>
              <a:cxnLst/>
              <a:rect r="r" b="b" t="t" l="l"/>
              <a:pathLst>
                <a:path h="440894" w="440894">
                  <a:moveTo>
                    <a:pt x="0" y="0"/>
                  </a:moveTo>
                  <a:lnTo>
                    <a:pt x="440894" y="0"/>
                  </a:lnTo>
                  <a:lnTo>
                    <a:pt x="440894" y="440894"/>
                  </a:lnTo>
                  <a:lnTo>
                    <a:pt x="0" y="4408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2" id="22"/>
            <p:cNvGrpSpPr/>
            <p:nvPr/>
          </p:nvGrpSpPr>
          <p:grpSpPr>
            <a:xfrm rot="0">
              <a:off x="111849" y="1014808"/>
              <a:ext cx="217196" cy="217196"/>
              <a:chOff x="0" y="0"/>
              <a:chExt cx="143859" cy="143859"/>
            </a:xfrm>
          </p:grpSpPr>
          <p:sp>
            <p:nvSpPr>
              <p:cNvPr name="Freeform 23" id="23"/>
              <p:cNvSpPr/>
              <p:nvPr/>
            </p:nvSpPr>
            <p:spPr>
              <a:xfrm flipH="false" flipV="false" rot="0">
                <a:off x="0" y="0"/>
                <a:ext cx="143891" cy="143891"/>
              </a:xfrm>
              <a:custGeom>
                <a:avLst/>
                <a:gdLst/>
                <a:ahLst/>
                <a:cxnLst/>
                <a:rect r="r" b="b" t="t" l="l"/>
                <a:pathLst>
                  <a:path h="143891" w="143891">
                    <a:moveTo>
                      <a:pt x="0" y="0"/>
                    </a:moveTo>
                    <a:lnTo>
                      <a:pt x="143891" y="0"/>
                    </a:lnTo>
                    <a:lnTo>
                      <a:pt x="143891" y="143891"/>
                    </a:lnTo>
                    <a:lnTo>
                      <a:pt x="0" y="143891"/>
                    </a:lnTo>
                    <a:lnTo>
                      <a:pt x="0" y="0"/>
                    </a:lnTo>
                    <a:close/>
                  </a:path>
                </a:pathLst>
              </a:custGeom>
              <a:blipFill>
                <a:blip r:embed="rId9"/>
                <a:stretch>
                  <a:fillRect l="0" t="0" r="22" b="22"/>
                </a:stretch>
              </a:blipFill>
            </p:spPr>
          </p:sp>
        </p:grpSp>
        <p:sp>
          <p:nvSpPr>
            <p:cNvPr name="Freeform 24" id="24"/>
            <p:cNvSpPr/>
            <p:nvPr/>
          </p:nvSpPr>
          <p:spPr>
            <a:xfrm flipH="false" flipV="false" rot="0">
              <a:off x="0" y="1788646"/>
              <a:ext cx="440894" cy="440894"/>
            </a:xfrm>
            <a:custGeom>
              <a:avLst/>
              <a:gdLst/>
              <a:ahLst/>
              <a:cxnLst/>
              <a:rect r="r" b="b" t="t" l="l"/>
              <a:pathLst>
                <a:path h="440894" w="440894">
                  <a:moveTo>
                    <a:pt x="0" y="0"/>
                  </a:moveTo>
                  <a:lnTo>
                    <a:pt x="440894" y="0"/>
                  </a:lnTo>
                  <a:lnTo>
                    <a:pt x="440894" y="440894"/>
                  </a:lnTo>
                  <a:lnTo>
                    <a:pt x="0" y="4408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5" id="25"/>
            <p:cNvGrpSpPr/>
            <p:nvPr/>
          </p:nvGrpSpPr>
          <p:grpSpPr>
            <a:xfrm rot="0">
              <a:off x="113478" y="1905817"/>
              <a:ext cx="213941" cy="206551"/>
              <a:chOff x="0" y="0"/>
              <a:chExt cx="141703" cy="136808"/>
            </a:xfrm>
          </p:grpSpPr>
          <p:sp>
            <p:nvSpPr>
              <p:cNvPr name="Freeform 26" id="26"/>
              <p:cNvSpPr/>
              <p:nvPr/>
            </p:nvSpPr>
            <p:spPr>
              <a:xfrm flipH="false" flipV="false" rot="0">
                <a:off x="0" y="0"/>
                <a:ext cx="141732" cy="136779"/>
              </a:xfrm>
              <a:custGeom>
                <a:avLst/>
                <a:gdLst/>
                <a:ahLst/>
                <a:cxnLst/>
                <a:rect r="r" b="b" t="t" l="l"/>
                <a:pathLst>
                  <a:path h="136779" w="141732">
                    <a:moveTo>
                      <a:pt x="0" y="0"/>
                    </a:moveTo>
                    <a:lnTo>
                      <a:pt x="141732" y="0"/>
                    </a:lnTo>
                    <a:lnTo>
                      <a:pt x="141732" y="136779"/>
                    </a:lnTo>
                    <a:lnTo>
                      <a:pt x="0" y="136779"/>
                    </a:lnTo>
                    <a:lnTo>
                      <a:pt x="0" y="0"/>
                    </a:lnTo>
                    <a:close/>
                  </a:path>
                </a:pathLst>
              </a:custGeom>
              <a:blipFill>
                <a:blip r:embed="rId10"/>
                <a:stretch>
                  <a:fillRect l="-23" t="0" r="-3" b="-21"/>
                </a:stretch>
              </a:blipFill>
            </p:spPr>
          </p:sp>
        </p:grpSp>
        <p:sp>
          <p:nvSpPr>
            <p:cNvPr name="TextBox 27" id="27"/>
            <p:cNvSpPr txBox="true"/>
            <p:nvPr/>
          </p:nvSpPr>
          <p:spPr>
            <a:xfrm rot="0">
              <a:off x="605157" y="-104775"/>
              <a:ext cx="3095062" cy="529540"/>
            </a:xfrm>
            <a:prstGeom prst="rect">
              <a:avLst/>
            </a:prstGeom>
          </p:spPr>
          <p:txBody>
            <a:bodyPr anchor="t" rtlCol="false" tIns="0" lIns="0" bIns="0" rIns="0">
              <a:spAutoFit/>
            </a:bodyPr>
            <a:lstStyle/>
            <a:p>
              <a:pPr algn="l">
                <a:lnSpc>
                  <a:spcPts val="3554"/>
                </a:lnSpc>
              </a:pPr>
              <a:r>
                <a:rPr lang="en-US" b="true" sz="2115">
                  <a:solidFill>
                    <a:srgbClr val="292929"/>
                  </a:solidFill>
                  <a:latin typeface="Inter Bold"/>
                  <a:ea typeface="Inter Bold"/>
                  <a:cs typeface="Inter Bold"/>
                  <a:sym typeface="Inter Bold"/>
                </a:rPr>
                <a:t>+2607 755 346</a:t>
              </a:r>
            </a:p>
          </p:txBody>
        </p:sp>
        <p:sp>
          <p:nvSpPr>
            <p:cNvPr name="TextBox 28" id="28"/>
            <p:cNvSpPr txBox="true"/>
            <p:nvPr/>
          </p:nvSpPr>
          <p:spPr>
            <a:xfrm rot="0">
              <a:off x="605157" y="765804"/>
              <a:ext cx="4380796" cy="529540"/>
            </a:xfrm>
            <a:prstGeom prst="rect">
              <a:avLst/>
            </a:prstGeom>
          </p:spPr>
          <p:txBody>
            <a:bodyPr anchor="t" rtlCol="false" tIns="0" lIns="0" bIns="0" rIns="0">
              <a:spAutoFit/>
            </a:bodyPr>
            <a:lstStyle/>
            <a:p>
              <a:pPr algn="l">
                <a:lnSpc>
                  <a:spcPts val="3554"/>
                </a:lnSpc>
              </a:pPr>
              <a:r>
                <a:rPr lang="en-US" b="true" sz="2115">
                  <a:solidFill>
                    <a:srgbClr val="292929"/>
                  </a:solidFill>
                  <a:latin typeface="Inter Bold"/>
                  <a:ea typeface="Inter Bold"/>
                  <a:cs typeface="Inter Bold"/>
                  <a:sym typeface="Inter Bold"/>
                </a:rPr>
                <a:t> ot</a:t>
              </a:r>
              <a:r>
                <a:rPr lang="en-US" b="true" sz="2115">
                  <a:solidFill>
                    <a:srgbClr val="292929"/>
                  </a:solidFill>
                  <a:latin typeface="Inter Bold"/>
                  <a:ea typeface="Inter Bold"/>
                  <a:cs typeface="Inter Bold"/>
                  <a:sym typeface="Inter Bold"/>
                </a:rPr>
                <a:t>rava@mail.com</a:t>
              </a:r>
            </a:p>
          </p:txBody>
        </p:sp>
        <p:sp>
          <p:nvSpPr>
            <p:cNvPr name="TextBox 29" id="29"/>
            <p:cNvSpPr txBox="true"/>
            <p:nvPr/>
          </p:nvSpPr>
          <p:spPr>
            <a:xfrm rot="0">
              <a:off x="605142" y="1663573"/>
              <a:ext cx="5227484" cy="529540"/>
            </a:xfrm>
            <a:prstGeom prst="rect">
              <a:avLst/>
            </a:prstGeom>
          </p:spPr>
          <p:txBody>
            <a:bodyPr anchor="t" rtlCol="false" tIns="0" lIns="0" bIns="0" rIns="0">
              <a:spAutoFit/>
            </a:bodyPr>
            <a:lstStyle/>
            <a:p>
              <a:pPr algn="l">
                <a:lnSpc>
                  <a:spcPts val="3554"/>
                </a:lnSpc>
              </a:pPr>
              <a:r>
                <a:rPr lang="en-US" b="true" sz="2115">
                  <a:solidFill>
                    <a:srgbClr val="292929"/>
                  </a:solidFill>
                  <a:latin typeface="Inter Bold"/>
                  <a:ea typeface="Inter Bold"/>
                  <a:cs typeface="Inter Bold"/>
                  <a:sym typeface="Inter Bold"/>
                </a:rPr>
                <a:t>Lusaka</a:t>
              </a:r>
              <a:r>
                <a:rPr lang="en-US" b="true" sz="2115">
                  <a:solidFill>
                    <a:srgbClr val="292929"/>
                  </a:solidFill>
                  <a:latin typeface="Inter Bold"/>
                  <a:ea typeface="Inter Bold"/>
                  <a:cs typeface="Inter Bold"/>
                  <a:sym typeface="Inter Bold"/>
                </a:rPr>
                <a:t>, Zambia &amp; Remotely</a:t>
              </a:r>
            </a:p>
          </p:txBody>
        </p:sp>
      </p:grpSp>
      <p:sp>
        <p:nvSpPr>
          <p:cNvPr name="Freeform 30" id="30"/>
          <p:cNvSpPr/>
          <p:nvPr/>
        </p:nvSpPr>
        <p:spPr>
          <a:xfrm flipH="false" flipV="false" rot="0">
            <a:off x="552700" y="536851"/>
            <a:ext cx="544196" cy="528647"/>
          </a:xfrm>
          <a:custGeom>
            <a:avLst/>
            <a:gdLst/>
            <a:ahLst/>
            <a:cxnLst/>
            <a:rect r="r" b="b" t="t" l="l"/>
            <a:pathLst>
              <a:path h="528647" w="544196">
                <a:moveTo>
                  <a:pt x="0" y="0"/>
                </a:moveTo>
                <a:lnTo>
                  <a:pt x="544196" y="0"/>
                </a:lnTo>
                <a:lnTo>
                  <a:pt x="544196" y="528648"/>
                </a:lnTo>
                <a:lnTo>
                  <a:pt x="0" y="528648"/>
                </a:lnTo>
                <a:lnTo>
                  <a:pt x="0" y="0"/>
                </a:lnTo>
                <a:close/>
              </a:path>
            </a:pathLst>
          </a:custGeom>
          <a:blipFill>
            <a:blip r:embed="rId11"/>
            <a:stretch>
              <a:fillRect l="0" t="0" r="0" b="0"/>
            </a:stretch>
          </a:blipFill>
        </p:spPr>
      </p:sp>
      <p:sp>
        <p:nvSpPr>
          <p:cNvPr name="TextBox 31" id="31"/>
          <p:cNvSpPr txBox="true"/>
          <p:nvPr/>
        </p:nvSpPr>
        <p:spPr>
          <a:xfrm rot="0">
            <a:off x="1201755" y="1869541"/>
            <a:ext cx="6633775" cy="3475872"/>
          </a:xfrm>
          <a:prstGeom prst="rect">
            <a:avLst/>
          </a:prstGeom>
        </p:spPr>
        <p:txBody>
          <a:bodyPr anchor="t" rtlCol="false" tIns="0" lIns="0" bIns="0" rIns="0">
            <a:spAutoFit/>
          </a:bodyPr>
          <a:lstStyle/>
          <a:p>
            <a:pPr algn="l">
              <a:lnSpc>
                <a:spcPts val="13906"/>
              </a:lnSpc>
            </a:pPr>
            <a:r>
              <a:rPr lang="en-US" b="true" sz="10077">
                <a:solidFill>
                  <a:srgbClr val="FFFFFF"/>
                </a:solidFill>
                <a:latin typeface="Inter Bold"/>
                <a:ea typeface="Inter Bold"/>
                <a:cs typeface="Inter Bold"/>
                <a:sym typeface="Inter Bold"/>
              </a:rPr>
              <a:t>THANK</a:t>
            </a:r>
          </a:p>
          <a:p>
            <a:pPr algn="l">
              <a:lnSpc>
                <a:spcPts val="13906"/>
              </a:lnSpc>
            </a:pPr>
            <a:r>
              <a:rPr lang="en-US" b="true" sz="10077">
                <a:solidFill>
                  <a:srgbClr val="FFFFFF"/>
                </a:solidFill>
                <a:latin typeface="Inter Bold"/>
                <a:ea typeface="Inter Bold"/>
                <a:cs typeface="Inter Bold"/>
                <a:sym typeface="Inter Bold"/>
              </a:rPr>
              <a:t>YOU</a:t>
            </a:r>
          </a:p>
        </p:txBody>
      </p:sp>
      <p:sp>
        <p:nvSpPr>
          <p:cNvPr name="TextBox 32" id="32"/>
          <p:cNvSpPr txBox="true"/>
          <p:nvPr/>
        </p:nvSpPr>
        <p:spPr>
          <a:xfrm rot="0">
            <a:off x="1228783" y="590519"/>
            <a:ext cx="2555833" cy="335587"/>
          </a:xfrm>
          <a:prstGeom prst="rect">
            <a:avLst/>
          </a:prstGeom>
        </p:spPr>
        <p:txBody>
          <a:bodyPr anchor="t" rtlCol="false" tIns="0" lIns="0" bIns="0" rIns="0">
            <a:spAutoFit/>
          </a:bodyPr>
          <a:lstStyle/>
          <a:p>
            <a:pPr algn="just">
              <a:lnSpc>
                <a:spcPts val="2825"/>
              </a:lnSpc>
            </a:pPr>
            <a:r>
              <a:rPr lang="en-US" b="true" sz="1682">
                <a:solidFill>
                  <a:srgbClr val="FFFFFF"/>
                </a:solidFill>
                <a:latin typeface="Inter Bold"/>
                <a:ea typeface="Inter Bold"/>
                <a:cs typeface="Inter Bold"/>
                <a:sym typeface="Inter Bold"/>
              </a:rPr>
              <a:t>Ot</a:t>
            </a:r>
            <a:r>
              <a:rPr lang="en-US" b="true" sz="1682">
                <a:solidFill>
                  <a:srgbClr val="FFFFFF"/>
                </a:solidFill>
                <a:latin typeface="Inter Bold"/>
                <a:ea typeface="Inter Bold"/>
                <a:cs typeface="Inter Bold"/>
                <a:sym typeface="Inter Bold"/>
              </a:rPr>
              <a:t>rava Technologies</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DAGuvKYB75w</dc:identifier>
  <dcterms:modified xsi:type="dcterms:W3CDTF">2011-08-01T06:04:30Z</dcterms:modified>
  <cp:revision>1</cp:revision>
  <dc:title>OTRAVA TECHNOLOGIES Company Profile</dc:title>
</cp:coreProperties>
</file>